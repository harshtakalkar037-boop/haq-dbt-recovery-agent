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Calibri (MS) Bold" charset="1" panose="020F0702030404030204"/>
      <p:regular r:id="rId26"/>
    </p:embeddedFont>
    <p:embeddedFont>
      <p:font typeface="Arial Italics" charset="1" panose="020B060402020209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HOOK (10s): 'Mere sarkari paise kyon nahi aaye?' — the question every DBT beneficiary asks. HAQ is not a chatbot; it is a recovery agent that owns the case from complaint to verified payment.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PAIN (20s): A DBT payment crosses scheme, PFMS, APBS, NPCI mapper, bank and local office. When it fails, the citizen faces six unknowns. Fragmented diagnosis + fragmented action is the real problem.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SOLUTION (15s): Input = citizen + consent + documents + payment info. HAQ runs an agentic loop and only outputs a resolution once payment is verified. Demo scope: pension, scholarship, PM-KISAN and similar DBT flows.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CORE DIFFERENTIATOR (25s): This is the loop chatbots do not have. SAMVAAD→KHOJ→NIDAAN→YOJNA→KARM→SATYAPAN→ANUSARAN over a persistent case state — and when new evidence arrives, NIDAAN re-diagnoses, YOJNA emits v2, KARM regenerates docs, SATYAPAN invalidates the old ones.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ARCHITECTURE (20s): Seven specialized agents + NYAYA as the deterministic guardrail. The orchestrator keeps case state and routes between agents — visible end to end in the tool trace.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GOLDEN DEMO (30s): Shantabai Pawar, 67, Nashik — pension stopped for 3 months. Cross-system evidence yields CLOSED_MAPPED_ACCOUNT + NAME_MISMATCH and PLAN v1. A new passbook shows the account is dormant, not closed: diagnosis changes, PLAN v2 adds REACTIVATE_DORMANT_ACCOUNT, removes old account action, 9 old docs are invalidated and the watchdog takes over.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HONESTY (15s): Three provenance modes — LIVE (real public internet fetch at run time), PUBLIC (curated public guidance with citations), DEMO (institutional adapters where beneficiary-level access needs authorization). We never simulate a live government call as real.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TECH (15s): Real working system — FastAPI backend, orchestrator + deterministic rules engine, SQLite evidence/case store, public integrations and swappable demo adapters. Hybrid AI: LLM for language, rules for policy. Privacy-first throughout.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UX (15s): The citizen sees one console: masked identity, live diagnosis, plan + documents, and a full agent activity / tool trace. Hindi/English, voice, TTS, accessibility controls, Privacy Center — and per-result source transparency.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SCALE (15s): Same recovery layer for pensions, scholarships, PM-KISAN and other eligible DBT flows. Because reasoning, adapters, rules, templates and state are separated, a new scheme means new adapters + playbooks — not a new agent. No unsubstantiated impact numbers — the architecture is the claim.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MATRIX (15s): Portals inform, chatbots converse — neither investigates, plans, generates documents, verifies, re-plans or closes the case. HAQ is accountable end to end until payment is verified.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CLOSE (10s): HAQ doesn't send citizens from office to office. It works out what has to happen next — investigates, diagnoses, plans, acts, verifies, follows up. GitHub is listed on this slide — replace [ADD FINAL DEPLOYED URL] and [ADD TEAM MEMBERS] before pitch day.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.jpe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18" Target="../media/image1.jpeg" Type="http://schemas.openxmlformats.org/officeDocument/2006/relationships/image"/><Relationship Id="rId19" Target="../media/image35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36.svg" Type="http://schemas.openxmlformats.org/officeDocument/2006/relationships/image"/><Relationship Id="rId21" Target="../media/image37.png" Type="http://schemas.openxmlformats.org/officeDocument/2006/relationships/image"/><Relationship Id="rId22" Target="../media/image38.svg" Type="http://schemas.openxmlformats.org/officeDocument/2006/relationships/image"/><Relationship Id="rId23" Target="../media/image39.png" Type="http://schemas.openxmlformats.org/officeDocument/2006/relationships/image"/><Relationship Id="rId24" Target="../media/image40.sv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1.jpe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2.jpe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jpe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63.png" Type="http://schemas.openxmlformats.org/officeDocument/2006/relationships/image"/><Relationship Id="rId16" Target="../media/image64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2.jpe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jpe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13" Target="../media/image73.png" Type="http://schemas.openxmlformats.org/officeDocument/2006/relationships/image"/><Relationship Id="rId14" Target="../media/image74.svg" Type="http://schemas.openxmlformats.org/officeDocument/2006/relationships/image"/><Relationship Id="rId15" Target="../media/image75.png" Type="http://schemas.openxmlformats.org/officeDocument/2006/relationships/image"/><Relationship Id="rId16" Target="../media/image76.svg" Type="http://schemas.openxmlformats.org/officeDocument/2006/relationships/image"/><Relationship Id="rId17" Target="../media/image77.png" Type="http://schemas.openxmlformats.org/officeDocument/2006/relationships/image"/><Relationship Id="rId18" Target="../media/image78.svg" Type="http://schemas.openxmlformats.org/officeDocument/2006/relationships/image"/><Relationship Id="rId19" Target="../media/image79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80.svg" Type="http://schemas.openxmlformats.org/officeDocument/2006/relationships/image"/><Relationship Id="rId21" Target="../media/image81.png" Type="http://schemas.openxmlformats.org/officeDocument/2006/relationships/image"/><Relationship Id="rId22" Target="../media/image82.svg" Type="http://schemas.openxmlformats.org/officeDocument/2006/relationships/image"/><Relationship Id="rId23" Target="../media/image83.png" Type="http://schemas.openxmlformats.org/officeDocument/2006/relationships/image"/><Relationship Id="rId24" Target="../media/image84.svg" Type="http://schemas.openxmlformats.org/officeDocument/2006/relationships/image"/><Relationship Id="rId25" Target="../media/image85.png" Type="http://schemas.openxmlformats.org/officeDocument/2006/relationships/image"/><Relationship Id="rId26" Target="../media/image86.sv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svg" Type="http://schemas.openxmlformats.org/officeDocument/2006/relationships/image"/><Relationship Id="rId12" Target="../media/image95.png" Type="http://schemas.openxmlformats.org/officeDocument/2006/relationships/image"/><Relationship Id="rId13" Target="../media/image96.svg" Type="http://schemas.openxmlformats.org/officeDocument/2006/relationships/image"/><Relationship Id="rId14" Target="../media/image97.png" Type="http://schemas.openxmlformats.org/officeDocument/2006/relationships/image"/><Relationship Id="rId15" Target="../media/image98.svg" Type="http://schemas.openxmlformats.org/officeDocument/2006/relationships/image"/><Relationship Id="rId16" Target="../media/image99.png" Type="http://schemas.openxmlformats.org/officeDocument/2006/relationships/image"/><Relationship Id="rId17" Target="../media/image100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87.png" Type="http://schemas.openxmlformats.org/officeDocument/2006/relationships/image"/><Relationship Id="rId4" Target="../media/image88.svg" Type="http://schemas.openxmlformats.org/officeDocument/2006/relationships/image"/><Relationship Id="rId5" Target="../media/image89.png" Type="http://schemas.openxmlformats.org/officeDocument/2006/relationships/image"/><Relationship Id="rId6" Target="../media/image90.sv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13" Target="../media/image109.png" Type="http://schemas.openxmlformats.org/officeDocument/2006/relationships/image"/><Relationship Id="rId14" Target="../media/image110.svg" Type="http://schemas.openxmlformats.org/officeDocument/2006/relationships/image"/><Relationship Id="rId15" Target="../media/image111.png" Type="http://schemas.openxmlformats.org/officeDocument/2006/relationships/image"/><Relationship Id="rId16" Target="../media/image112.svg" Type="http://schemas.openxmlformats.org/officeDocument/2006/relationships/image"/><Relationship Id="rId17" Target="../media/image113.png" Type="http://schemas.openxmlformats.org/officeDocument/2006/relationships/image"/><Relationship Id="rId18" Target="../media/image114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1.png" Type="http://schemas.openxmlformats.org/officeDocument/2006/relationships/image"/><Relationship Id="rId4" Target="../media/image102.sv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.jpeg" Type="http://schemas.openxmlformats.org/officeDocument/2006/relationships/image"/><Relationship Id="rId8" Target="../media/image2.jpe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svg" Type="http://schemas.openxmlformats.org/officeDocument/2006/relationships/image"/><Relationship Id="rId12" Target="../media/image123.png" Type="http://schemas.openxmlformats.org/officeDocument/2006/relationships/image"/><Relationship Id="rId13" Target="../media/image124.svg" Type="http://schemas.openxmlformats.org/officeDocument/2006/relationships/image"/><Relationship Id="rId14" Target="../media/image125.png" Type="http://schemas.openxmlformats.org/officeDocument/2006/relationships/image"/><Relationship Id="rId15" Target="../media/image126.svg" Type="http://schemas.openxmlformats.org/officeDocument/2006/relationships/image"/><Relationship Id="rId16" Target="../media/image127.png" Type="http://schemas.openxmlformats.org/officeDocument/2006/relationships/image"/><Relationship Id="rId17" Target="../media/image128.svg" Type="http://schemas.openxmlformats.org/officeDocument/2006/relationships/image"/><Relationship Id="rId18" Target="../media/image129.png" Type="http://schemas.openxmlformats.org/officeDocument/2006/relationships/image"/><Relationship Id="rId19" Target="../media/image130.sv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1.jpeg" Type="http://schemas.openxmlformats.org/officeDocument/2006/relationships/image"/><Relationship Id="rId21" Target="../media/image131.png" Type="http://schemas.openxmlformats.org/officeDocument/2006/relationships/image"/><Relationship Id="rId22" Target="../media/image132.svg" Type="http://schemas.openxmlformats.org/officeDocument/2006/relationships/image"/><Relationship Id="rId23" Target="../media/image133.png" Type="http://schemas.openxmlformats.org/officeDocument/2006/relationships/image"/><Relationship Id="rId24" Target="../media/image134.svg" Type="http://schemas.openxmlformats.org/officeDocument/2006/relationships/image"/><Relationship Id="rId25" Target="../media/image135.png" Type="http://schemas.openxmlformats.org/officeDocument/2006/relationships/image"/><Relationship Id="rId26" Target="../media/image136.svg" Type="http://schemas.openxmlformats.org/officeDocument/2006/relationships/image"/><Relationship Id="rId27" Target="../media/image137.png" Type="http://schemas.openxmlformats.org/officeDocument/2006/relationships/image"/><Relationship Id="rId28" Target="../media/image138.svg" Type="http://schemas.openxmlformats.org/officeDocument/2006/relationships/image"/><Relationship Id="rId29" Target="../media/image139.png" Type="http://schemas.openxmlformats.org/officeDocument/2006/relationships/image"/><Relationship Id="rId3" Target="../media/image115.png" Type="http://schemas.openxmlformats.org/officeDocument/2006/relationships/image"/><Relationship Id="rId30" Target="../media/image140.svg" Type="http://schemas.openxmlformats.org/officeDocument/2006/relationships/image"/><Relationship Id="rId31" Target="../media/image141.png" Type="http://schemas.openxmlformats.org/officeDocument/2006/relationships/image"/><Relationship Id="rId32" Target="../media/image142.svg" Type="http://schemas.openxmlformats.org/officeDocument/2006/relationships/image"/><Relationship Id="rId33" Target="../media/image143.png" Type="http://schemas.openxmlformats.org/officeDocument/2006/relationships/image"/><Relationship Id="rId34" Target="../media/image144.svg" Type="http://schemas.openxmlformats.org/officeDocument/2006/relationships/image"/><Relationship Id="rId35" Target="../media/image145.png" Type="http://schemas.openxmlformats.org/officeDocument/2006/relationships/image"/><Relationship Id="rId36" Target="../media/image146.svg" Type="http://schemas.openxmlformats.org/officeDocument/2006/relationships/image"/><Relationship Id="rId37" Target="../media/image147.png" Type="http://schemas.openxmlformats.org/officeDocument/2006/relationships/image"/><Relationship Id="rId38" Target="../media/image148.svg" Type="http://schemas.openxmlformats.org/officeDocument/2006/relationships/image"/><Relationship Id="rId39" Target="../media/image149.png" Type="http://schemas.openxmlformats.org/officeDocument/2006/relationships/image"/><Relationship Id="rId4" Target="../media/image116.svg" Type="http://schemas.openxmlformats.org/officeDocument/2006/relationships/image"/><Relationship Id="rId40" Target="../media/image150.svg" Type="http://schemas.openxmlformats.org/officeDocument/2006/relationships/image"/><Relationship Id="rId41" Target="../media/image151.png" Type="http://schemas.openxmlformats.org/officeDocument/2006/relationships/image"/><Relationship Id="rId42" Target="../media/image152.svg" Type="http://schemas.openxmlformats.org/officeDocument/2006/relationships/image"/><Relationship Id="rId43" Target="../media/image153.png" Type="http://schemas.openxmlformats.org/officeDocument/2006/relationships/image"/><Relationship Id="rId44" Target="../media/image154.svg" Type="http://schemas.openxmlformats.org/officeDocument/2006/relationships/image"/><Relationship Id="rId45" Target="../media/image155.png" Type="http://schemas.openxmlformats.org/officeDocument/2006/relationships/image"/><Relationship Id="rId46" Target="../media/image156.svg" Type="http://schemas.openxmlformats.org/officeDocument/2006/relationships/image"/><Relationship Id="rId5" Target="../media/image117.png" Type="http://schemas.openxmlformats.org/officeDocument/2006/relationships/image"/><Relationship Id="rId6" Target="../media/image118.svg" Type="http://schemas.openxmlformats.org/officeDocument/2006/relationships/image"/><Relationship Id="rId7" Target="../media/image119.png" Type="http://schemas.openxmlformats.org/officeDocument/2006/relationships/image"/><Relationship Id="rId8" Target="../media/image120.svg" Type="http://schemas.openxmlformats.org/officeDocument/2006/relationships/image"/><Relationship Id="rId9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3.png" Type="http://schemas.openxmlformats.org/officeDocument/2006/relationships/image"/><Relationship Id="rId11" Target="../media/image164.svg" Type="http://schemas.openxmlformats.org/officeDocument/2006/relationships/image"/><Relationship Id="rId12" Target="../media/image165.png" Type="http://schemas.openxmlformats.org/officeDocument/2006/relationships/image"/><Relationship Id="rId13" Target="../media/image166.svg" Type="http://schemas.openxmlformats.org/officeDocument/2006/relationships/image"/><Relationship Id="rId14" Target="../media/image1.jpeg" Type="http://schemas.openxmlformats.org/officeDocument/2006/relationships/image"/><Relationship Id="rId15" Target="../media/image167.png" Type="http://schemas.openxmlformats.org/officeDocument/2006/relationships/image"/><Relationship Id="rId16" Target="../media/image168.svg" Type="http://schemas.openxmlformats.org/officeDocument/2006/relationships/image"/><Relationship Id="rId17" Target="../media/image169.png" Type="http://schemas.openxmlformats.org/officeDocument/2006/relationships/image"/><Relationship Id="rId18" Target="../media/image170.svg" Type="http://schemas.openxmlformats.org/officeDocument/2006/relationships/image"/><Relationship Id="rId19" Target="../media/image171.pn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172.svg" Type="http://schemas.openxmlformats.org/officeDocument/2006/relationships/image"/><Relationship Id="rId21" Target="../media/image173.png" Type="http://schemas.openxmlformats.org/officeDocument/2006/relationships/image"/><Relationship Id="rId22" Target="../media/image174.svg" Type="http://schemas.openxmlformats.org/officeDocument/2006/relationships/image"/><Relationship Id="rId23" Target="../media/image175.png" Type="http://schemas.openxmlformats.org/officeDocument/2006/relationships/image"/><Relationship Id="rId24" Target="../media/image176.svg" Type="http://schemas.openxmlformats.org/officeDocument/2006/relationships/image"/><Relationship Id="rId25" Target="../media/image177.png" Type="http://schemas.openxmlformats.org/officeDocument/2006/relationships/image"/><Relationship Id="rId26" Target="../media/image178.svg" Type="http://schemas.openxmlformats.org/officeDocument/2006/relationships/image"/><Relationship Id="rId27" Target="../media/image179.png" Type="http://schemas.openxmlformats.org/officeDocument/2006/relationships/image"/><Relationship Id="rId28" Target="../media/image180.svg" Type="http://schemas.openxmlformats.org/officeDocument/2006/relationships/image"/><Relationship Id="rId3" Target="../media/image157.png" Type="http://schemas.openxmlformats.org/officeDocument/2006/relationships/image"/><Relationship Id="rId4" Target="../media/image158.svg" Type="http://schemas.openxmlformats.org/officeDocument/2006/relationships/image"/><Relationship Id="rId5" Target="../media/image2.jpeg" Type="http://schemas.openxmlformats.org/officeDocument/2006/relationships/image"/><Relationship Id="rId6" Target="../media/image159.png" Type="http://schemas.openxmlformats.org/officeDocument/2006/relationships/image"/><Relationship Id="rId7" Target="../media/image160.svg" Type="http://schemas.openxmlformats.org/officeDocument/2006/relationships/image"/><Relationship Id="rId8" Target="../media/image161.png" Type="http://schemas.openxmlformats.org/officeDocument/2006/relationships/image"/><Relationship Id="rId9" Target="../media/image16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81.png" Type="http://schemas.openxmlformats.org/officeDocument/2006/relationships/image"/><Relationship Id="rId4" Target="../media/image182.svg" Type="http://schemas.openxmlformats.org/officeDocument/2006/relationships/image"/><Relationship Id="rId5" Target="../media/image1.jpeg" Type="http://schemas.openxmlformats.org/officeDocument/2006/relationships/image"/><Relationship Id="rId6" Target="../media/image2.jpeg" Type="http://schemas.openxmlformats.org/officeDocument/2006/relationships/image"/><Relationship Id="rId7" Target="../media/image183.png" Type="http://schemas.openxmlformats.org/officeDocument/2006/relationships/image"/><Relationship Id="rId8" Target="../media/image18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5402" y="1361189"/>
            <a:ext cx="4529823" cy="179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5"/>
              </a:lnSpc>
            </a:pPr>
            <a:r>
              <a:rPr lang="en-US" sz="12609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HAQ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98451" y="1475756"/>
            <a:ext cx="3019882" cy="168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9"/>
              </a:lnSpc>
            </a:pPr>
            <a:r>
              <a:rPr lang="en-US" sz="8706" b="true">
                <a:solidFill>
                  <a:srgbClr val="FF9933"/>
                </a:solidFill>
                <a:latin typeface="Arimo Bold"/>
                <a:ea typeface="Arimo Bold"/>
                <a:cs typeface="Arimo Bold"/>
                <a:sym typeface="Arimo Bold"/>
              </a:rPr>
              <a:t>हक़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039" y="3264713"/>
            <a:ext cx="12354049" cy="67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852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The DBT Payment Recovery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4039" y="4307948"/>
            <a:ext cx="15923000" cy="15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3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“मेरे सरकारी पैसे क्यों नहीं आए”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04039" y="6012304"/>
            <a:ext cx="3568922" cy="68675"/>
            <a:chOff x="0" y="0"/>
            <a:chExt cx="4758563" cy="915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58563" cy="91567"/>
            </a:xfrm>
            <a:custGeom>
              <a:avLst/>
              <a:gdLst/>
              <a:ahLst/>
              <a:cxnLst/>
              <a:rect r="r" b="b" t="t" l="l"/>
              <a:pathLst>
                <a:path h="91567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04039" y="6284595"/>
            <a:ext cx="14413059" cy="7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25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An Agentic AI that investigates, resolves and follows up on failed DBT payments.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7351" y="7231028"/>
            <a:ext cx="3533689" cy="637423"/>
            <a:chOff x="0" y="0"/>
            <a:chExt cx="4711586" cy="8498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11573" cy="849884"/>
            </a:xfrm>
            <a:custGeom>
              <a:avLst/>
              <a:gdLst/>
              <a:ahLst/>
              <a:cxnLst/>
              <a:rect r="r" b="b" t="t" l="l"/>
              <a:pathLst>
                <a:path h="849884" w="4711573">
                  <a:moveTo>
                    <a:pt x="0" y="424942"/>
                  </a:moveTo>
                  <a:cubicBezTo>
                    <a:pt x="0" y="190246"/>
                    <a:pt x="186690" y="0"/>
                    <a:pt x="417068" y="0"/>
                  </a:cubicBezTo>
                  <a:lnTo>
                    <a:pt x="4294505" y="0"/>
                  </a:lnTo>
                  <a:cubicBezTo>
                    <a:pt x="4524756" y="0"/>
                    <a:pt x="4711573" y="190246"/>
                    <a:pt x="4711573" y="424942"/>
                  </a:cubicBezTo>
                  <a:cubicBezTo>
                    <a:pt x="4711573" y="659638"/>
                    <a:pt x="4524883" y="849884"/>
                    <a:pt x="4294505" y="849884"/>
                  </a:cubicBezTo>
                  <a:lnTo>
                    <a:pt x="417068" y="849884"/>
                  </a:lnTo>
                  <a:cubicBezTo>
                    <a:pt x="186690" y="849757"/>
                    <a:pt x="0" y="659638"/>
                    <a:pt x="0" y="42494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945" r="0" b="-57946"/>
              </a:stretch>
            </a:blipFill>
            <a:ln w="19065" cap="sq">
              <a:solidFill>
                <a:srgbClr val="FF993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94505" y="7231037"/>
            <a:ext cx="3519383" cy="630184"/>
            <a:chOff x="0" y="0"/>
            <a:chExt cx="4692510" cy="8402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92511" cy="840245"/>
            </a:xfrm>
            <a:custGeom>
              <a:avLst/>
              <a:gdLst/>
              <a:ahLst/>
              <a:cxnLst/>
              <a:rect r="r" b="b" t="t" l="l"/>
              <a:pathLst>
                <a:path h="840245" w="4692511">
                  <a:moveTo>
                    <a:pt x="0" y="0"/>
                  </a:moveTo>
                  <a:lnTo>
                    <a:pt x="4692511" y="0"/>
                  </a:lnTo>
                  <a:lnTo>
                    <a:pt x="4692511" y="840245"/>
                  </a:lnTo>
                  <a:lnTo>
                    <a:pt x="0" y="8402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817" r="0" b="-5881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692510" cy="84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BHARAT AGENTIC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93567" y="7231028"/>
            <a:ext cx="4220061" cy="637327"/>
            <a:chOff x="0" y="0"/>
            <a:chExt cx="5626748" cy="8497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26735" cy="849757"/>
            </a:xfrm>
            <a:custGeom>
              <a:avLst/>
              <a:gdLst/>
              <a:ahLst/>
              <a:cxnLst/>
              <a:rect r="r" b="b" t="t" l="l"/>
              <a:pathLst>
                <a:path h="849757" w="5626735">
                  <a:moveTo>
                    <a:pt x="0" y="424942"/>
                  </a:moveTo>
                  <a:cubicBezTo>
                    <a:pt x="0" y="190246"/>
                    <a:pt x="186563" y="0"/>
                    <a:pt x="416814" y="0"/>
                  </a:cubicBezTo>
                  <a:lnTo>
                    <a:pt x="5209921" y="0"/>
                  </a:lnTo>
                  <a:cubicBezTo>
                    <a:pt x="5440045" y="0"/>
                    <a:pt x="5626735" y="190246"/>
                    <a:pt x="5626735" y="424942"/>
                  </a:cubicBezTo>
                  <a:cubicBezTo>
                    <a:pt x="5626735" y="659638"/>
                    <a:pt x="5440045" y="849757"/>
                    <a:pt x="5209921" y="849757"/>
                  </a:cubicBezTo>
                  <a:lnTo>
                    <a:pt x="416814" y="849757"/>
                  </a:lnTo>
                  <a:cubicBezTo>
                    <a:pt x="186563" y="849757"/>
                    <a:pt x="0" y="659638"/>
                    <a:pt x="0" y="42494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31" r="0" b="-78932"/>
              </a:stretch>
            </a:blipFill>
            <a:ln w="19065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000720" y="7231037"/>
            <a:ext cx="4205716" cy="630184"/>
            <a:chOff x="0" y="0"/>
            <a:chExt cx="5607622" cy="8402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07621" cy="840245"/>
            </a:xfrm>
            <a:custGeom>
              <a:avLst/>
              <a:gdLst/>
              <a:ahLst/>
              <a:cxnLst/>
              <a:rect r="r" b="b" t="t" l="l"/>
              <a:pathLst>
                <a:path h="840245" w="5607621">
                  <a:moveTo>
                    <a:pt x="0" y="0"/>
                  </a:moveTo>
                  <a:lnTo>
                    <a:pt x="5607621" y="0"/>
                  </a:lnTo>
                  <a:lnTo>
                    <a:pt x="5607621" y="840245"/>
                  </a:lnTo>
                  <a:lnTo>
                    <a:pt x="0" y="8402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039" r="0" b="-8003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607622" cy="84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8E9FB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GOVTECH / CITIZEN SERVICES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61890" y="8356616"/>
            <a:ext cx="3259179" cy="966797"/>
          </a:xfrm>
          <a:custGeom>
            <a:avLst/>
            <a:gdLst/>
            <a:ahLst/>
            <a:cxnLst/>
            <a:rect r="r" b="b" t="t" l="l"/>
            <a:pathLst>
              <a:path h="966797" w="3259179">
                <a:moveTo>
                  <a:pt x="0" y="0"/>
                </a:moveTo>
                <a:lnTo>
                  <a:pt x="3259179" y="0"/>
                </a:lnTo>
                <a:lnTo>
                  <a:pt x="3259179" y="966797"/>
                </a:lnTo>
                <a:lnTo>
                  <a:pt x="0" y="966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569044" y="8349482"/>
            <a:ext cx="3244844" cy="966768"/>
            <a:chOff x="0" y="0"/>
            <a:chExt cx="4326458" cy="12890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26459" cy="1289025"/>
            </a:xfrm>
            <a:custGeom>
              <a:avLst/>
              <a:gdLst/>
              <a:ahLst/>
              <a:cxnLst/>
              <a:rect r="r" b="b" t="t" l="l"/>
              <a:pathLst>
                <a:path h="1289025" w="4326459">
                  <a:moveTo>
                    <a:pt x="0" y="0"/>
                  </a:moveTo>
                  <a:lnTo>
                    <a:pt x="4326459" y="0"/>
                  </a:lnTo>
                  <a:lnTo>
                    <a:pt x="4326459" y="1289025"/>
                  </a:lnTo>
                  <a:lnTo>
                    <a:pt x="0" y="1289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99" r="0" b="-1539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326458" cy="1308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8E9FB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Payment Expected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111180">
            <a:off x="4887316" y="8820960"/>
            <a:ext cx="589036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5542636" y="8356616"/>
            <a:ext cx="3259179" cy="966797"/>
          </a:xfrm>
          <a:custGeom>
            <a:avLst/>
            <a:gdLst/>
            <a:ahLst/>
            <a:cxnLst/>
            <a:rect r="r" b="b" t="t" l="l"/>
            <a:pathLst>
              <a:path h="966797" w="3259179">
                <a:moveTo>
                  <a:pt x="0" y="0"/>
                </a:moveTo>
                <a:lnTo>
                  <a:pt x="3259178" y="0"/>
                </a:lnTo>
                <a:lnTo>
                  <a:pt x="3259178" y="966797"/>
                </a:lnTo>
                <a:lnTo>
                  <a:pt x="0" y="9667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5549789" y="8349482"/>
            <a:ext cx="3244844" cy="966768"/>
            <a:chOff x="0" y="0"/>
            <a:chExt cx="4326458" cy="12890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26459" cy="1289025"/>
            </a:xfrm>
            <a:custGeom>
              <a:avLst/>
              <a:gdLst/>
              <a:ahLst/>
              <a:cxnLst/>
              <a:rect r="r" b="b" t="t" l="l"/>
              <a:pathLst>
                <a:path h="1289025" w="4326459">
                  <a:moveTo>
                    <a:pt x="0" y="0"/>
                  </a:moveTo>
                  <a:lnTo>
                    <a:pt x="4326459" y="0"/>
                  </a:lnTo>
                  <a:lnTo>
                    <a:pt x="4326459" y="1289025"/>
                  </a:lnTo>
                  <a:lnTo>
                    <a:pt x="0" y="1289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99" r="0" b="-1539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326458" cy="1308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05A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Payment Failed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111180">
            <a:off x="8868070" y="8820960"/>
            <a:ext cx="589036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9523390" y="8356616"/>
            <a:ext cx="3259179" cy="966797"/>
          </a:xfrm>
          <a:custGeom>
            <a:avLst/>
            <a:gdLst/>
            <a:ahLst/>
            <a:cxnLst/>
            <a:rect r="r" b="b" t="t" l="l"/>
            <a:pathLst>
              <a:path h="966797" w="3259179">
                <a:moveTo>
                  <a:pt x="0" y="0"/>
                </a:moveTo>
                <a:lnTo>
                  <a:pt x="3259179" y="0"/>
                </a:lnTo>
                <a:lnTo>
                  <a:pt x="3259179" y="966797"/>
                </a:lnTo>
                <a:lnTo>
                  <a:pt x="0" y="9667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530544" y="8349482"/>
            <a:ext cx="3244844" cy="966768"/>
            <a:chOff x="0" y="0"/>
            <a:chExt cx="4326458" cy="12890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26459" cy="1289025"/>
            </a:xfrm>
            <a:custGeom>
              <a:avLst/>
              <a:gdLst/>
              <a:ahLst/>
              <a:cxnLst/>
              <a:rect r="r" b="b" t="t" l="l"/>
              <a:pathLst>
                <a:path h="1289025" w="4326459">
                  <a:moveTo>
                    <a:pt x="0" y="0"/>
                  </a:moveTo>
                  <a:lnTo>
                    <a:pt x="4326459" y="0"/>
                  </a:lnTo>
                  <a:lnTo>
                    <a:pt x="4326459" y="1289025"/>
                  </a:lnTo>
                  <a:lnTo>
                    <a:pt x="0" y="1289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99" r="0" b="-1539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326458" cy="1308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0" b="true">
                  <a:solidFill>
                    <a:srgbClr val="140D0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HAQ  हक़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111180">
            <a:off x="12848815" y="8820960"/>
            <a:ext cx="589036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3504135" y="8356616"/>
            <a:ext cx="3259179" cy="966797"/>
          </a:xfrm>
          <a:custGeom>
            <a:avLst/>
            <a:gdLst/>
            <a:ahLst/>
            <a:cxnLst/>
            <a:rect r="r" b="b" t="t" l="l"/>
            <a:pathLst>
              <a:path h="966797" w="3259179">
                <a:moveTo>
                  <a:pt x="0" y="0"/>
                </a:moveTo>
                <a:lnTo>
                  <a:pt x="3259179" y="0"/>
                </a:lnTo>
                <a:lnTo>
                  <a:pt x="3259179" y="966797"/>
                </a:lnTo>
                <a:lnTo>
                  <a:pt x="0" y="9667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3511289" y="8349482"/>
            <a:ext cx="3244844" cy="966768"/>
            <a:chOff x="0" y="0"/>
            <a:chExt cx="4326458" cy="12890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26459" cy="1289025"/>
            </a:xfrm>
            <a:custGeom>
              <a:avLst/>
              <a:gdLst/>
              <a:ahLst/>
              <a:cxnLst/>
              <a:rect r="r" b="b" t="t" l="l"/>
              <a:pathLst>
                <a:path h="1289025" w="4326459">
                  <a:moveTo>
                    <a:pt x="0" y="0"/>
                  </a:moveTo>
                  <a:lnTo>
                    <a:pt x="4326459" y="0"/>
                  </a:lnTo>
                  <a:lnTo>
                    <a:pt x="4326459" y="1289025"/>
                  </a:lnTo>
                  <a:lnTo>
                    <a:pt x="0" y="1289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99" r="0" b="-1539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326458" cy="1308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EC27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Payment Recovered ✓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Getting a benefit is easy. Recovering a failed payment isn’t.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02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28729" y="2705376"/>
            <a:ext cx="2015357" cy="958463"/>
          </a:xfrm>
          <a:custGeom>
            <a:avLst/>
            <a:gdLst/>
            <a:ahLst/>
            <a:cxnLst/>
            <a:rect r="r" b="b" t="t" l="l"/>
            <a:pathLst>
              <a:path h="958463" w="2015357">
                <a:moveTo>
                  <a:pt x="0" y="0"/>
                </a:moveTo>
                <a:lnTo>
                  <a:pt x="2015357" y="0"/>
                </a:lnTo>
                <a:lnTo>
                  <a:pt x="2015357" y="958463"/>
                </a:lnTo>
                <a:lnTo>
                  <a:pt x="0" y="95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34092" y="2703595"/>
            <a:ext cx="2004670" cy="954862"/>
            <a:chOff x="0" y="0"/>
            <a:chExt cx="2672893" cy="1273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72893" cy="1273149"/>
            </a:xfrm>
            <a:custGeom>
              <a:avLst/>
              <a:gdLst/>
              <a:ahLst/>
              <a:cxnLst/>
              <a:rect r="r" b="b" t="t" l="l"/>
              <a:pathLst>
                <a:path h="1273149" w="2672893">
                  <a:moveTo>
                    <a:pt x="0" y="0"/>
                  </a:moveTo>
                  <a:lnTo>
                    <a:pt x="2672893" y="0"/>
                  </a:lnTo>
                  <a:lnTo>
                    <a:pt x="2672893" y="1273149"/>
                  </a:lnTo>
                  <a:lnTo>
                    <a:pt x="0" y="12731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113" t="0" r="-1111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672893" cy="12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</a:t>
              </a:r>
            </a:p>
            <a:p>
              <a:pPr algn="ctr">
                <a:lnSpc>
                  <a:spcPts val="1351"/>
                </a:lnSpc>
              </a:pP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beneficiary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156060">
            <a:off x="2761974" y="3165548"/>
            <a:ext cx="419719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199543" y="2705376"/>
            <a:ext cx="2015357" cy="958463"/>
          </a:xfrm>
          <a:custGeom>
            <a:avLst/>
            <a:gdLst/>
            <a:ahLst/>
            <a:cxnLst/>
            <a:rect r="r" b="b" t="t" l="l"/>
            <a:pathLst>
              <a:path h="958463" w="2015357">
                <a:moveTo>
                  <a:pt x="0" y="0"/>
                </a:moveTo>
                <a:lnTo>
                  <a:pt x="2015356" y="0"/>
                </a:lnTo>
                <a:lnTo>
                  <a:pt x="2015356" y="958463"/>
                </a:lnTo>
                <a:lnTo>
                  <a:pt x="0" y="95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204905" y="2703595"/>
            <a:ext cx="2004670" cy="954862"/>
            <a:chOff x="0" y="0"/>
            <a:chExt cx="2672893" cy="12731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72893" cy="1273149"/>
            </a:xfrm>
            <a:custGeom>
              <a:avLst/>
              <a:gdLst/>
              <a:ahLst/>
              <a:cxnLst/>
              <a:rect r="r" b="b" t="t" l="l"/>
              <a:pathLst>
                <a:path h="1273149" w="2672893">
                  <a:moveTo>
                    <a:pt x="0" y="0"/>
                  </a:moveTo>
                  <a:lnTo>
                    <a:pt x="2672893" y="0"/>
                  </a:lnTo>
                  <a:lnTo>
                    <a:pt x="2672893" y="1273149"/>
                  </a:lnTo>
                  <a:lnTo>
                    <a:pt x="0" y="12731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113" t="0" r="-1111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672893" cy="12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Scheme Portal</a:t>
              </a:r>
            </a:p>
            <a:p>
              <a:pPr algn="ctr">
                <a:lnSpc>
                  <a:spcPts val="1351"/>
                </a:lnSpc>
              </a:pP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sanction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56060">
            <a:off x="5232778" y="3165548"/>
            <a:ext cx="419719" cy="0"/>
          </a:xfrm>
          <a:prstGeom prst="line">
            <a:avLst/>
          </a:prstGeom>
          <a:ln cap="rnd" w="19050">
            <a:solidFill>
              <a:srgbClr val="F05A4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5670347" y="2705376"/>
            <a:ext cx="2015357" cy="958463"/>
          </a:xfrm>
          <a:custGeom>
            <a:avLst/>
            <a:gdLst/>
            <a:ahLst/>
            <a:cxnLst/>
            <a:rect r="r" b="b" t="t" l="l"/>
            <a:pathLst>
              <a:path h="958463" w="2015357">
                <a:moveTo>
                  <a:pt x="0" y="0"/>
                </a:moveTo>
                <a:lnTo>
                  <a:pt x="2015356" y="0"/>
                </a:lnTo>
                <a:lnTo>
                  <a:pt x="2015356" y="958463"/>
                </a:lnTo>
                <a:lnTo>
                  <a:pt x="0" y="95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5675709" y="2703595"/>
            <a:ext cx="2004670" cy="954862"/>
            <a:chOff x="0" y="0"/>
            <a:chExt cx="2672893" cy="12731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72893" cy="1273149"/>
            </a:xfrm>
            <a:custGeom>
              <a:avLst/>
              <a:gdLst/>
              <a:ahLst/>
              <a:cxnLst/>
              <a:rect r="r" b="b" t="t" l="l"/>
              <a:pathLst>
                <a:path h="1273149" w="2672893">
                  <a:moveTo>
                    <a:pt x="0" y="0"/>
                  </a:moveTo>
                  <a:lnTo>
                    <a:pt x="2672893" y="0"/>
                  </a:lnTo>
                  <a:lnTo>
                    <a:pt x="2672893" y="1273149"/>
                  </a:lnTo>
                  <a:lnTo>
                    <a:pt x="0" y="12731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113" t="0" r="-1111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672893" cy="12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PFMS</a:t>
              </a:r>
            </a:p>
            <a:p>
              <a:pPr algn="ctr">
                <a:lnSpc>
                  <a:spcPts val="1351"/>
                </a:lnSpc>
              </a:pP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payment sys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56060">
            <a:off x="7703591" y="3165548"/>
            <a:ext cx="419719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8141160" y="2705376"/>
            <a:ext cx="2015357" cy="958463"/>
          </a:xfrm>
          <a:custGeom>
            <a:avLst/>
            <a:gdLst/>
            <a:ahLst/>
            <a:cxnLst/>
            <a:rect r="r" b="b" t="t" l="l"/>
            <a:pathLst>
              <a:path h="958463" w="2015357">
                <a:moveTo>
                  <a:pt x="0" y="0"/>
                </a:moveTo>
                <a:lnTo>
                  <a:pt x="2015357" y="0"/>
                </a:lnTo>
                <a:lnTo>
                  <a:pt x="2015357" y="958463"/>
                </a:lnTo>
                <a:lnTo>
                  <a:pt x="0" y="95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8146523" y="2703595"/>
            <a:ext cx="2004670" cy="954862"/>
            <a:chOff x="0" y="0"/>
            <a:chExt cx="2672893" cy="12731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72893" cy="1273149"/>
            </a:xfrm>
            <a:custGeom>
              <a:avLst/>
              <a:gdLst/>
              <a:ahLst/>
              <a:cxnLst/>
              <a:rect r="r" b="b" t="t" l="l"/>
              <a:pathLst>
                <a:path h="1273149" w="2672893">
                  <a:moveTo>
                    <a:pt x="0" y="0"/>
                  </a:moveTo>
                  <a:lnTo>
                    <a:pt x="2672893" y="0"/>
                  </a:lnTo>
                  <a:lnTo>
                    <a:pt x="2672893" y="1273149"/>
                  </a:lnTo>
                  <a:lnTo>
                    <a:pt x="0" y="12731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113" t="0" r="-1111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672893" cy="12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APBS</a:t>
              </a:r>
            </a:p>
            <a:p>
              <a:pPr algn="ctr">
                <a:lnSpc>
                  <a:spcPts val="1351"/>
                </a:lnSpc>
              </a:pP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bridge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156060">
            <a:off x="10174405" y="3165548"/>
            <a:ext cx="419719" cy="0"/>
          </a:xfrm>
          <a:prstGeom prst="line">
            <a:avLst/>
          </a:prstGeom>
          <a:ln cap="rnd" w="19050">
            <a:solidFill>
              <a:srgbClr val="F05A4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0611974" y="2705376"/>
            <a:ext cx="2015357" cy="958463"/>
          </a:xfrm>
          <a:custGeom>
            <a:avLst/>
            <a:gdLst/>
            <a:ahLst/>
            <a:cxnLst/>
            <a:rect r="r" b="b" t="t" l="l"/>
            <a:pathLst>
              <a:path h="958463" w="2015357">
                <a:moveTo>
                  <a:pt x="0" y="0"/>
                </a:moveTo>
                <a:lnTo>
                  <a:pt x="2015357" y="0"/>
                </a:lnTo>
                <a:lnTo>
                  <a:pt x="2015357" y="958463"/>
                </a:lnTo>
                <a:lnTo>
                  <a:pt x="0" y="95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0617337" y="2703595"/>
            <a:ext cx="2004670" cy="954862"/>
            <a:chOff x="0" y="0"/>
            <a:chExt cx="2672893" cy="12731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72893" cy="1273149"/>
            </a:xfrm>
            <a:custGeom>
              <a:avLst/>
              <a:gdLst/>
              <a:ahLst/>
              <a:cxnLst/>
              <a:rect r="r" b="b" t="t" l="l"/>
              <a:pathLst>
                <a:path h="1273149" w="2672893">
                  <a:moveTo>
                    <a:pt x="0" y="0"/>
                  </a:moveTo>
                  <a:lnTo>
                    <a:pt x="2672893" y="0"/>
                  </a:lnTo>
                  <a:lnTo>
                    <a:pt x="2672893" y="1273149"/>
                  </a:lnTo>
                  <a:lnTo>
                    <a:pt x="0" y="12731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113" t="0" r="-1111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672893" cy="12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NPCI Mapper</a:t>
              </a:r>
            </a:p>
            <a:p>
              <a:pPr algn="ctr">
                <a:lnSpc>
                  <a:spcPts val="1351"/>
                </a:lnSpc>
              </a:pP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mapping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156060">
            <a:off x="12645209" y="3165548"/>
            <a:ext cx="419719" cy="0"/>
          </a:xfrm>
          <a:prstGeom prst="line">
            <a:avLst/>
          </a:prstGeom>
          <a:ln cap="rnd" w="19050">
            <a:solidFill>
              <a:srgbClr val="F05A4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3082788" y="2705376"/>
            <a:ext cx="2015357" cy="958463"/>
          </a:xfrm>
          <a:custGeom>
            <a:avLst/>
            <a:gdLst/>
            <a:ahLst/>
            <a:cxnLst/>
            <a:rect r="r" b="b" t="t" l="l"/>
            <a:pathLst>
              <a:path h="958463" w="2015357">
                <a:moveTo>
                  <a:pt x="0" y="0"/>
                </a:moveTo>
                <a:lnTo>
                  <a:pt x="2015356" y="0"/>
                </a:lnTo>
                <a:lnTo>
                  <a:pt x="2015356" y="958463"/>
                </a:lnTo>
                <a:lnTo>
                  <a:pt x="0" y="95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088150" y="2703595"/>
            <a:ext cx="2004670" cy="954862"/>
            <a:chOff x="0" y="0"/>
            <a:chExt cx="2672893" cy="12731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72893" cy="1273149"/>
            </a:xfrm>
            <a:custGeom>
              <a:avLst/>
              <a:gdLst/>
              <a:ahLst/>
              <a:cxnLst/>
              <a:rect r="r" b="b" t="t" l="l"/>
              <a:pathLst>
                <a:path h="1273149" w="2672893">
                  <a:moveTo>
                    <a:pt x="0" y="0"/>
                  </a:moveTo>
                  <a:lnTo>
                    <a:pt x="2672893" y="0"/>
                  </a:lnTo>
                  <a:lnTo>
                    <a:pt x="2672893" y="1273149"/>
                  </a:lnTo>
                  <a:lnTo>
                    <a:pt x="0" y="12731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113" t="0" r="-1111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672893" cy="12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Bank</a:t>
              </a:r>
            </a:p>
            <a:p>
              <a:pPr algn="ctr">
                <a:lnSpc>
                  <a:spcPts val="1351"/>
                </a:lnSpc>
              </a:pP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CBS credit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156060">
            <a:off x="15116023" y="3165548"/>
            <a:ext cx="419719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5553592" y="2705376"/>
            <a:ext cx="2015357" cy="958463"/>
          </a:xfrm>
          <a:custGeom>
            <a:avLst/>
            <a:gdLst/>
            <a:ahLst/>
            <a:cxnLst/>
            <a:rect r="r" b="b" t="t" l="l"/>
            <a:pathLst>
              <a:path h="958463" w="2015357">
                <a:moveTo>
                  <a:pt x="0" y="0"/>
                </a:moveTo>
                <a:lnTo>
                  <a:pt x="2015356" y="0"/>
                </a:lnTo>
                <a:lnTo>
                  <a:pt x="2015356" y="958463"/>
                </a:lnTo>
                <a:lnTo>
                  <a:pt x="0" y="95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8954" y="2703595"/>
            <a:ext cx="2004670" cy="954862"/>
            <a:chOff x="0" y="0"/>
            <a:chExt cx="2672893" cy="12731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72893" cy="1273149"/>
            </a:xfrm>
            <a:custGeom>
              <a:avLst/>
              <a:gdLst/>
              <a:ahLst/>
              <a:cxnLst/>
              <a:rect r="r" b="b" t="t" l="l"/>
              <a:pathLst>
                <a:path h="1273149" w="2672893">
                  <a:moveTo>
                    <a:pt x="0" y="0"/>
                  </a:moveTo>
                  <a:lnTo>
                    <a:pt x="2672893" y="0"/>
                  </a:lnTo>
                  <a:lnTo>
                    <a:pt x="2672893" y="1273149"/>
                  </a:lnTo>
                  <a:lnTo>
                    <a:pt x="0" y="12731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113" t="0" r="-1111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672893" cy="12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Local Office</a:t>
              </a:r>
            </a:p>
            <a:p>
              <a:pPr algn="ctr">
                <a:lnSpc>
                  <a:spcPts val="1351"/>
                </a:lnSpc>
              </a:pP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grievance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5229625" y="2120522"/>
            <a:ext cx="426015" cy="426015"/>
          </a:xfrm>
          <a:custGeom>
            <a:avLst/>
            <a:gdLst/>
            <a:ahLst/>
            <a:cxnLst/>
            <a:rect r="r" b="b" t="t" l="l"/>
            <a:pathLst>
              <a:path h="426015" w="426015">
                <a:moveTo>
                  <a:pt x="0" y="0"/>
                </a:moveTo>
                <a:lnTo>
                  <a:pt x="426015" y="0"/>
                </a:lnTo>
                <a:lnTo>
                  <a:pt x="426015" y="426015"/>
                </a:lnTo>
                <a:lnTo>
                  <a:pt x="0" y="4260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5238560" y="2115169"/>
            <a:ext cx="408175" cy="422462"/>
            <a:chOff x="0" y="0"/>
            <a:chExt cx="544233" cy="5632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4233" cy="563283"/>
            </a:xfrm>
            <a:custGeom>
              <a:avLst/>
              <a:gdLst/>
              <a:ahLst/>
              <a:cxnLst/>
              <a:rect r="r" b="b" t="t" l="l"/>
              <a:pathLst>
                <a:path h="563283" w="544233">
                  <a:moveTo>
                    <a:pt x="0" y="0"/>
                  </a:moveTo>
                  <a:lnTo>
                    <a:pt x="544233" y="0"/>
                  </a:lnTo>
                  <a:lnTo>
                    <a:pt x="544233" y="563283"/>
                  </a:lnTo>
                  <a:lnTo>
                    <a:pt x="0" y="5632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794" t="0" r="-8279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44233" cy="582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05A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0171243" y="2120522"/>
            <a:ext cx="426015" cy="426015"/>
          </a:xfrm>
          <a:custGeom>
            <a:avLst/>
            <a:gdLst/>
            <a:ahLst/>
            <a:cxnLst/>
            <a:rect r="r" b="b" t="t" l="l"/>
            <a:pathLst>
              <a:path h="426015" w="426015">
                <a:moveTo>
                  <a:pt x="0" y="0"/>
                </a:moveTo>
                <a:lnTo>
                  <a:pt x="426015" y="0"/>
                </a:lnTo>
                <a:lnTo>
                  <a:pt x="426015" y="426015"/>
                </a:lnTo>
                <a:lnTo>
                  <a:pt x="0" y="4260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0180177" y="2115169"/>
            <a:ext cx="408175" cy="422462"/>
            <a:chOff x="0" y="0"/>
            <a:chExt cx="544233" cy="5632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4233" cy="563283"/>
            </a:xfrm>
            <a:custGeom>
              <a:avLst/>
              <a:gdLst/>
              <a:ahLst/>
              <a:cxnLst/>
              <a:rect r="r" b="b" t="t" l="l"/>
              <a:pathLst>
                <a:path h="563283" w="544233">
                  <a:moveTo>
                    <a:pt x="0" y="0"/>
                  </a:moveTo>
                  <a:lnTo>
                    <a:pt x="544233" y="0"/>
                  </a:lnTo>
                  <a:lnTo>
                    <a:pt x="544233" y="563283"/>
                  </a:lnTo>
                  <a:lnTo>
                    <a:pt x="0" y="5632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794" t="0" r="-8279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44233" cy="582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05A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2642056" y="2120522"/>
            <a:ext cx="426015" cy="426015"/>
          </a:xfrm>
          <a:custGeom>
            <a:avLst/>
            <a:gdLst/>
            <a:ahLst/>
            <a:cxnLst/>
            <a:rect r="r" b="b" t="t" l="l"/>
            <a:pathLst>
              <a:path h="426015" w="426015">
                <a:moveTo>
                  <a:pt x="0" y="0"/>
                </a:moveTo>
                <a:lnTo>
                  <a:pt x="426015" y="0"/>
                </a:lnTo>
                <a:lnTo>
                  <a:pt x="426015" y="426015"/>
                </a:lnTo>
                <a:lnTo>
                  <a:pt x="0" y="4260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2650991" y="2115169"/>
            <a:ext cx="408175" cy="422462"/>
            <a:chOff x="0" y="0"/>
            <a:chExt cx="544233" cy="56328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4233" cy="563283"/>
            </a:xfrm>
            <a:custGeom>
              <a:avLst/>
              <a:gdLst/>
              <a:ahLst/>
              <a:cxnLst/>
              <a:rect r="r" b="b" t="t" l="l"/>
              <a:pathLst>
                <a:path h="563283" w="544233">
                  <a:moveTo>
                    <a:pt x="0" y="0"/>
                  </a:moveTo>
                  <a:lnTo>
                    <a:pt x="544233" y="0"/>
                  </a:lnTo>
                  <a:lnTo>
                    <a:pt x="544233" y="563283"/>
                  </a:lnTo>
                  <a:lnTo>
                    <a:pt x="0" y="5632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794" t="0" r="-8279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44233" cy="582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05A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741245" y="3854968"/>
            <a:ext cx="16883872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65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When a DBT payment fails, the case is scattered across seven systems — no one owns it end to end.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769906" y="4791837"/>
            <a:ext cx="5433308" cy="1260405"/>
          </a:xfrm>
          <a:custGeom>
            <a:avLst/>
            <a:gdLst/>
            <a:ahLst/>
            <a:cxnLst/>
            <a:rect r="r" b="b" t="t" l="l"/>
            <a:pathLst>
              <a:path h="1260405" w="5433308">
                <a:moveTo>
                  <a:pt x="0" y="0"/>
                </a:moveTo>
                <a:lnTo>
                  <a:pt x="5433307" y="0"/>
                </a:lnTo>
                <a:lnTo>
                  <a:pt x="5433307" y="1260405"/>
                </a:lnTo>
                <a:lnTo>
                  <a:pt x="0" y="1260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008650" y="5058042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17584" y="5052689"/>
            <a:ext cx="600351" cy="614639"/>
            <a:chOff x="0" y="0"/>
            <a:chExt cx="800468" cy="8195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798196" y="4982804"/>
            <a:ext cx="4172922" cy="823608"/>
            <a:chOff x="0" y="0"/>
            <a:chExt cx="5563895" cy="10981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563870" cy="1098169"/>
            </a:xfrm>
            <a:custGeom>
              <a:avLst/>
              <a:gdLst/>
              <a:ahLst/>
              <a:cxnLst/>
              <a:rect r="r" b="b" t="t" l="l"/>
              <a:pathLst>
                <a:path h="1098169" w="5563870">
                  <a:moveTo>
                    <a:pt x="0" y="0"/>
                  </a:moveTo>
                  <a:lnTo>
                    <a:pt x="5563870" y="0"/>
                  </a:lnTo>
                  <a:lnTo>
                    <a:pt x="5563870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48653" r="0" b="-4865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798196" y="4968516"/>
            <a:ext cx="4172922" cy="837895"/>
            <a:chOff x="0" y="0"/>
            <a:chExt cx="5563895" cy="111719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563896" cy="1117194"/>
            </a:xfrm>
            <a:custGeom>
              <a:avLst/>
              <a:gdLst/>
              <a:ahLst/>
              <a:cxnLst/>
              <a:rect r="r" b="b" t="t" l="l"/>
              <a:pathLst>
                <a:path h="1117194" w="5563896">
                  <a:moveTo>
                    <a:pt x="0" y="0"/>
                  </a:moveTo>
                  <a:lnTo>
                    <a:pt x="5563896" y="0"/>
                  </a:lnTo>
                  <a:lnTo>
                    <a:pt x="5563896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40" r="0" b="-4704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5563895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Where exactly did it fail?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6507680" y="4791837"/>
            <a:ext cx="5433308" cy="1260405"/>
          </a:xfrm>
          <a:custGeom>
            <a:avLst/>
            <a:gdLst/>
            <a:ahLst/>
            <a:cxnLst/>
            <a:rect r="r" b="b" t="t" l="l"/>
            <a:pathLst>
              <a:path h="1260405" w="5433308">
                <a:moveTo>
                  <a:pt x="0" y="0"/>
                </a:moveTo>
                <a:lnTo>
                  <a:pt x="5433308" y="0"/>
                </a:lnTo>
                <a:lnTo>
                  <a:pt x="5433308" y="1260405"/>
                </a:lnTo>
                <a:lnTo>
                  <a:pt x="0" y="1260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6746424" y="5058042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6755359" y="5052689"/>
            <a:ext cx="600351" cy="614639"/>
            <a:chOff x="0" y="0"/>
            <a:chExt cx="800468" cy="81951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535970" y="4982804"/>
            <a:ext cx="4172922" cy="823608"/>
            <a:chOff x="0" y="0"/>
            <a:chExt cx="5563895" cy="10981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563870" cy="1098169"/>
            </a:xfrm>
            <a:custGeom>
              <a:avLst/>
              <a:gdLst/>
              <a:ahLst/>
              <a:cxnLst/>
              <a:rect r="r" b="b" t="t" l="l"/>
              <a:pathLst>
                <a:path h="1098169" w="5563870">
                  <a:moveTo>
                    <a:pt x="0" y="0"/>
                  </a:moveTo>
                  <a:lnTo>
                    <a:pt x="5563870" y="0"/>
                  </a:lnTo>
                  <a:lnTo>
                    <a:pt x="5563870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48653" r="0" b="-4865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535970" y="4968516"/>
            <a:ext cx="4172922" cy="837895"/>
            <a:chOff x="0" y="0"/>
            <a:chExt cx="5563895" cy="111719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63896" cy="1117194"/>
            </a:xfrm>
            <a:custGeom>
              <a:avLst/>
              <a:gdLst/>
              <a:ahLst/>
              <a:cxnLst/>
              <a:rect r="r" b="b" t="t" l="l"/>
              <a:pathLst>
                <a:path h="1117194" w="5563896">
                  <a:moveTo>
                    <a:pt x="0" y="0"/>
                  </a:moveTo>
                  <a:lnTo>
                    <a:pt x="5563896" y="0"/>
                  </a:lnTo>
                  <a:lnTo>
                    <a:pt x="5563896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40" r="0" b="-4704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563895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Why did it fail?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12245454" y="4791837"/>
            <a:ext cx="5433308" cy="1260405"/>
          </a:xfrm>
          <a:custGeom>
            <a:avLst/>
            <a:gdLst/>
            <a:ahLst/>
            <a:cxnLst/>
            <a:rect r="r" b="b" t="t" l="l"/>
            <a:pathLst>
              <a:path h="1260405" w="5433308">
                <a:moveTo>
                  <a:pt x="0" y="0"/>
                </a:moveTo>
                <a:lnTo>
                  <a:pt x="5433308" y="0"/>
                </a:lnTo>
                <a:lnTo>
                  <a:pt x="5433308" y="1260405"/>
                </a:lnTo>
                <a:lnTo>
                  <a:pt x="0" y="1260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484198" y="5058042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2493133" y="5052689"/>
            <a:ext cx="600351" cy="614639"/>
            <a:chOff x="0" y="0"/>
            <a:chExt cx="800468" cy="81951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273745" y="4982804"/>
            <a:ext cx="4172922" cy="823608"/>
            <a:chOff x="0" y="0"/>
            <a:chExt cx="5563895" cy="109814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563870" cy="1098169"/>
            </a:xfrm>
            <a:custGeom>
              <a:avLst/>
              <a:gdLst/>
              <a:ahLst/>
              <a:cxnLst/>
              <a:rect r="r" b="b" t="t" l="l"/>
              <a:pathLst>
                <a:path h="1098169" w="5563870">
                  <a:moveTo>
                    <a:pt x="0" y="0"/>
                  </a:moveTo>
                  <a:lnTo>
                    <a:pt x="5563870" y="0"/>
                  </a:lnTo>
                  <a:lnTo>
                    <a:pt x="5563870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48653" r="0" b="-48651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273745" y="4968516"/>
            <a:ext cx="4172922" cy="837895"/>
            <a:chOff x="0" y="0"/>
            <a:chExt cx="5563895" cy="111719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563896" cy="1117194"/>
            </a:xfrm>
            <a:custGeom>
              <a:avLst/>
              <a:gdLst/>
              <a:ahLst/>
              <a:cxnLst/>
              <a:rect r="r" b="b" t="t" l="l"/>
              <a:pathLst>
                <a:path h="1117194" w="5563896">
                  <a:moveTo>
                    <a:pt x="0" y="0"/>
                  </a:moveTo>
                  <a:lnTo>
                    <a:pt x="5563896" y="0"/>
                  </a:lnTo>
                  <a:lnTo>
                    <a:pt x="5563896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40" r="0" b="-4704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5563895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Which document is required?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769906" y="6384141"/>
            <a:ext cx="5433308" cy="1260405"/>
          </a:xfrm>
          <a:custGeom>
            <a:avLst/>
            <a:gdLst/>
            <a:ahLst/>
            <a:cxnLst/>
            <a:rect r="r" b="b" t="t" l="l"/>
            <a:pathLst>
              <a:path h="1260405" w="5433308">
                <a:moveTo>
                  <a:pt x="0" y="0"/>
                </a:moveTo>
                <a:lnTo>
                  <a:pt x="5433307" y="0"/>
                </a:lnTo>
                <a:lnTo>
                  <a:pt x="5433307" y="1260405"/>
                </a:lnTo>
                <a:lnTo>
                  <a:pt x="0" y="1260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008650" y="6650336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30"/>
                </a:lnTo>
                <a:lnTo>
                  <a:pt x="0" y="618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017584" y="6644983"/>
            <a:ext cx="600351" cy="614639"/>
            <a:chOff x="0" y="0"/>
            <a:chExt cx="800468" cy="81951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798196" y="6575098"/>
            <a:ext cx="4172922" cy="823608"/>
            <a:chOff x="0" y="0"/>
            <a:chExt cx="5563895" cy="109814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563870" cy="1098169"/>
            </a:xfrm>
            <a:custGeom>
              <a:avLst/>
              <a:gdLst/>
              <a:ahLst/>
              <a:cxnLst/>
              <a:rect r="r" b="b" t="t" l="l"/>
              <a:pathLst>
                <a:path h="1098169" w="5563870">
                  <a:moveTo>
                    <a:pt x="0" y="0"/>
                  </a:moveTo>
                  <a:lnTo>
                    <a:pt x="5563870" y="0"/>
                  </a:lnTo>
                  <a:lnTo>
                    <a:pt x="5563870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48653" r="0" b="-48651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798196" y="6560810"/>
            <a:ext cx="4172922" cy="837895"/>
            <a:chOff x="0" y="0"/>
            <a:chExt cx="5563895" cy="111719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563896" cy="1117194"/>
            </a:xfrm>
            <a:custGeom>
              <a:avLst/>
              <a:gdLst/>
              <a:ahLst/>
              <a:cxnLst/>
              <a:rect r="r" b="b" t="t" l="l"/>
              <a:pathLst>
                <a:path h="1117194" w="5563896">
                  <a:moveTo>
                    <a:pt x="0" y="0"/>
                  </a:moveTo>
                  <a:lnTo>
                    <a:pt x="5563896" y="0"/>
                  </a:lnTo>
                  <a:lnTo>
                    <a:pt x="5563896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40" r="0" b="-4704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5563895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Which office / action comes next?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6507680" y="6384141"/>
            <a:ext cx="5433308" cy="1260405"/>
          </a:xfrm>
          <a:custGeom>
            <a:avLst/>
            <a:gdLst/>
            <a:ahLst/>
            <a:cxnLst/>
            <a:rect r="r" b="b" t="t" l="l"/>
            <a:pathLst>
              <a:path h="1260405" w="5433308">
                <a:moveTo>
                  <a:pt x="0" y="0"/>
                </a:moveTo>
                <a:lnTo>
                  <a:pt x="5433308" y="0"/>
                </a:lnTo>
                <a:lnTo>
                  <a:pt x="5433308" y="1260405"/>
                </a:lnTo>
                <a:lnTo>
                  <a:pt x="0" y="1260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6746424" y="6650336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30"/>
                </a:lnTo>
                <a:lnTo>
                  <a:pt x="0" y="618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6755359" y="6644983"/>
            <a:ext cx="600351" cy="614639"/>
            <a:chOff x="0" y="0"/>
            <a:chExt cx="800468" cy="81951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535970" y="6575098"/>
            <a:ext cx="4172922" cy="823608"/>
            <a:chOff x="0" y="0"/>
            <a:chExt cx="5563895" cy="109814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563870" cy="1098169"/>
            </a:xfrm>
            <a:custGeom>
              <a:avLst/>
              <a:gdLst/>
              <a:ahLst/>
              <a:cxnLst/>
              <a:rect r="r" b="b" t="t" l="l"/>
              <a:pathLst>
                <a:path h="1098169" w="5563870">
                  <a:moveTo>
                    <a:pt x="0" y="0"/>
                  </a:moveTo>
                  <a:lnTo>
                    <a:pt x="5563870" y="0"/>
                  </a:lnTo>
                  <a:lnTo>
                    <a:pt x="5563870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48653" r="0" b="-48651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535970" y="6560810"/>
            <a:ext cx="4172922" cy="837895"/>
            <a:chOff x="0" y="0"/>
            <a:chExt cx="5563895" cy="111719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563896" cy="1117194"/>
            </a:xfrm>
            <a:custGeom>
              <a:avLst/>
              <a:gdLst/>
              <a:ahLst/>
              <a:cxnLst/>
              <a:rect r="r" b="b" t="t" l="l"/>
              <a:pathLst>
                <a:path h="1117194" w="5563896">
                  <a:moveTo>
                    <a:pt x="0" y="0"/>
                  </a:moveTo>
                  <a:lnTo>
                    <a:pt x="5563896" y="0"/>
                  </a:lnTo>
                  <a:lnTo>
                    <a:pt x="5563896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40" r="0" b="-4704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5563895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Is an old document still valid?</a:t>
              </a:r>
            </a:p>
          </p:txBody>
        </p:sp>
      </p:grpSp>
      <p:sp>
        <p:nvSpPr>
          <p:cNvPr name="Freeform 112" id="112"/>
          <p:cNvSpPr/>
          <p:nvPr/>
        </p:nvSpPr>
        <p:spPr>
          <a:xfrm flipH="false" flipV="false" rot="0">
            <a:off x="12245454" y="6384141"/>
            <a:ext cx="5433308" cy="1260405"/>
          </a:xfrm>
          <a:custGeom>
            <a:avLst/>
            <a:gdLst/>
            <a:ahLst/>
            <a:cxnLst/>
            <a:rect r="r" b="b" t="t" l="l"/>
            <a:pathLst>
              <a:path h="1260405" w="5433308">
                <a:moveTo>
                  <a:pt x="0" y="0"/>
                </a:moveTo>
                <a:lnTo>
                  <a:pt x="5433308" y="0"/>
                </a:lnTo>
                <a:lnTo>
                  <a:pt x="5433308" y="1260405"/>
                </a:lnTo>
                <a:lnTo>
                  <a:pt x="0" y="1260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12484198" y="6650336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30"/>
                </a:lnTo>
                <a:lnTo>
                  <a:pt x="0" y="618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12493133" y="6644983"/>
            <a:ext cx="600351" cy="614639"/>
            <a:chOff x="0" y="0"/>
            <a:chExt cx="800468" cy="81951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273745" y="6575098"/>
            <a:ext cx="4172922" cy="823608"/>
            <a:chOff x="0" y="0"/>
            <a:chExt cx="5563895" cy="109814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563870" cy="1098169"/>
            </a:xfrm>
            <a:custGeom>
              <a:avLst/>
              <a:gdLst/>
              <a:ahLst/>
              <a:cxnLst/>
              <a:rect r="r" b="b" t="t" l="l"/>
              <a:pathLst>
                <a:path h="1098169" w="5563870">
                  <a:moveTo>
                    <a:pt x="0" y="0"/>
                  </a:moveTo>
                  <a:lnTo>
                    <a:pt x="5563870" y="0"/>
                  </a:lnTo>
                  <a:lnTo>
                    <a:pt x="5563870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48653" r="0" b="-48651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273745" y="6560810"/>
            <a:ext cx="4172922" cy="837895"/>
            <a:chOff x="0" y="0"/>
            <a:chExt cx="5563895" cy="111719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563896" cy="1117194"/>
            </a:xfrm>
            <a:custGeom>
              <a:avLst/>
              <a:gdLst/>
              <a:ahLst/>
              <a:cxnLst/>
              <a:rect r="r" b="b" t="t" l="l"/>
              <a:pathLst>
                <a:path h="1117194" w="5563896">
                  <a:moveTo>
                    <a:pt x="0" y="0"/>
                  </a:moveTo>
                  <a:lnTo>
                    <a:pt x="5563896" y="0"/>
                  </a:lnTo>
                  <a:lnTo>
                    <a:pt x="5563896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40" r="0" b="-4704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5563895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Did the issue change after new evidence?</a:t>
              </a:r>
            </a:p>
          </p:txBody>
        </p:sp>
      </p:grpSp>
      <p:sp>
        <p:nvSpPr>
          <p:cNvPr name="Freeform 122" id="122"/>
          <p:cNvSpPr/>
          <p:nvPr/>
        </p:nvSpPr>
        <p:spPr>
          <a:xfrm flipH="false" flipV="false" rot="0">
            <a:off x="769906" y="8635327"/>
            <a:ext cx="16771582" cy="876071"/>
          </a:xfrm>
          <a:custGeom>
            <a:avLst/>
            <a:gdLst/>
            <a:ahLst/>
            <a:cxnLst/>
            <a:rect r="r" b="b" t="t" l="l"/>
            <a:pathLst>
              <a:path h="876071" w="16771582">
                <a:moveTo>
                  <a:pt x="0" y="0"/>
                </a:moveTo>
                <a:lnTo>
                  <a:pt x="16771582" y="0"/>
                </a:lnTo>
                <a:lnTo>
                  <a:pt x="16771582" y="876071"/>
                </a:lnTo>
                <a:lnTo>
                  <a:pt x="0" y="8760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3" id="123"/>
          <p:cNvGrpSpPr/>
          <p:nvPr/>
        </p:nvGrpSpPr>
        <p:grpSpPr>
          <a:xfrm rot="0">
            <a:off x="782422" y="8647833"/>
            <a:ext cx="96107" cy="851059"/>
            <a:chOff x="0" y="0"/>
            <a:chExt cx="128143" cy="113474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28143" cy="1134745"/>
            </a:xfrm>
            <a:custGeom>
              <a:avLst/>
              <a:gdLst/>
              <a:ahLst/>
              <a:cxnLst/>
              <a:rect r="r" b="b" t="t" l="l"/>
              <a:pathLst>
                <a:path h="1134745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166774" y="8647833"/>
            <a:ext cx="16060264" cy="851059"/>
            <a:chOff x="0" y="0"/>
            <a:chExt cx="21413686" cy="113474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413724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413724">
                  <a:moveTo>
                    <a:pt x="0" y="0"/>
                  </a:moveTo>
                  <a:lnTo>
                    <a:pt x="21413724" y="0"/>
                  </a:lnTo>
                  <a:lnTo>
                    <a:pt x="21413724" y="1134745"/>
                  </a:lnTo>
                  <a:lnTo>
                    <a:pt x="0" y="1134745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317444" r="0" b="-317444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66774" y="8633546"/>
            <a:ext cx="16060264" cy="865346"/>
            <a:chOff x="0" y="0"/>
            <a:chExt cx="21413686" cy="115379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1413685" cy="1153795"/>
            </a:xfrm>
            <a:custGeom>
              <a:avLst/>
              <a:gdLst/>
              <a:ahLst/>
              <a:cxnLst/>
              <a:rect r="r" b="b" t="t" l="l"/>
              <a:pathLst>
                <a:path h="1153795" w="21413685">
                  <a:moveTo>
                    <a:pt x="0" y="0"/>
                  </a:moveTo>
                  <a:lnTo>
                    <a:pt x="21413685" y="0"/>
                  </a:lnTo>
                  <a:lnTo>
                    <a:pt x="21413685" y="1153795"/>
                  </a:lnTo>
                  <a:lnTo>
                    <a:pt x="0" y="11537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1629" r="0" b="-31162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19050"/>
              <a:ext cx="21413686" cy="1172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2"/>
                </a:lnSpc>
              </a:pPr>
              <a:r>
                <a:rPr lang="en-US" sz="20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 is not only payment failure.  </a:t>
              </a:r>
              <a:r>
                <a:rPr lang="en-US" sz="2025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 is fragmented diagnosis + fragmented action.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HAQ doesn’t just answer. HAQ owns the case.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03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42455" y="2664200"/>
            <a:ext cx="4623492" cy="4348982"/>
          </a:xfrm>
          <a:custGeom>
            <a:avLst/>
            <a:gdLst/>
            <a:ahLst/>
            <a:cxnLst/>
            <a:rect r="r" b="b" t="t" l="l"/>
            <a:pathLst>
              <a:path h="4348982" w="4623492">
                <a:moveTo>
                  <a:pt x="0" y="0"/>
                </a:moveTo>
                <a:lnTo>
                  <a:pt x="4623492" y="0"/>
                </a:lnTo>
                <a:lnTo>
                  <a:pt x="4623492" y="4348981"/>
                </a:lnTo>
                <a:lnTo>
                  <a:pt x="0" y="4348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8137" y="2940596"/>
            <a:ext cx="3912118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575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INPUT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9314" y="3651304"/>
            <a:ext cx="137350" cy="137350"/>
            <a:chOff x="0" y="0"/>
            <a:chExt cx="183134" cy="1831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68755" y="3527765"/>
            <a:ext cx="3527765" cy="6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57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Citizen · pension / scholarship / welfare case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39314" y="4447461"/>
            <a:ext cx="137350" cy="137350"/>
            <a:chOff x="0" y="0"/>
            <a:chExt cx="183134" cy="1831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68755" y="4323921"/>
            <a:ext cx="3527765" cy="6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57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Informed consent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39314" y="5243608"/>
            <a:ext cx="137350" cy="137350"/>
            <a:chOff x="0" y="0"/>
            <a:chExt cx="183134" cy="1831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68755" y="5120068"/>
            <a:ext cx="3527765" cy="6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57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Documents · passbook, Aadhaar, orders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39314" y="6039755"/>
            <a:ext cx="137350" cy="137350"/>
            <a:chOff x="0" y="0"/>
            <a:chExt cx="183134" cy="1831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3134" cy="183134"/>
            </a:xfrm>
            <a:custGeom>
              <a:avLst/>
              <a:gdLst/>
              <a:ahLst/>
              <a:cxnLst/>
              <a:rect r="r" b="b" t="t" l="l"/>
              <a:pathLst>
                <a:path h="183134" w="1831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cubicBezTo>
                    <a:pt x="142113" y="0"/>
                    <a:pt x="183134" y="41021"/>
                    <a:pt x="183134" y="91567"/>
                  </a:cubicBezTo>
                  <a:cubicBezTo>
                    <a:pt x="183134" y="142113"/>
                    <a:pt x="142113" y="183134"/>
                    <a:pt x="91567" y="183134"/>
                  </a:cubicBezTo>
                  <a:cubicBezTo>
                    <a:pt x="41021" y="183134"/>
                    <a:pt x="0" y="142113"/>
                    <a:pt x="0" y="91567"/>
                  </a:cubicBez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68755" y="5916216"/>
            <a:ext cx="3527765" cy="6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57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Payment information · UTR, a/c, scheme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490686" y="4564132"/>
            <a:ext cx="686372" cy="549116"/>
            <a:chOff x="0" y="0"/>
            <a:chExt cx="915162" cy="7321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5162" cy="732155"/>
            </a:xfrm>
            <a:custGeom>
              <a:avLst/>
              <a:gdLst/>
              <a:ahLst/>
              <a:cxnLst/>
              <a:rect r="r" b="b" t="t" l="l"/>
              <a:pathLst>
                <a:path h="732155" w="915162">
                  <a:moveTo>
                    <a:pt x="0" y="183007"/>
                  </a:moveTo>
                  <a:lnTo>
                    <a:pt x="549021" y="183007"/>
                  </a:lnTo>
                  <a:lnTo>
                    <a:pt x="549021" y="0"/>
                  </a:lnTo>
                  <a:lnTo>
                    <a:pt x="915162" y="366014"/>
                  </a:lnTo>
                  <a:lnTo>
                    <a:pt x="549021" y="732155"/>
                  </a:lnTo>
                  <a:lnTo>
                    <a:pt x="549021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6426537" y="2486968"/>
            <a:ext cx="5540712" cy="4703369"/>
          </a:xfrm>
          <a:custGeom>
            <a:avLst/>
            <a:gdLst/>
            <a:ahLst/>
            <a:cxnLst/>
            <a:rect r="r" b="b" t="t" l="l"/>
            <a:pathLst>
              <a:path h="4703369" w="5540712">
                <a:moveTo>
                  <a:pt x="0" y="0"/>
                </a:moveTo>
                <a:lnTo>
                  <a:pt x="5540711" y="0"/>
                </a:lnTo>
                <a:lnTo>
                  <a:pt x="5540711" y="4703369"/>
                </a:lnTo>
                <a:lnTo>
                  <a:pt x="0" y="4703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726098" y="2746181"/>
            <a:ext cx="4941618" cy="85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8"/>
              </a:lnSpc>
            </a:pPr>
            <a:r>
              <a:rPr lang="en-US" sz="3602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HAQ  </a:t>
            </a:r>
            <a:r>
              <a:rPr lang="en-US" sz="3602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हक़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26098" y="3525526"/>
            <a:ext cx="4941618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"/>
              </a:lnSpc>
            </a:pPr>
            <a:r>
              <a:rPr lang="en-US" sz="135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AGENTIC CASE-RESOLUTION ENGINE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558420" y="4197420"/>
            <a:ext cx="1241308" cy="582463"/>
          </a:xfrm>
          <a:custGeom>
            <a:avLst/>
            <a:gdLst/>
            <a:ahLst/>
            <a:cxnLst/>
            <a:rect r="r" b="b" t="t" l="l"/>
            <a:pathLst>
              <a:path h="582463" w="1241308">
                <a:moveTo>
                  <a:pt x="0" y="0"/>
                </a:moveTo>
                <a:lnTo>
                  <a:pt x="1241307" y="0"/>
                </a:lnTo>
                <a:lnTo>
                  <a:pt x="1241307" y="582463"/>
                </a:lnTo>
                <a:lnTo>
                  <a:pt x="0" y="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6565573" y="4190286"/>
            <a:ext cx="1227020" cy="582425"/>
            <a:chOff x="0" y="0"/>
            <a:chExt cx="1636027" cy="7765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36027" cy="776567"/>
            </a:xfrm>
            <a:custGeom>
              <a:avLst/>
              <a:gdLst/>
              <a:ahLst/>
              <a:cxnLst/>
              <a:rect r="r" b="b" t="t" l="l"/>
              <a:pathLst>
                <a:path h="776567" w="1636027">
                  <a:moveTo>
                    <a:pt x="0" y="0"/>
                  </a:moveTo>
                  <a:lnTo>
                    <a:pt x="1636027" y="0"/>
                  </a:lnTo>
                  <a:lnTo>
                    <a:pt x="163602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901" t="0" r="-1090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636027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Investigate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783049" y="4211860"/>
            <a:ext cx="137265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8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›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7903635" y="4197420"/>
            <a:ext cx="1241308" cy="582463"/>
          </a:xfrm>
          <a:custGeom>
            <a:avLst/>
            <a:gdLst/>
            <a:ahLst/>
            <a:cxnLst/>
            <a:rect r="r" b="b" t="t" l="l"/>
            <a:pathLst>
              <a:path h="582463" w="1241308">
                <a:moveTo>
                  <a:pt x="0" y="0"/>
                </a:moveTo>
                <a:lnTo>
                  <a:pt x="1241308" y="0"/>
                </a:lnTo>
                <a:lnTo>
                  <a:pt x="1241308" y="582463"/>
                </a:lnTo>
                <a:lnTo>
                  <a:pt x="0" y="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7910789" y="4190286"/>
            <a:ext cx="1227020" cy="582425"/>
            <a:chOff x="0" y="0"/>
            <a:chExt cx="1636027" cy="7765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36027" cy="776567"/>
            </a:xfrm>
            <a:custGeom>
              <a:avLst/>
              <a:gdLst/>
              <a:ahLst/>
              <a:cxnLst/>
              <a:rect r="r" b="b" t="t" l="l"/>
              <a:pathLst>
                <a:path h="776567" w="1636027">
                  <a:moveTo>
                    <a:pt x="0" y="0"/>
                  </a:moveTo>
                  <a:lnTo>
                    <a:pt x="1636027" y="0"/>
                  </a:lnTo>
                  <a:lnTo>
                    <a:pt x="163602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901" t="0" r="-1090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636027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Diagnose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128274" y="4211860"/>
            <a:ext cx="137265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8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›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9248851" y="4197420"/>
            <a:ext cx="1241308" cy="582463"/>
          </a:xfrm>
          <a:custGeom>
            <a:avLst/>
            <a:gdLst/>
            <a:ahLst/>
            <a:cxnLst/>
            <a:rect r="r" b="b" t="t" l="l"/>
            <a:pathLst>
              <a:path h="582463" w="1241308">
                <a:moveTo>
                  <a:pt x="0" y="0"/>
                </a:moveTo>
                <a:lnTo>
                  <a:pt x="1241308" y="0"/>
                </a:lnTo>
                <a:lnTo>
                  <a:pt x="1241308" y="582463"/>
                </a:lnTo>
                <a:lnTo>
                  <a:pt x="0" y="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9256004" y="4190286"/>
            <a:ext cx="1227020" cy="582425"/>
            <a:chOff x="0" y="0"/>
            <a:chExt cx="1636027" cy="7765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36027" cy="776567"/>
            </a:xfrm>
            <a:custGeom>
              <a:avLst/>
              <a:gdLst/>
              <a:ahLst/>
              <a:cxnLst/>
              <a:rect r="r" b="b" t="t" l="l"/>
              <a:pathLst>
                <a:path h="776567" w="1636027">
                  <a:moveTo>
                    <a:pt x="0" y="0"/>
                  </a:moveTo>
                  <a:lnTo>
                    <a:pt x="1636027" y="0"/>
                  </a:lnTo>
                  <a:lnTo>
                    <a:pt x="163602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901" t="0" r="-1090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636027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473490" y="4211860"/>
            <a:ext cx="137265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8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›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0594076" y="4197420"/>
            <a:ext cx="1241308" cy="582463"/>
          </a:xfrm>
          <a:custGeom>
            <a:avLst/>
            <a:gdLst/>
            <a:ahLst/>
            <a:cxnLst/>
            <a:rect r="r" b="b" t="t" l="l"/>
            <a:pathLst>
              <a:path h="582463" w="1241308">
                <a:moveTo>
                  <a:pt x="0" y="0"/>
                </a:moveTo>
                <a:lnTo>
                  <a:pt x="1241308" y="0"/>
                </a:lnTo>
                <a:lnTo>
                  <a:pt x="1241308" y="582463"/>
                </a:lnTo>
                <a:lnTo>
                  <a:pt x="0" y="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601230" y="4190286"/>
            <a:ext cx="1227020" cy="582425"/>
            <a:chOff x="0" y="0"/>
            <a:chExt cx="1636027" cy="7765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36027" cy="776567"/>
            </a:xfrm>
            <a:custGeom>
              <a:avLst/>
              <a:gdLst/>
              <a:ahLst/>
              <a:cxnLst/>
              <a:rect r="r" b="b" t="t" l="l"/>
              <a:pathLst>
                <a:path h="776567" w="1636027">
                  <a:moveTo>
                    <a:pt x="0" y="0"/>
                  </a:moveTo>
                  <a:lnTo>
                    <a:pt x="1636027" y="0"/>
                  </a:lnTo>
                  <a:lnTo>
                    <a:pt x="163602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901" t="0" r="-1090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636027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6970214" y="4952390"/>
            <a:ext cx="1378563" cy="582368"/>
          </a:xfrm>
          <a:custGeom>
            <a:avLst/>
            <a:gdLst/>
            <a:ahLst/>
            <a:cxnLst/>
            <a:rect r="r" b="b" t="t" l="l"/>
            <a:pathLst>
              <a:path h="582368" w="1378563">
                <a:moveTo>
                  <a:pt x="0" y="0"/>
                </a:moveTo>
                <a:lnTo>
                  <a:pt x="1378563" y="0"/>
                </a:lnTo>
                <a:lnTo>
                  <a:pt x="1378563" y="582368"/>
                </a:lnTo>
                <a:lnTo>
                  <a:pt x="0" y="582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6977367" y="4945256"/>
            <a:ext cx="1364285" cy="582425"/>
            <a:chOff x="0" y="0"/>
            <a:chExt cx="1819046" cy="77656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19047" cy="776567"/>
            </a:xfrm>
            <a:custGeom>
              <a:avLst/>
              <a:gdLst/>
              <a:ahLst/>
              <a:cxnLst/>
              <a:rect r="r" b="b" t="t" l="l"/>
              <a:pathLst>
                <a:path h="776567" w="1819047">
                  <a:moveTo>
                    <a:pt x="0" y="0"/>
                  </a:moveTo>
                  <a:lnTo>
                    <a:pt x="1819047" y="0"/>
                  </a:lnTo>
                  <a:lnTo>
                    <a:pt x="181904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773" t="0" r="-477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819046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Verify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8332118" y="4966830"/>
            <a:ext cx="19217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8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›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8507606" y="4952390"/>
            <a:ext cx="1378563" cy="582368"/>
          </a:xfrm>
          <a:custGeom>
            <a:avLst/>
            <a:gdLst/>
            <a:ahLst/>
            <a:cxnLst/>
            <a:rect r="r" b="b" t="t" l="l"/>
            <a:pathLst>
              <a:path h="582368" w="1378563">
                <a:moveTo>
                  <a:pt x="0" y="0"/>
                </a:moveTo>
                <a:lnTo>
                  <a:pt x="1378563" y="0"/>
                </a:lnTo>
                <a:lnTo>
                  <a:pt x="1378563" y="582368"/>
                </a:lnTo>
                <a:lnTo>
                  <a:pt x="0" y="582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8514759" y="4945256"/>
            <a:ext cx="1364285" cy="582425"/>
            <a:chOff x="0" y="0"/>
            <a:chExt cx="1819046" cy="77656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19047" cy="776567"/>
            </a:xfrm>
            <a:custGeom>
              <a:avLst/>
              <a:gdLst/>
              <a:ahLst/>
              <a:cxnLst/>
              <a:rect r="r" b="b" t="t" l="l"/>
              <a:pathLst>
                <a:path h="776567" w="1819047">
                  <a:moveTo>
                    <a:pt x="0" y="0"/>
                  </a:moveTo>
                  <a:lnTo>
                    <a:pt x="1819047" y="0"/>
                  </a:lnTo>
                  <a:lnTo>
                    <a:pt x="181904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773" t="0" r="-477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819046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Re-plan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9869519" y="4966830"/>
            <a:ext cx="19217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8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›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0044998" y="4952390"/>
            <a:ext cx="1378563" cy="582368"/>
          </a:xfrm>
          <a:custGeom>
            <a:avLst/>
            <a:gdLst/>
            <a:ahLst/>
            <a:cxnLst/>
            <a:rect r="r" b="b" t="t" l="l"/>
            <a:pathLst>
              <a:path h="582368" w="1378563">
                <a:moveTo>
                  <a:pt x="0" y="0"/>
                </a:moveTo>
                <a:lnTo>
                  <a:pt x="1378563" y="0"/>
                </a:lnTo>
                <a:lnTo>
                  <a:pt x="1378563" y="582368"/>
                </a:lnTo>
                <a:lnTo>
                  <a:pt x="0" y="582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052152" y="4945256"/>
            <a:ext cx="1364285" cy="582425"/>
            <a:chOff x="0" y="0"/>
            <a:chExt cx="1819046" cy="77656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19047" cy="776567"/>
            </a:xfrm>
            <a:custGeom>
              <a:avLst/>
              <a:gdLst/>
              <a:ahLst/>
              <a:cxnLst/>
              <a:rect r="r" b="b" t="t" l="l"/>
              <a:pathLst>
                <a:path h="776567" w="1819047">
                  <a:moveTo>
                    <a:pt x="0" y="0"/>
                  </a:moveTo>
                  <a:lnTo>
                    <a:pt x="1819047" y="0"/>
                  </a:lnTo>
                  <a:lnTo>
                    <a:pt x="181904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773" t="0" r="-477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819046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Follow up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6863363" y="5782027"/>
            <a:ext cx="4667088" cy="7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Stateful workflow · evidence-based · re-plans when reality changes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2079519" y="4564132"/>
            <a:ext cx="686372" cy="549116"/>
            <a:chOff x="0" y="0"/>
            <a:chExt cx="915162" cy="73215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5162" cy="732155"/>
            </a:xfrm>
            <a:custGeom>
              <a:avLst/>
              <a:gdLst/>
              <a:ahLst/>
              <a:cxnLst/>
              <a:rect r="r" b="b" t="t" l="l"/>
              <a:pathLst>
                <a:path h="732155" w="915162">
                  <a:moveTo>
                    <a:pt x="0" y="183007"/>
                  </a:moveTo>
                  <a:lnTo>
                    <a:pt x="549021" y="183007"/>
                  </a:lnTo>
                  <a:lnTo>
                    <a:pt x="549021" y="0"/>
                  </a:lnTo>
                  <a:lnTo>
                    <a:pt x="915162" y="366014"/>
                  </a:lnTo>
                  <a:lnTo>
                    <a:pt x="549021" y="732155"/>
                  </a:lnTo>
                  <a:lnTo>
                    <a:pt x="549021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2890611" y="2664200"/>
            <a:ext cx="4664735" cy="4348982"/>
          </a:xfrm>
          <a:custGeom>
            <a:avLst/>
            <a:gdLst/>
            <a:ahLst/>
            <a:cxnLst/>
            <a:rect r="r" b="b" t="t" l="l"/>
            <a:pathLst>
              <a:path h="4348982" w="4664735">
                <a:moveTo>
                  <a:pt x="0" y="0"/>
                </a:moveTo>
                <a:lnTo>
                  <a:pt x="4664736" y="0"/>
                </a:lnTo>
                <a:lnTo>
                  <a:pt x="4664736" y="4348981"/>
                </a:lnTo>
                <a:lnTo>
                  <a:pt x="0" y="4348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3246284" y="2940596"/>
            <a:ext cx="395329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575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OUTPUT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0">
            <a:off x="14676301" y="3612556"/>
            <a:ext cx="1093203" cy="1093203"/>
          </a:xfrm>
          <a:custGeom>
            <a:avLst/>
            <a:gdLst/>
            <a:ahLst/>
            <a:cxnLst/>
            <a:rect r="r" b="b" t="t" l="l"/>
            <a:pathLst>
              <a:path h="1093203" w="1093203">
                <a:moveTo>
                  <a:pt x="0" y="0"/>
                </a:moveTo>
                <a:lnTo>
                  <a:pt x="1093203" y="0"/>
                </a:lnTo>
                <a:lnTo>
                  <a:pt x="1093203" y="1093204"/>
                </a:lnTo>
                <a:lnTo>
                  <a:pt x="0" y="10932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4687026" y="3573275"/>
            <a:ext cx="1071829" cy="1121835"/>
            <a:chOff x="0" y="0"/>
            <a:chExt cx="1429106" cy="149578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29105" cy="1495780"/>
            </a:xfrm>
            <a:custGeom>
              <a:avLst/>
              <a:gdLst/>
              <a:ahLst/>
              <a:cxnLst/>
              <a:rect r="r" b="b" t="t" l="l"/>
              <a:pathLst>
                <a:path h="1495780" w="1429105">
                  <a:moveTo>
                    <a:pt x="0" y="0"/>
                  </a:moveTo>
                  <a:lnTo>
                    <a:pt x="1429105" y="0"/>
                  </a:lnTo>
                  <a:lnTo>
                    <a:pt x="1429105" y="1495780"/>
                  </a:lnTo>
                  <a:lnTo>
                    <a:pt x="0" y="14957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289" t="0" r="-84289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1429106" cy="156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3314921" y="4881391"/>
            <a:ext cx="3816029" cy="125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400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Verified payment recovery</a:t>
            </a:r>
          </a:p>
          <a:p>
            <a:pPr algn="ctr">
              <a:lnSpc>
                <a:spcPts val="1796"/>
              </a:lnSpc>
            </a:pPr>
            <a:r>
              <a:rPr lang="en-US" sz="142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closed only after payment is verified</a:t>
            </a:r>
          </a:p>
        </p:txBody>
      </p:sp>
      <p:sp>
        <p:nvSpPr>
          <p:cNvPr name="Freeform 77" id="77"/>
          <p:cNvSpPr/>
          <p:nvPr/>
        </p:nvSpPr>
        <p:spPr>
          <a:xfrm flipH="false" flipV="false" rot="0">
            <a:off x="742455" y="7399915"/>
            <a:ext cx="16812825" cy="848639"/>
          </a:xfrm>
          <a:custGeom>
            <a:avLst/>
            <a:gdLst/>
            <a:ahLst/>
            <a:cxnLst/>
            <a:rect r="r" b="b" t="t" l="l"/>
            <a:pathLst>
              <a:path h="848639" w="16812825">
                <a:moveTo>
                  <a:pt x="0" y="0"/>
                </a:moveTo>
                <a:lnTo>
                  <a:pt x="16812825" y="0"/>
                </a:lnTo>
                <a:lnTo>
                  <a:pt x="16812825" y="848640"/>
                </a:lnTo>
                <a:lnTo>
                  <a:pt x="0" y="848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166774" y="7412431"/>
            <a:ext cx="16060264" cy="823608"/>
            <a:chOff x="0" y="0"/>
            <a:chExt cx="21413686" cy="10981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413724" cy="1098169"/>
            </a:xfrm>
            <a:custGeom>
              <a:avLst/>
              <a:gdLst/>
              <a:ahLst/>
              <a:cxnLst/>
              <a:rect r="r" b="b" t="t" l="l"/>
              <a:pathLst>
                <a:path h="1098169" w="21413724">
                  <a:moveTo>
                    <a:pt x="0" y="0"/>
                  </a:moveTo>
                  <a:lnTo>
                    <a:pt x="21413724" y="0"/>
                  </a:lnTo>
                  <a:lnTo>
                    <a:pt x="21413724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0" t="-329684" r="0" b="-32968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66774" y="7391000"/>
            <a:ext cx="16060264" cy="845039"/>
            <a:chOff x="0" y="0"/>
            <a:chExt cx="21413686" cy="112671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413685" cy="1126719"/>
            </a:xfrm>
            <a:custGeom>
              <a:avLst/>
              <a:gdLst/>
              <a:ahLst/>
              <a:cxnLst/>
              <a:rect r="r" b="b" t="t" l="l"/>
              <a:pathLst>
                <a:path h="1126719" w="21413685">
                  <a:moveTo>
                    <a:pt x="0" y="0"/>
                  </a:moveTo>
                  <a:lnTo>
                    <a:pt x="21413685" y="0"/>
                  </a:lnTo>
                  <a:lnTo>
                    <a:pt x="21413685" y="1126719"/>
                  </a:lnTo>
                  <a:lnTo>
                    <a:pt x="0" y="112671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0319" r="0" b="-3203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1413686" cy="1155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1"/>
                </a:lnSpc>
              </a:pPr>
              <a:r>
                <a:rPr lang="en-US" sz="2175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“From ‘Why didn’t I get my money?’ to a verified resolution path.”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754971" y="8541106"/>
            <a:ext cx="4118019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DEMO WORKFLOWS</a:t>
            </a:r>
          </a:p>
        </p:txBody>
      </p:sp>
      <p:sp>
        <p:nvSpPr>
          <p:cNvPr name="Freeform 84" id="84"/>
          <p:cNvSpPr/>
          <p:nvPr/>
        </p:nvSpPr>
        <p:spPr>
          <a:xfrm flipH="false" flipV="false" rot="0">
            <a:off x="738283" y="8974322"/>
            <a:ext cx="2161042" cy="637423"/>
          </a:xfrm>
          <a:custGeom>
            <a:avLst/>
            <a:gdLst/>
            <a:ahLst/>
            <a:cxnLst/>
            <a:rect r="r" b="b" t="t" l="l"/>
            <a:pathLst>
              <a:path h="637423" w="2161042">
                <a:moveTo>
                  <a:pt x="0" y="0"/>
                </a:moveTo>
                <a:lnTo>
                  <a:pt x="2161041" y="0"/>
                </a:lnTo>
                <a:lnTo>
                  <a:pt x="2161041" y="637422"/>
                </a:lnTo>
                <a:lnTo>
                  <a:pt x="0" y="63742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745436" y="8967187"/>
            <a:ext cx="2146706" cy="637327"/>
            <a:chOff x="0" y="0"/>
            <a:chExt cx="2862275" cy="84977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862275" cy="849770"/>
            </a:xfrm>
            <a:custGeom>
              <a:avLst/>
              <a:gdLst/>
              <a:ahLst/>
              <a:cxnLst/>
              <a:rect r="r" b="b" t="t" l="l"/>
              <a:pathLst>
                <a:path h="849770" w="2862275">
                  <a:moveTo>
                    <a:pt x="0" y="0"/>
                  </a:moveTo>
                  <a:lnTo>
                    <a:pt x="2862275" y="0"/>
                  </a:lnTo>
                  <a:lnTo>
                    <a:pt x="2862275" y="849770"/>
                  </a:lnTo>
                  <a:lnTo>
                    <a:pt x="0" y="8497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631" r="0" b="-156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2862275" cy="86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Pension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3113008" y="8974322"/>
            <a:ext cx="2572807" cy="637327"/>
          </a:xfrm>
          <a:custGeom>
            <a:avLst/>
            <a:gdLst/>
            <a:ahLst/>
            <a:cxnLst/>
            <a:rect r="r" b="b" t="t" l="l"/>
            <a:pathLst>
              <a:path h="637327" w="2572807">
                <a:moveTo>
                  <a:pt x="0" y="0"/>
                </a:moveTo>
                <a:lnTo>
                  <a:pt x="2572807" y="0"/>
                </a:lnTo>
                <a:lnTo>
                  <a:pt x="2572807" y="637327"/>
                </a:lnTo>
                <a:lnTo>
                  <a:pt x="0" y="63732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3120161" y="8967187"/>
            <a:ext cx="2558510" cy="637327"/>
            <a:chOff x="0" y="0"/>
            <a:chExt cx="3411347" cy="84977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411347" cy="849770"/>
            </a:xfrm>
            <a:custGeom>
              <a:avLst/>
              <a:gdLst/>
              <a:ahLst/>
              <a:cxnLst/>
              <a:rect r="r" b="b" t="t" l="l"/>
              <a:pathLst>
                <a:path h="849770" w="3411347">
                  <a:moveTo>
                    <a:pt x="0" y="0"/>
                  </a:moveTo>
                  <a:lnTo>
                    <a:pt x="3411347" y="0"/>
                  </a:lnTo>
                  <a:lnTo>
                    <a:pt x="3411347" y="849770"/>
                  </a:lnTo>
                  <a:lnTo>
                    <a:pt x="0" y="8497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8221" r="0" b="-2822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3411347" cy="86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Scholarship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5899528" y="8974322"/>
            <a:ext cx="3945550" cy="637423"/>
          </a:xfrm>
          <a:custGeom>
            <a:avLst/>
            <a:gdLst/>
            <a:ahLst/>
            <a:cxnLst/>
            <a:rect r="r" b="b" t="t" l="l"/>
            <a:pathLst>
              <a:path h="637423" w="3945550">
                <a:moveTo>
                  <a:pt x="0" y="0"/>
                </a:moveTo>
                <a:lnTo>
                  <a:pt x="3945550" y="0"/>
                </a:lnTo>
                <a:lnTo>
                  <a:pt x="3945550" y="637422"/>
                </a:lnTo>
                <a:lnTo>
                  <a:pt x="0" y="63742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5906681" y="8967187"/>
            <a:ext cx="3931177" cy="637327"/>
            <a:chOff x="0" y="0"/>
            <a:chExt cx="5241569" cy="84977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41569" cy="849770"/>
            </a:xfrm>
            <a:custGeom>
              <a:avLst/>
              <a:gdLst/>
              <a:ahLst/>
              <a:cxnLst/>
              <a:rect r="r" b="b" t="t" l="l"/>
              <a:pathLst>
                <a:path h="849770" w="5241569">
                  <a:moveTo>
                    <a:pt x="0" y="0"/>
                  </a:moveTo>
                  <a:lnTo>
                    <a:pt x="5241569" y="0"/>
                  </a:lnTo>
                  <a:lnTo>
                    <a:pt x="5241569" y="849770"/>
                  </a:lnTo>
                  <a:lnTo>
                    <a:pt x="0" y="8497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0188" r="0" b="-7018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5241569" cy="86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PM-KISAN / welfare DBT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0066458" y="9090908"/>
            <a:ext cx="7206529" cy="53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Scoped demo workflows — not universal scheme coverage.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AGENTIC LOOP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Not a chatbot. A closed-loop recovery agent.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04 / 12</a:t>
            </a:r>
          </a:p>
        </p:txBody>
      </p:sp>
      <p:sp>
        <p:nvSpPr>
          <p:cNvPr name="AutoShape 15" id="15"/>
          <p:cNvSpPr/>
          <p:nvPr/>
        </p:nvSpPr>
        <p:spPr>
          <a:xfrm rot="62880">
            <a:off x="6909730" y="3786854"/>
            <a:ext cx="1041883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rot="312180">
            <a:off x="9145667" y="5313940"/>
            <a:ext cx="210083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rot="106200">
            <a:off x="8292722" y="7218197"/>
            <a:ext cx="616858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rot="54300">
            <a:off x="5367861" y="8065665"/>
            <a:ext cx="1206532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rot="106200">
            <a:off x="3032684" y="7218197"/>
            <a:ext cx="616858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rot="312180">
            <a:off x="2586504" y="5313940"/>
            <a:ext cx="210083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rot="62880">
            <a:off x="3990632" y="3786854"/>
            <a:ext cx="1041883" cy="0"/>
          </a:xfrm>
          <a:prstGeom prst="line">
            <a:avLst/>
          </a:prstGeom>
          <a:ln cap="rnd" w="19050">
            <a:solidFill>
              <a:srgbClr val="FF993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4967326" y="2331796"/>
            <a:ext cx="2007556" cy="2007556"/>
          </a:xfrm>
          <a:custGeom>
            <a:avLst/>
            <a:gdLst/>
            <a:ahLst/>
            <a:cxnLst/>
            <a:rect r="r" b="b" t="t" l="l"/>
            <a:pathLst>
              <a:path h="2007556" w="2007556">
                <a:moveTo>
                  <a:pt x="0" y="0"/>
                </a:moveTo>
                <a:lnTo>
                  <a:pt x="2007555" y="0"/>
                </a:lnTo>
                <a:lnTo>
                  <a:pt x="2007555" y="2007556"/>
                </a:lnTo>
                <a:lnTo>
                  <a:pt x="0" y="2007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979841" y="2330025"/>
            <a:ext cx="1982562" cy="1996850"/>
            <a:chOff x="0" y="0"/>
            <a:chExt cx="2643416" cy="26624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43416" cy="2662466"/>
            </a:xfrm>
            <a:custGeom>
              <a:avLst/>
              <a:gdLst/>
              <a:ahLst/>
              <a:cxnLst/>
              <a:rect r="r" b="b" t="t" l="l"/>
              <a:pathLst>
                <a:path h="2662466" w="2643416">
                  <a:moveTo>
                    <a:pt x="0" y="0"/>
                  </a:moveTo>
                  <a:lnTo>
                    <a:pt x="2643416" y="0"/>
                  </a:lnTo>
                  <a:lnTo>
                    <a:pt x="2643416" y="2662466"/>
                  </a:lnTo>
                  <a:lnTo>
                    <a:pt x="0" y="26624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228" t="0" r="-7922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643416" cy="2681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SAMVAAD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intake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894777" y="3280772"/>
            <a:ext cx="1990887" cy="1990887"/>
          </a:xfrm>
          <a:custGeom>
            <a:avLst/>
            <a:gdLst/>
            <a:ahLst/>
            <a:cxnLst/>
            <a:rect r="r" b="b" t="t" l="l"/>
            <a:pathLst>
              <a:path h="1990887" w="1990887">
                <a:moveTo>
                  <a:pt x="0" y="0"/>
                </a:moveTo>
                <a:lnTo>
                  <a:pt x="1990887" y="0"/>
                </a:lnTo>
                <a:lnTo>
                  <a:pt x="1990887" y="1990887"/>
                </a:lnTo>
                <a:lnTo>
                  <a:pt x="0" y="199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903712" y="3275419"/>
            <a:ext cx="1973028" cy="1987315"/>
            <a:chOff x="0" y="0"/>
            <a:chExt cx="2630703" cy="26497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30704" cy="2649754"/>
            </a:xfrm>
            <a:custGeom>
              <a:avLst/>
              <a:gdLst/>
              <a:ahLst/>
              <a:cxnLst/>
              <a:rect r="r" b="b" t="t" l="l"/>
              <a:pathLst>
                <a:path h="2649754" w="2630704">
                  <a:moveTo>
                    <a:pt x="0" y="0"/>
                  </a:moveTo>
                  <a:lnTo>
                    <a:pt x="2630704" y="0"/>
                  </a:lnTo>
                  <a:lnTo>
                    <a:pt x="2630704" y="2649754"/>
                  </a:lnTo>
                  <a:lnTo>
                    <a:pt x="0" y="2649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232" t="0" r="-7923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630703" cy="266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KHOJ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evidence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615734" y="5394322"/>
            <a:ext cx="1990887" cy="1990887"/>
          </a:xfrm>
          <a:custGeom>
            <a:avLst/>
            <a:gdLst/>
            <a:ahLst/>
            <a:cxnLst/>
            <a:rect r="r" b="b" t="t" l="l"/>
            <a:pathLst>
              <a:path h="1990887" w="1990887">
                <a:moveTo>
                  <a:pt x="0" y="0"/>
                </a:moveTo>
                <a:lnTo>
                  <a:pt x="1990887" y="0"/>
                </a:lnTo>
                <a:lnTo>
                  <a:pt x="1990887" y="1990887"/>
                </a:lnTo>
                <a:lnTo>
                  <a:pt x="0" y="199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8624668" y="5388969"/>
            <a:ext cx="1973028" cy="1987315"/>
            <a:chOff x="0" y="0"/>
            <a:chExt cx="2630703" cy="26497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30704" cy="2649754"/>
            </a:xfrm>
            <a:custGeom>
              <a:avLst/>
              <a:gdLst/>
              <a:ahLst/>
              <a:cxnLst/>
              <a:rect r="r" b="b" t="t" l="l"/>
              <a:pathLst>
                <a:path h="2649754" w="2630704">
                  <a:moveTo>
                    <a:pt x="0" y="0"/>
                  </a:moveTo>
                  <a:lnTo>
                    <a:pt x="2630704" y="0"/>
                  </a:lnTo>
                  <a:lnTo>
                    <a:pt x="2630704" y="2649754"/>
                  </a:lnTo>
                  <a:lnTo>
                    <a:pt x="0" y="2649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232" t="0" r="-7923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630703" cy="266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NIDAAN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diagnose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6595653" y="7089267"/>
            <a:ext cx="1990887" cy="1990887"/>
          </a:xfrm>
          <a:custGeom>
            <a:avLst/>
            <a:gdLst/>
            <a:ahLst/>
            <a:cxnLst/>
            <a:rect r="r" b="b" t="t" l="l"/>
            <a:pathLst>
              <a:path h="1990887" w="1990887">
                <a:moveTo>
                  <a:pt x="0" y="0"/>
                </a:moveTo>
                <a:lnTo>
                  <a:pt x="1990887" y="0"/>
                </a:lnTo>
                <a:lnTo>
                  <a:pt x="1990887" y="1990887"/>
                </a:lnTo>
                <a:lnTo>
                  <a:pt x="0" y="199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6604587" y="7083914"/>
            <a:ext cx="1973028" cy="1987315"/>
            <a:chOff x="0" y="0"/>
            <a:chExt cx="2630703" cy="264975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30704" cy="2649754"/>
            </a:xfrm>
            <a:custGeom>
              <a:avLst/>
              <a:gdLst/>
              <a:ahLst/>
              <a:cxnLst/>
              <a:rect r="r" b="b" t="t" l="l"/>
              <a:pathLst>
                <a:path h="2649754" w="2630704">
                  <a:moveTo>
                    <a:pt x="0" y="0"/>
                  </a:moveTo>
                  <a:lnTo>
                    <a:pt x="2630704" y="0"/>
                  </a:lnTo>
                  <a:lnTo>
                    <a:pt x="2630704" y="2649754"/>
                  </a:lnTo>
                  <a:lnTo>
                    <a:pt x="0" y="2649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232" t="0" r="-7923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630703" cy="266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YOJNA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355696" y="7089267"/>
            <a:ext cx="1990887" cy="1990887"/>
          </a:xfrm>
          <a:custGeom>
            <a:avLst/>
            <a:gdLst/>
            <a:ahLst/>
            <a:cxnLst/>
            <a:rect r="r" b="b" t="t" l="l"/>
            <a:pathLst>
              <a:path h="1990887" w="1990887">
                <a:moveTo>
                  <a:pt x="0" y="0"/>
                </a:moveTo>
                <a:lnTo>
                  <a:pt x="1990887" y="0"/>
                </a:lnTo>
                <a:lnTo>
                  <a:pt x="1990887" y="1990887"/>
                </a:lnTo>
                <a:lnTo>
                  <a:pt x="0" y="199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3364630" y="7083914"/>
            <a:ext cx="1973028" cy="1987315"/>
            <a:chOff x="0" y="0"/>
            <a:chExt cx="2630703" cy="26497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30704" cy="2649754"/>
            </a:xfrm>
            <a:custGeom>
              <a:avLst/>
              <a:gdLst/>
              <a:ahLst/>
              <a:cxnLst/>
              <a:rect r="r" b="b" t="t" l="l"/>
              <a:pathLst>
                <a:path h="2649754" w="2630704">
                  <a:moveTo>
                    <a:pt x="0" y="0"/>
                  </a:moveTo>
                  <a:lnTo>
                    <a:pt x="2630704" y="0"/>
                  </a:lnTo>
                  <a:lnTo>
                    <a:pt x="2630704" y="2649754"/>
                  </a:lnTo>
                  <a:lnTo>
                    <a:pt x="0" y="2649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232" t="0" r="-7923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630703" cy="266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KARM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documents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335615" y="5394322"/>
            <a:ext cx="1990887" cy="1990887"/>
          </a:xfrm>
          <a:custGeom>
            <a:avLst/>
            <a:gdLst/>
            <a:ahLst/>
            <a:cxnLst/>
            <a:rect r="r" b="b" t="t" l="l"/>
            <a:pathLst>
              <a:path h="1990887" w="1990887">
                <a:moveTo>
                  <a:pt x="0" y="0"/>
                </a:moveTo>
                <a:lnTo>
                  <a:pt x="1990886" y="0"/>
                </a:lnTo>
                <a:lnTo>
                  <a:pt x="1990886" y="1990887"/>
                </a:lnTo>
                <a:lnTo>
                  <a:pt x="0" y="199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344549" y="5388969"/>
            <a:ext cx="1973028" cy="1987315"/>
            <a:chOff x="0" y="0"/>
            <a:chExt cx="2630703" cy="26497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30704" cy="2649754"/>
            </a:xfrm>
            <a:custGeom>
              <a:avLst/>
              <a:gdLst/>
              <a:ahLst/>
              <a:cxnLst/>
              <a:rect r="r" b="b" t="t" l="l"/>
              <a:pathLst>
                <a:path h="2649754" w="2630704">
                  <a:moveTo>
                    <a:pt x="0" y="0"/>
                  </a:moveTo>
                  <a:lnTo>
                    <a:pt x="2630704" y="0"/>
                  </a:lnTo>
                  <a:lnTo>
                    <a:pt x="2630704" y="2649754"/>
                  </a:lnTo>
                  <a:lnTo>
                    <a:pt x="0" y="2649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232" t="0" r="-7923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2630703" cy="266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SATYAPAN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verify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2056581" y="3280772"/>
            <a:ext cx="1990887" cy="1990887"/>
          </a:xfrm>
          <a:custGeom>
            <a:avLst/>
            <a:gdLst/>
            <a:ahLst/>
            <a:cxnLst/>
            <a:rect r="r" b="b" t="t" l="l"/>
            <a:pathLst>
              <a:path h="1990887" w="1990887">
                <a:moveTo>
                  <a:pt x="0" y="0"/>
                </a:moveTo>
                <a:lnTo>
                  <a:pt x="1990887" y="0"/>
                </a:lnTo>
                <a:lnTo>
                  <a:pt x="1990887" y="1990887"/>
                </a:lnTo>
                <a:lnTo>
                  <a:pt x="0" y="199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2065515" y="3275419"/>
            <a:ext cx="1973028" cy="1987315"/>
            <a:chOff x="0" y="0"/>
            <a:chExt cx="2630703" cy="264975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30704" cy="2649754"/>
            </a:xfrm>
            <a:custGeom>
              <a:avLst/>
              <a:gdLst/>
              <a:ahLst/>
              <a:cxnLst/>
              <a:rect r="r" b="b" t="t" l="l"/>
              <a:pathLst>
                <a:path h="2649754" w="2630704">
                  <a:moveTo>
                    <a:pt x="0" y="0"/>
                  </a:moveTo>
                  <a:lnTo>
                    <a:pt x="2630704" y="0"/>
                  </a:lnTo>
                  <a:lnTo>
                    <a:pt x="2630704" y="2649754"/>
                  </a:lnTo>
                  <a:lnTo>
                    <a:pt x="0" y="2649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232" t="0" r="-7923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630703" cy="266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ANUSARAN</a:t>
              </a:r>
            </a:p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follow-up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461186" y="5309997"/>
            <a:ext cx="3019882" cy="31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8"/>
              </a:lnSpc>
            </a:pPr>
            <a:r>
              <a:rPr lang="en-US" sz="195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CASE STATE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61186" y="5886526"/>
            <a:ext cx="3019882" cy="22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"/>
              </a:lnSpc>
            </a:pPr>
            <a:r>
              <a:rPr lang="en-US" sz="135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structured · shared across agents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463753" y="3847729"/>
            <a:ext cx="1612021" cy="856974"/>
          </a:xfrm>
          <a:custGeom>
            <a:avLst/>
            <a:gdLst/>
            <a:ahLst/>
            <a:cxnLst/>
            <a:rect r="r" b="b" t="t" l="l"/>
            <a:pathLst>
              <a:path h="856974" w="1612021">
                <a:moveTo>
                  <a:pt x="0" y="0"/>
                </a:moveTo>
                <a:lnTo>
                  <a:pt x="1612021" y="0"/>
                </a:lnTo>
                <a:lnTo>
                  <a:pt x="1612021" y="856973"/>
                </a:lnTo>
                <a:lnTo>
                  <a:pt x="0" y="8569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470906" y="3847738"/>
            <a:ext cx="1597638" cy="849811"/>
            <a:chOff x="0" y="0"/>
            <a:chExt cx="2130184" cy="113308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30184" cy="1133081"/>
            </a:xfrm>
            <a:custGeom>
              <a:avLst/>
              <a:gdLst/>
              <a:ahLst/>
              <a:cxnLst/>
              <a:rect r="r" b="b" t="t" l="l"/>
              <a:pathLst>
                <a:path h="1133081" w="2130184">
                  <a:moveTo>
                    <a:pt x="0" y="0"/>
                  </a:moveTo>
                  <a:lnTo>
                    <a:pt x="2130184" y="0"/>
                  </a:lnTo>
                  <a:lnTo>
                    <a:pt x="2130184" y="1133081"/>
                  </a:lnTo>
                  <a:lnTo>
                    <a:pt x="0" y="11330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8246" t="0" r="-18246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130184" cy="1142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53"/>
                </a:lnSpc>
              </a:pPr>
              <a:r>
                <a:rPr lang="en-US" sz="1275" b="true">
                  <a:solidFill>
                    <a:srgbClr val="2EC27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PAYMENT</a:t>
              </a:r>
            </a:p>
            <a:p>
              <a:pPr algn="ctr">
                <a:lnSpc>
                  <a:spcPts val="1453"/>
                </a:lnSpc>
              </a:pPr>
              <a:r>
                <a:rPr lang="en-US" sz="1275" b="true">
                  <a:solidFill>
                    <a:srgbClr val="2EC27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VERIFIED ✓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104400">
            <a:off x="1685820" y="4909185"/>
            <a:ext cx="627517" cy="0"/>
          </a:xfrm>
          <a:prstGeom prst="line">
            <a:avLst/>
          </a:prstGeom>
          <a:ln cap="rnd" w="19050">
            <a:solidFill>
              <a:srgbClr val="2EC27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7" id="57"/>
          <p:cNvSpPr/>
          <p:nvPr/>
        </p:nvSpPr>
        <p:spPr>
          <a:xfrm flipH="false" flipV="false" rot="0">
            <a:off x="11723837" y="2595562"/>
            <a:ext cx="5858885" cy="6202070"/>
          </a:xfrm>
          <a:custGeom>
            <a:avLst/>
            <a:gdLst/>
            <a:ahLst/>
            <a:cxnLst/>
            <a:rect r="r" b="b" t="t" l="l"/>
            <a:pathLst>
              <a:path h="6202070" w="5858885">
                <a:moveTo>
                  <a:pt x="0" y="0"/>
                </a:moveTo>
                <a:lnTo>
                  <a:pt x="5858884" y="0"/>
                </a:lnTo>
                <a:lnTo>
                  <a:pt x="5858884" y="6202071"/>
                </a:lnTo>
                <a:lnTo>
                  <a:pt x="0" y="6202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2148147" y="2844508"/>
            <a:ext cx="5010255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WHEN EVIDENCE CHANGES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2200096" y="3442449"/>
            <a:ext cx="4906337" cy="664855"/>
          </a:xfrm>
          <a:custGeom>
            <a:avLst/>
            <a:gdLst/>
            <a:ahLst/>
            <a:cxnLst/>
            <a:rect r="r" b="b" t="t" l="l"/>
            <a:pathLst>
              <a:path h="664855" w="4906337">
                <a:moveTo>
                  <a:pt x="0" y="0"/>
                </a:moveTo>
                <a:lnTo>
                  <a:pt x="4906337" y="0"/>
                </a:lnTo>
                <a:lnTo>
                  <a:pt x="4906337" y="664855"/>
                </a:lnTo>
                <a:lnTo>
                  <a:pt x="0" y="6648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2207250" y="3442459"/>
            <a:ext cx="4892050" cy="657635"/>
            <a:chOff x="0" y="0"/>
            <a:chExt cx="6522733" cy="87684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22734" cy="876846"/>
            </a:xfrm>
            <a:custGeom>
              <a:avLst/>
              <a:gdLst/>
              <a:ahLst/>
              <a:cxnLst/>
              <a:rect r="r" b="b" t="t" l="l"/>
              <a:pathLst>
                <a:path h="876846" w="6522734">
                  <a:moveTo>
                    <a:pt x="0" y="0"/>
                  </a:moveTo>
                  <a:lnTo>
                    <a:pt x="6522734" y="0"/>
                  </a:lnTo>
                  <a:lnTo>
                    <a:pt x="6522734" y="876846"/>
                  </a:lnTo>
                  <a:lnTo>
                    <a:pt x="0" y="8768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946" r="0" b="-9494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522733" cy="886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140D0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NEW EVIDENCE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447377" y="4005958"/>
            <a:ext cx="411804" cy="35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65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2200096" y="4375861"/>
            <a:ext cx="4906337" cy="664855"/>
          </a:xfrm>
          <a:custGeom>
            <a:avLst/>
            <a:gdLst/>
            <a:ahLst/>
            <a:cxnLst/>
            <a:rect r="r" b="b" t="t" l="l"/>
            <a:pathLst>
              <a:path h="664855" w="4906337">
                <a:moveTo>
                  <a:pt x="0" y="0"/>
                </a:moveTo>
                <a:lnTo>
                  <a:pt x="4906337" y="0"/>
                </a:lnTo>
                <a:lnTo>
                  <a:pt x="4906337" y="664855"/>
                </a:lnTo>
                <a:lnTo>
                  <a:pt x="0" y="664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2207250" y="4375871"/>
            <a:ext cx="4892050" cy="657635"/>
            <a:chOff x="0" y="0"/>
            <a:chExt cx="6522733" cy="87684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22734" cy="876846"/>
            </a:xfrm>
            <a:custGeom>
              <a:avLst/>
              <a:gdLst/>
              <a:ahLst/>
              <a:cxnLst/>
              <a:rect r="r" b="b" t="t" l="l"/>
              <a:pathLst>
                <a:path h="876846" w="6522734">
                  <a:moveTo>
                    <a:pt x="0" y="0"/>
                  </a:moveTo>
                  <a:lnTo>
                    <a:pt x="6522734" y="0"/>
                  </a:lnTo>
                  <a:lnTo>
                    <a:pt x="6522734" y="876846"/>
                  </a:lnTo>
                  <a:lnTo>
                    <a:pt x="0" y="8768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946" r="0" b="-949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6522733" cy="886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NIDAAN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4447377" y="4939379"/>
            <a:ext cx="411804" cy="35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65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12200096" y="5309283"/>
            <a:ext cx="4906337" cy="664855"/>
          </a:xfrm>
          <a:custGeom>
            <a:avLst/>
            <a:gdLst/>
            <a:ahLst/>
            <a:cxnLst/>
            <a:rect r="r" b="b" t="t" l="l"/>
            <a:pathLst>
              <a:path h="664855" w="4906337">
                <a:moveTo>
                  <a:pt x="0" y="0"/>
                </a:moveTo>
                <a:lnTo>
                  <a:pt x="4906337" y="0"/>
                </a:lnTo>
                <a:lnTo>
                  <a:pt x="4906337" y="664854"/>
                </a:lnTo>
                <a:lnTo>
                  <a:pt x="0" y="6648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2207250" y="5309292"/>
            <a:ext cx="4892050" cy="657635"/>
            <a:chOff x="0" y="0"/>
            <a:chExt cx="6522733" cy="87684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22734" cy="876846"/>
            </a:xfrm>
            <a:custGeom>
              <a:avLst/>
              <a:gdLst/>
              <a:ahLst/>
              <a:cxnLst/>
              <a:rect r="r" b="b" t="t" l="l"/>
              <a:pathLst>
                <a:path h="876846" w="6522734">
                  <a:moveTo>
                    <a:pt x="0" y="0"/>
                  </a:moveTo>
                  <a:lnTo>
                    <a:pt x="6522734" y="0"/>
                  </a:lnTo>
                  <a:lnTo>
                    <a:pt x="6522734" y="876846"/>
                  </a:lnTo>
                  <a:lnTo>
                    <a:pt x="0" y="8768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946" r="0" b="-9494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6522733" cy="886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YOJNA v2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4447377" y="5872791"/>
            <a:ext cx="411804" cy="35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65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Freeform 74" id="74"/>
          <p:cNvSpPr/>
          <p:nvPr/>
        </p:nvSpPr>
        <p:spPr>
          <a:xfrm flipH="false" flipV="false" rot="0">
            <a:off x="12200096" y="6242704"/>
            <a:ext cx="4906337" cy="664855"/>
          </a:xfrm>
          <a:custGeom>
            <a:avLst/>
            <a:gdLst/>
            <a:ahLst/>
            <a:cxnLst/>
            <a:rect r="r" b="b" t="t" l="l"/>
            <a:pathLst>
              <a:path h="664855" w="4906337">
                <a:moveTo>
                  <a:pt x="0" y="0"/>
                </a:moveTo>
                <a:lnTo>
                  <a:pt x="4906337" y="0"/>
                </a:lnTo>
                <a:lnTo>
                  <a:pt x="4906337" y="664855"/>
                </a:lnTo>
                <a:lnTo>
                  <a:pt x="0" y="664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12207250" y="6242714"/>
            <a:ext cx="4892050" cy="657635"/>
            <a:chOff x="0" y="0"/>
            <a:chExt cx="6522733" cy="87684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22734" cy="876846"/>
            </a:xfrm>
            <a:custGeom>
              <a:avLst/>
              <a:gdLst/>
              <a:ahLst/>
              <a:cxnLst/>
              <a:rect r="r" b="b" t="t" l="l"/>
              <a:pathLst>
                <a:path h="876846" w="6522734">
                  <a:moveTo>
                    <a:pt x="0" y="0"/>
                  </a:moveTo>
                  <a:lnTo>
                    <a:pt x="6522734" y="0"/>
                  </a:lnTo>
                  <a:lnTo>
                    <a:pt x="6522734" y="876846"/>
                  </a:lnTo>
                  <a:lnTo>
                    <a:pt x="0" y="8768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946" r="0" b="-9494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6522733" cy="886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KARM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4447377" y="6806213"/>
            <a:ext cx="411804" cy="35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65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↓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12200096" y="7176116"/>
            <a:ext cx="4906337" cy="664855"/>
          </a:xfrm>
          <a:custGeom>
            <a:avLst/>
            <a:gdLst/>
            <a:ahLst/>
            <a:cxnLst/>
            <a:rect r="r" b="b" t="t" l="l"/>
            <a:pathLst>
              <a:path h="664855" w="4906337">
                <a:moveTo>
                  <a:pt x="0" y="0"/>
                </a:moveTo>
                <a:lnTo>
                  <a:pt x="4906337" y="0"/>
                </a:lnTo>
                <a:lnTo>
                  <a:pt x="4906337" y="664854"/>
                </a:lnTo>
                <a:lnTo>
                  <a:pt x="0" y="6648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2207250" y="7176125"/>
            <a:ext cx="4892050" cy="657635"/>
            <a:chOff x="0" y="0"/>
            <a:chExt cx="6522733" cy="87684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22734" cy="876846"/>
            </a:xfrm>
            <a:custGeom>
              <a:avLst/>
              <a:gdLst/>
              <a:ahLst/>
              <a:cxnLst/>
              <a:rect r="r" b="b" t="t" l="l"/>
              <a:pathLst>
                <a:path h="876846" w="6522734">
                  <a:moveTo>
                    <a:pt x="0" y="0"/>
                  </a:moveTo>
                  <a:lnTo>
                    <a:pt x="6522734" y="0"/>
                  </a:lnTo>
                  <a:lnTo>
                    <a:pt x="6522734" y="876846"/>
                  </a:lnTo>
                  <a:lnTo>
                    <a:pt x="0" y="8768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946" r="0" b="-949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6522733" cy="886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SATYAPAN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2216784" y="8060665"/>
            <a:ext cx="4872990" cy="12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Assumptions &amp; documents are invalidated. Diagnosis is updated. The case continues from the new state.</a:t>
            </a:r>
          </a:p>
        </p:txBody>
      </p:sp>
      <p:sp>
        <p:nvSpPr>
          <p:cNvPr name="Freeform 84" id="84"/>
          <p:cNvSpPr/>
          <p:nvPr/>
        </p:nvSpPr>
        <p:spPr>
          <a:xfrm flipH="false" flipV="false" rot="0">
            <a:off x="483822" y="9260176"/>
            <a:ext cx="16812825" cy="780059"/>
          </a:xfrm>
          <a:custGeom>
            <a:avLst/>
            <a:gdLst/>
            <a:ahLst/>
            <a:cxnLst/>
            <a:rect r="r" b="b" t="t" l="l"/>
            <a:pathLst>
              <a:path h="780059" w="16812825">
                <a:moveTo>
                  <a:pt x="0" y="0"/>
                </a:moveTo>
                <a:lnTo>
                  <a:pt x="16812826" y="0"/>
                </a:lnTo>
                <a:lnTo>
                  <a:pt x="16812826" y="780060"/>
                </a:lnTo>
                <a:lnTo>
                  <a:pt x="0" y="7800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908142" y="9272692"/>
            <a:ext cx="16060264" cy="754971"/>
            <a:chOff x="0" y="0"/>
            <a:chExt cx="21413686" cy="100662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413724" cy="1006602"/>
            </a:xfrm>
            <a:custGeom>
              <a:avLst/>
              <a:gdLst/>
              <a:ahLst/>
              <a:cxnLst/>
              <a:rect r="r" b="b" t="t" l="l"/>
              <a:pathLst>
                <a:path h="1006602" w="21413724">
                  <a:moveTo>
                    <a:pt x="0" y="0"/>
                  </a:moveTo>
                  <a:lnTo>
                    <a:pt x="21413724" y="0"/>
                  </a:lnTo>
                  <a:lnTo>
                    <a:pt x="21413724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0" t="-364220" r="0" b="-364222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08142" y="9251261"/>
            <a:ext cx="16060264" cy="776402"/>
            <a:chOff x="0" y="0"/>
            <a:chExt cx="21413686" cy="103520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413685" cy="1035203"/>
            </a:xfrm>
            <a:custGeom>
              <a:avLst/>
              <a:gdLst/>
              <a:ahLst/>
              <a:cxnLst/>
              <a:rect r="r" b="b" t="t" l="l"/>
              <a:pathLst>
                <a:path h="1035203" w="21413685">
                  <a:moveTo>
                    <a:pt x="0" y="0"/>
                  </a:moveTo>
                  <a:lnTo>
                    <a:pt x="21413685" y="0"/>
                  </a:lnTo>
                  <a:lnTo>
                    <a:pt x="21413685" y="1035203"/>
                  </a:lnTo>
                  <a:lnTo>
                    <a:pt x="0" y="10352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3057" r="0" b="-35305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21413686" cy="1063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36"/>
                </a:lnSpc>
              </a:pPr>
              <a:r>
                <a:rPr lang="en-US" sz="22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New evidence changes the plan.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7 specialized agents. One accountable case.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05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7739" y="2595562"/>
            <a:ext cx="2331110" cy="2248814"/>
          </a:xfrm>
          <a:custGeom>
            <a:avLst/>
            <a:gdLst/>
            <a:ahLst/>
            <a:cxnLst/>
            <a:rect r="r" b="b" t="t" l="l"/>
            <a:pathLst>
              <a:path h="2248814" w="2331110">
                <a:moveTo>
                  <a:pt x="0" y="0"/>
                </a:moveTo>
                <a:lnTo>
                  <a:pt x="2331110" y="0"/>
                </a:lnTo>
                <a:lnTo>
                  <a:pt x="2331110" y="2248815"/>
                </a:lnTo>
                <a:lnTo>
                  <a:pt x="0" y="224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90245" y="2608078"/>
            <a:ext cx="2306098" cy="68675"/>
            <a:chOff x="0" y="0"/>
            <a:chExt cx="3074797" cy="915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74797" cy="91567"/>
            </a:xfrm>
            <a:custGeom>
              <a:avLst/>
              <a:gdLst/>
              <a:ahLst/>
              <a:cxnLst/>
              <a:rect r="r" b="b" t="t" l="l"/>
              <a:pathLst>
                <a:path h="91567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34179" y="2834307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43114" y="2828954"/>
            <a:ext cx="600351" cy="614639"/>
            <a:chOff x="0" y="0"/>
            <a:chExt cx="800468" cy="8195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72608" y="3530851"/>
            <a:ext cx="2141372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SAMVAAD</a:t>
            </a:r>
          </a:p>
          <a:p>
            <a:pPr algn="ctr">
              <a:lnSpc>
                <a:spcPts val="1368"/>
              </a:lnSpc>
            </a:pPr>
            <a:r>
              <a:rPr lang="en-US" sz="120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Intake &amp; extraction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048543" y="2595562"/>
            <a:ext cx="2331110" cy="2248814"/>
          </a:xfrm>
          <a:custGeom>
            <a:avLst/>
            <a:gdLst/>
            <a:ahLst/>
            <a:cxnLst/>
            <a:rect r="r" b="b" t="t" l="l"/>
            <a:pathLst>
              <a:path h="2248814" w="2331110">
                <a:moveTo>
                  <a:pt x="0" y="0"/>
                </a:moveTo>
                <a:lnTo>
                  <a:pt x="2331110" y="0"/>
                </a:lnTo>
                <a:lnTo>
                  <a:pt x="2331110" y="2248815"/>
                </a:lnTo>
                <a:lnTo>
                  <a:pt x="0" y="224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061059" y="2608078"/>
            <a:ext cx="2306098" cy="68675"/>
            <a:chOff x="0" y="0"/>
            <a:chExt cx="3074797" cy="915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74797" cy="91567"/>
            </a:xfrm>
            <a:custGeom>
              <a:avLst/>
              <a:gdLst/>
              <a:ahLst/>
              <a:cxnLst/>
              <a:rect r="r" b="b" t="t" l="l"/>
              <a:pathLst>
                <a:path h="91567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B8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3904993" y="2834307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29" y="0"/>
                </a:lnTo>
                <a:lnTo>
                  <a:pt x="618229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913927" y="2828954"/>
            <a:ext cx="600351" cy="614639"/>
            <a:chOff x="0" y="0"/>
            <a:chExt cx="800468" cy="8195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143421" y="3530851"/>
            <a:ext cx="2141372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KHOJ</a:t>
            </a:r>
          </a:p>
          <a:p>
            <a:pPr algn="ctr">
              <a:lnSpc>
                <a:spcPts val="1368"/>
              </a:lnSpc>
            </a:pPr>
            <a:r>
              <a:rPr lang="en-US" sz="120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Evidence investigation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5519356" y="2595562"/>
            <a:ext cx="2331110" cy="2248814"/>
          </a:xfrm>
          <a:custGeom>
            <a:avLst/>
            <a:gdLst/>
            <a:ahLst/>
            <a:cxnLst/>
            <a:rect r="r" b="b" t="t" l="l"/>
            <a:pathLst>
              <a:path h="2248814" w="2331110">
                <a:moveTo>
                  <a:pt x="0" y="0"/>
                </a:moveTo>
                <a:lnTo>
                  <a:pt x="2331111" y="0"/>
                </a:lnTo>
                <a:lnTo>
                  <a:pt x="2331111" y="2248815"/>
                </a:lnTo>
                <a:lnTo>
                  <a:pt x="0" y="224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5531872" y="2608078"/>
            <a:ext cx="2306098" cy="68675"/>
            <a:chOff x="0" y="0"/>
            <a:chExt cx="3074797" cy="915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74797" cy="91567"/>
            </a:xfrm>
            <a:custGeom>
              <a:avLst/>
              <a:gdLst/>
              <a:ahLst/>
              <a:cxnLst/>
              <a:rect r="r" b="b" t="t" l="l"/>
              <a:pathLst>
                <a:path h="91567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6375806" y="2834307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6384741" y="2828954"/>
            <a:ext cx="600351" cy="614639"/>
            <a:chOff x="0" y="0"/>
            <a:chExt cx="800468" cy="8195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614225" y="3530851"/>
            <a:ext cx="2141372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NIDAAN</a:t>
            </a:r>
          </a:p>
          <a:p>
            <a:pPr algn="ctr">
              <a:lnSpc>
                <a:spcPts val="1368"/>
              </a:lnSpc>
            </a:pPr>
            <a:r>
              <a:rPr lang="en-US" sz="120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Root-cause diagnosis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7990170" y="2595562"/>
            <a:ext cx="2331110" cy="2248814"/>
          </a:xfrm>
          <a:custGeom>
            <a:avLst/>
            <a:gdLst/>
            <a:ahLst/>
            <a:cxnLst/>
            <a:rect r="r" b="b" t="t" l="l"/>
            <a:pathLst>
              <a:path h="2248814" w="2331110">
                <a:moveTo>
                  <a:pt x="0" y="0"/>
                </a:moveTo>
                <a:lnTo>
                  <a:pt x="2331110" y="0"/>
                </a:lnTo>
                <a:lnTo>
                  <a:pt x="2331110" y="2248815"/>
                </a:lnTo>
                <a:lnTo>
                  <a:pt x="0" y="224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8002676" y="2608078"/>
            <a:ext cx="2306098" cy="68675"/>
            <a:chOff x="0" y="0"/>
            <a:chExt cx="3074797" cy="915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74797" cy="91567"/>
            </a:xfrm>
            <a:custGeom>
              <a:avLst/>
              <a:gdLst/>
              <a:ahLst/>
              <a:cxnLst/>
              <a:rect r="r" b="b" t="t" l="l"/>
              <a:pathLst>
                <a:path h="91567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B86B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8846610" y="2834307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8855545" y="2828954"/>
            <a:ext cx="600351" cy="614639"/>
            <a:chOff x="0" y="0"/>
            <a:chExt cx="800468" cy="81951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8085039" y="3530851"/>
            <a:ext cx="2141372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YOJNA</a:t>
            </a:r>
          </a:p>
          <a:p>
            <a:pPr algn="ctr">
              <a:lnSpc>
                <a:spcPts val="1368"/>
              </a:lnSpc>
            </a:pPr>
            <a:r>
              <a:rPr lang="en-US" sz="120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Action planning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0460974" y="2595562"/>
            <a:ext cx="2331110" cy="2248814"/>
          </a:xfrm>
          <a:custGeom>
            <a:avLst/>
            <a:gdLst/>
            <a:ahLst/>
            <a:cxnLst/>
            <a:rect r="r" b="b" t="t" l="l"/>
            <a:pathLst>
              <a:path h="2248814" w="2331110">
                <a:moveTo>
                  <a:pt x="0" y="0"/>
                </a:moveTo>
                <a:lnTo>
                  <a:pt x="2331111" y="0"/>
                </a:lnTo>
                <a:lnTo>
                  <a:pt x="2331111" y="2248815"/>
                </a:lnTo>
                <a:lnTo>
                  <a:pt x="0" y="224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0473490" y="2608078"/>
            <a:ext cx="2306098" cy="68675"/>
            <a:chOff x="0" y="0"/>
            <a:chExt cx="3074797" cy="9156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74797" cy="91567"/>
            </a:xfrm>
            <a:custGeom>
              <a:avLst/>
              <a:gdLst/>
              <a:ahLst/>
              <a:cxnLst/>
              <a:rect r="r" b="b" t="t" l="l"/>
              <a:pathLst>
                <a:path h="91567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1317424" y="2834307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1326358" y="2828954"/>
            <a:ext cx="600351" cy="614639"/>
            <a:chOff x="0" y="0"/>
            <a:chExt cx="800468" cy="81951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555853" y="3530851"/>
            <a:ext cx="2141372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KARM</a:t>
            </a:r>
          </a:p>
          <a:p>
            <a:pPr algn="ctr">
              <a:lnSpc>
                <a:spcPts val="1368"/>
              </a:lnSpc>
            </a:pPr>
            <a:r>
              <a:rPr lang="en-US" sz="120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Document / action generation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2931788" y="2595562"/>
            <a:ext cx="2331110" cy="2248814"/>
          </a:xfrm>
          <a:custGeom>
            <a:avLst/>
            <a:gdLst/>
            <a:ahLst/>
            <a:cxnLst/>
            <a:rect r="r" b="b" t="t" l="l"/>
            <a:pathLst>
              <a:path h="2248814" w="2331110">
                <a:moveTo>
                  <a:pt x="0" y="0"/>
                </a:moveTo>
                <a:lnTo>
                  <a:pt x="2331110" y="0"/>
                </a:lnTo>
                <a:lnTo>
                  <a:pt x="2331110" y="2248815"/>
                </a:lnTo>
                <a:lnTo>
                  <a:pt x="0" y="224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2944304" y="2608078"/>
            <a:ext cx="2306098" cy="68675"/>
            <a:chOff x="0" y="0"/>
            <a:chExt cx="3074797" cy="915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74797" cy="91567"/>
            </a:xfrm>
            <a:custGeom>
              <a:avLst/>
              <a:gdLst/>
              <a:ahLst/>
              <a:cxnLst/>
              <a:rect r="r" b="b" t="t" l="l"/>
              <a:pathLst>
                <a:path h="91567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B86B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3788228" y="2834307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30" y="0"/>
                </a:lnTo>
                <a:lnTo>
                  <a:pt x="618230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3797163" y="2828954"/>
            <a:ext cx="600351" cy="614639"/>
            <a:chOff x="0" y="0"/>
            <a:chExt cx="800468" cy="81951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3026657" y="3530851"/>
            <a:ext cx="2141372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SATYAPAN</a:t>
            </a:r>
          </a:p>
          <a:p>
            <a:pPr algn="ctr">
              <a:lnSpc>
                <a:spcPts val="1368"/>
              </a:lnSpc>
            </a:pPr>
            <a:r>
              <a:rPr lang="en-US" sz="120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Evidence verification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5402601" y="2595562"/>
            <a:ext cx="2331110" cy="2248814"/>
          </a:xfrm>
          <a:custGeom>
            <a:avLst/>
            <a:gdLst/>
            <a:ahLst/>
            <a:cxnLst/>
            <a:rect r="r" b="b" t="t" l="l"/>
            <a:pathLst>
              <a:path h="2248814" w="2331110">
                <a:moveTo>
                  <a:pt x="0" y="0"/>
                </a:moveTo>
                <a:lnTo>
                  <a:pt x="2331111" y="0"/>
                </a:lnTo>
                <a:lnTo>
                  <a:pt x="2331111" y="2248815"/>
                </a:lnTo>
                <a:lnTo>
                  <a:pt x="0" y="224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5415108" y="2608078"/>
            <a:ext cx="2306098" cy="68675"/>
            <a:chOff x="0" y="0"/>
            <a:chExt cx="3074797" cy="9156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74797" cy="91567"/>
            </a:xfrm>
            <a:custGeom>
              <a:avLst/>
              <a:gdLst/>
              <a:ahLst/>
              <a:cxnLst/>
              <a:rect r="r" b="b" t="t" l="l"/>
              <a:pathLst>
                <a:path h="91567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16259042" y="2834307"/>
            <a:ext cx="618230" cy="618230"/>
          </a:xfrm>
          <a:custGeom>
            <a:avLst/>
            <a:gdLst/>
            <a:ahLst/>
            <a:cxnLst/>
            <a:rect r="r" b="b" t="t" l="l"/>
            <a:pathLst>
              <a:path h="618230" w="618230">
                <a:moveTo>
                  <a:pt x="0" y="0"/>
                </a:moveTo>
                <a:lnTo>
                  <a:pt x="618229" y="0"/>
                </a:lnTo>
                <a:lnTo>
                  <a:pt x="618229" y="618229"/>
                </a:lnTo>
                <a:lnTo>
                  <a:pt x="0" y="618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6267976" y="2828954"/>
            <a:ext cx="600351" cy="614639"/>
            <a:chOff x="0" y="0"/>
            <a:chExt cx="800468" cy="81951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00468" cy="819518"/>
            </a:xfrm>
            <a:custGeom>
              <a:avLst/>
              <a:gdLst/>
              <a:ahLst/>
              <a:cxnLst/>
              <a:rect r="r" b="b" t="t" l="l"/>
              <a:pathLst>
                <a:path h="819518" w="800468">
                  <a:moveTo>
                    <a:pt x="0" y="0"/>
                  </a:moveTo>
                  <a:lnTo>
                    <a:pt x="800468" y="0"/>
                  </a:lnTo>
                  <a:lnTo>
                    <a:pt x="800468" y="819518"/>
                  </a:lnTo>
                  <a:lnTo>
                    <a:pt x="0" y="8195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1357" t="0" r="-81357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800468" cy="83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5497470" y="3530851"/>
            <a:ext cx="2141372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ANUSARAN</a:t>
            </a:r>
          </a:p>
          <a:p>
            <a:pPr algn="ctr">
              <a:lnSpc>
                <a:spcPts val="1368"/>
              </a:lnSpc>
            </a:pPr>
            <a:r>
              <a:rPr lang="en-US" sz="120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Follow-up &amp; escalation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577739" y="5011464"/>
            <a:ext cx="17142295" cy="711384"/>
          </a:xfrm>
          <a:custGeom>
            <a:avLst/>
            <a:gdLst/>
            <a:ahLst/>
            <a:cxnLst/>
            <a:rect r="r" b="b" t="t" l="l"/>
            <a:pathLst>
              <a:path h="711384" w="17142295">
                <a:moveTo>
                  <a:pt x="0" y="0"/>
                </a:moveTo>
                <a:lnTo>
                  <a:pt x="17142295" y="0"/>
                </a:lnTo>
                <a:lnTo>
                  <a:pt x="17142295" y="711385"/>
                </a:lnTo>
                <a:lnTo>
                  <a:pt x="0" y="711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960872" y="5023980"/>
            <a:ext cx="16472068" cy="686333"/>
            <a:chOff x="0" y="0"/>
            <a:chExt cx="21962758" cy="9151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62745" cy="915162"/>
            </a:xfrm>
            <a:custGeom>
              <a:avLst/>
              <a:gdLst/>
              <a:ahLst/>
              <a:cxnLst/>
              <a:rect r="r" b="b" t="t" l="l"/>
              <a:pathLst>
                <a:path h="915162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7293" r="0" b="-417289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0872" y="5009693"/>
            <a:ext cx="16472068" cy="700621"/>
            <a:chOff x="0" y="0"/>
            <a:chExt cx="21962758" cy="93416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62757" cy="934161"/>
            </a:xfrm>
            <a:custGeom>
              <a:avLst/>
              <a:gdLst/>
              <a:ahLst/>
              <a:cxnLst/>
              <a:rect r="r" b="b" t="t" l="l"/>
              <a:pathLst>
                <a:path h="934161" w="21962757">
                  <a:moveTo>
                    <a:pt x="0" y="0"/>
                  </a:moveTo>
                  <a:lnTo>
                    <a:pt x="21962757" y="0"/>
                  </a:lnTo>
                  <a:lnTo>
                    <a:pt x="21962757" y="934161"/>
                  </a:lnTo>
                  <a:lnTo>
                    <a:pt x="0" y="9341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8106" r="0" b="-40810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21962758" cy="953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5"/>
                </a:lnSpc>
              </a:pPr>
              <a:r>
                <a:rPr lang="en-US" sz="1575" b="true">
                  <a:solidFill>
                    <a:srgbClr val="2EC27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NYAYA  </a:t>
              </a:r>
              <a:r>
                <a:rPr lang="en-US" sz="1575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 policy, rules &amp; guardrails · deterministic source of truth · the LLM never invents government rules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590245" y="6070292"/>
            <a:ext cx="823603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CASE PIPELINE</a:t>
            </a:r>
          </a:p>
        </p:txBody>
      </p:sp>
      <p:sp>
        <p:nvSpPr>
          <p:cNvPr name="Freeform 78" id="78"/>
          <p:cNvSpPr/>
          <p:nvPr/>
        </p:nvSpPr>
        <p:spPr>
          <a:xfrm flipH="false" flipV="false" rot="0">
            <a:off x="577739" y="6576317"/>
            <a:ext cx="2866511" cy="1123245"/>
          </a:xfrm>
          <a:custGeom>
            <a:avLst/>
            <a:gdLst/>
            <a:ahLst/>
            <a:cxnLst/>
            <a:rect r="r" b="b" t="t" l="l"/>
            <a:pathLst>
              <a:path h="1123245" w="2866511">
                <a:moveTo>
                  <a:pt x="0" y="0"/>
                </a:moveTo>
                <a:lnTo>
                  <a:pt x="2866511" y="0"/>
                </a:lnTo>
                <a:lnTo>
                  <a:pt x="2866511" y="1123245"/>
                </a:lnTo>
                <a:lnTo>
                  <a:pt x="0" y="11232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583101" y="6567392"/>
            <a:ext cx="2855728" cy="1126722"/>
            <a:chOff x="0" y="0"/>
            <a:chExt cx="3807638" cy="15022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807637" cy="1502295"/>
            </a:xfrm>
            <a:custGeom>
              <a:avLst/>
              <a:gdLst/>
              <a:ahLst/>
              <a:cxnLst/>
              <a:rect r="r" b="b" t="t" l="l"/>
              <a:pathLst>
                <a:path h="1502295" w="3807637">
                  <a:moveTo>
                    <a:pt x="0" y="0"/>
                  </a:moveTo>
                  <a:lnTo>
                    <a:pt x="3807637" y="0"/>
                  </a:lnTo>
                  <a:lnTo>
                    <a:pt x="3807637" y="1502295"/>
                  </a:lnTo>
                  <a:lnTo>
                    <a:pt x="0" y="150229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21" t="0" r="-621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3807638" cy="1521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3281905" y="6576317"/>
            <a:ext cx="2866511" cy="1123245"/>
          </a:xfrm>
          <a:custGeom>
            <a:avLst/>
            <a:gdLst/>
            <a:ahLst/>
            <a:cxnLst/>
            <a:rect r="r" b="b" t="t" l="l"/>
            <a:pathLst>
              <a:path h="1123245" w="2866511">
                <a:moveTo>
                  <a:pt x="0" y="0"/>
                </a:moveTo>
                <a:lnTo>
                  <a:pt x="2866511" y="0"/>
                </a:lnTo>
                <a:lnTo>
                  <a:pt x="2866511" y="1123245"/>
                </a:lnTo>
                <a:lnTo>
                  <a:pt x="0" y="11232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3287268" y="6567392"/>
            <a:ext cx="2855728" cy="1126722"/>
            <a:chOff x="0" y="0"/>
            <a:chExt cx="3807638" cy="15022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807637" cy="1502295"/>
            </a:xfrm>
            <a:custGeom>
              <a:avLst/>
              <a:gdLst/>
              <a:ahLst/>
              <a:cxnLst/>
              <a:rect r="r" b="b" t="t" l="l"/>
              <a:pathLst>
                <a:path h="1502295" w="3807637">
                  <a:moveTo>
                    <a:pt x="0" y="0"/>
                  </a:moveTo>
                  <a:lnTo>
                    <a:pt x="3807637" y="0"/>
                  </a:lnTo>
                  <a:lnTo>
                    <a:pt x="3807637" y="1502295"/>
                  </a:lnTo>
                  <a:lnTo>
                    <a:pt x="0" y="150229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21" t="0" r="-62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3807638" cy="1521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Orchestrator</a:t>
              </a: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5986062" y="6576317"/>
            <a:ext cx="2866511" cy="1123245"/>
          </a:xfrm>
          <a:custGeom>
            <a:avLst/>
            <a:gdLst/>
            <a:ahLst/>
            <a:cxnLst/>
            <a:rect r="r" b="b" t="t" l="l"/>
            <a:pathLst>
              <a:path h="1123245" w="2866511">
                <a:moveTo>
                  <a:pt x="0" y="0"/>
                </a:moveTo>
                <a:lnTo>
                  <a:pt x="2866511" y="0"/>
                </a:lnTo>
                <a:lnTo>
                  <a:pt x="2866511" y="1123245"/>
                </a:lnTo>
                <a:lnTo>
                  <a:pt x="0" y="11232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5991425" y="6567392"/>
            <a:ext cx="2855728" cy="1126722"/>
            <a:chOff x="0" y="0"/>
            <a:chExt cx="3807638" cy="150229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07637" cy="1502295"/>
            </a:xfrm>
            <a:custGeom>
              <a:avLst/>
              <a:gdLst/>
              <a:ahLst/>
              <a:cxnLst/>
              <a:rect r="r" b="b" t="t" l="l"/>
              <a:pathLst>
                <a:path h="1502295" w="3807637">
                  <a:moveTo>
                    <a:pt x="0" y="0"/>
                  </a:moveTo>
                  <a:lnTo>
                    <a:pt x="3807637" y="0"/>
                  </a:lnTo>
                  <a:lnTo>
                    <a:pt x="3807637" y="1502295"/>
                  </a:lnTo>
                  <a:lnTo>
                    <a:pt x="0" y="150229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21" t="0" r="-62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3807638" cy="1521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Specialized Agents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8690229" y="6576317"/>
            <a:ext cx="2866511" cy="1123245"/>
          </a:xfrm>
          <a:custGeom>
            <a:avLst/>
            <a:gdLst/>
            <a:ahLst/>
            <a:cxnLst/>
            <a:rect r="r" b="b" t="t" l="l"/>
            <a:pathLst>
              <a:path h="1123245" w="2866511">
                <a:moveTo>
                  <a:pt x="0" y="0"/>
                </a:moveTo>
                <a:lnTo>
                  <a:pt x="2866511" y="0"/>
                </a:lnTo>
                <a:lnTo>
                  <a:pt x="2866511" y="1123245"/>
                </a:lnTo>
                <a:lnTo>
                  <a:pt x="0" y="11232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8695592" y="6567392"/>
            <a:ext cx="2855728" cy="1126722"/>
            <a:chOff x="0" y="0"/>
            <a:chExt cx="3807638" cy="15022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807637" cy="1502295"/>
            </a:xfrm>
            <a:custGeom>
              <a:avLst/>
              <a:gdLst/>
              <a:ahLst/>
              <a:cxnLst/>
              <a:rect r="r" b="b" t="t" l="l"/>
              <a:pathLst>
                <a:path h="1502295" w="3807637">
                  <a:moveTo>
                    <a:pt x="0" y="0"/>
                  </a:moveTo>
                  <a:lnTo>
                    <a:pt x="3807637" y="0"/>
                  </a:lnTo>
                  <a:lnTo>
                    <a:pt x="3807637" y="1502295"/>
                  </a:lnTo>
                  <a:lnTo>
                    <a:pt x="0" y="150229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21" t="0" r="-621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3807638" cy="1521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Tools / Evidence Sources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11394396" y="6576317"/>
            <a:ext cx="2866511" cy="1123245"/>
          </a:xfrm>
          <a:custGeom>
            <a:avLst/>
            <a:gdLst/>
            <a:ahLst/>
            <a:cxnLst/>
            <a:rect r="r" b="b" t="t" l="l"/>
            <a:pathLst>
              <a:path h="1123245" w="2866511">
                <a:moveTo>
                  <a:pt x="0" y="0"/>
                </a:moveTo>
                <a:lnTo>
                  <a:pt x="2866510" y="0"/>
                </a:lnTo>
                <a:lnTo>
                  <a:pt x="2866510" y="1123245"/>
                </a:lnTo>
                <a:lnTo>
                  <a:pt x="0" y="11232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1399758" y="6567392"/>
            <a:ext cx="2855728" cy="1126722"/>
            <a:chOff x="0" y="0"/>
            <a:chExt cx="3807638" cy="150229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807637" cy="1502295"/>
            </a:xfrm>
            <a:custGeom>
              <a:avLst/>
              <a:gdLst/>
              <a:ahLst/>
              <a:cxnLst/>
              <a:rect r="r" b="b" t="t" l="l"/>
              <a:pathLst>
                <a:path h="1502295" w="3807637">
                  <a:moveTo>
                    <a:pt x="0" y="0"/>
                  </a:moveTo>
                  <a:lnTo>
                    <a:pt x="3807637" y="0"/>
                  </a:lnTo>
                  <a:lnTo>
                    <a:pt x="3807637" y="1502295"/>
                  </a:lnTo>
                  <a:lnTo>
                    <a:pt x="0" y="150229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21" t="0" r="-621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3807638" cy="1521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Case State</a:t>
              </a: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14098562" y="6576317"/>
            <a:ext cx="2866511" cy="1123245"/>
          </a:xfrm>
          <a:custGeom>
            <a:avLst/>
            <a:gdLst/>
            <a:ahLst/>
            <a:cxnLst/>
            <a:rect r="r" b="b" t="t" l="l"/>
            <a:pathLst>
              <a:path h="1123245" w="2866511">
                <a:moveTo>
                  <a:pt x="0" y="0"/>
                </a:moveTo>
                <a:lnTo>
                  <a:pt x="2866511" y="0"/>
                </a:lnTo>
                <a:lnTo>
                  <a:pt x="2866511" y="1123245"/>
                </a:lnTo>
                <a:lnTo>
                  <a:pt x="0" y="11232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4103925" y="6567392"/>
            <a:ext cx="2855728" cy="1126722"/>
            <a:chOff x="0" y="0"/>
            <a:chExt cx="3807638" cy="150229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07637" cy="1502295"/>
            </a:xfrm>
            <a:custGeom>
              <a:avLst/>
              <a:gdLst/>
              <a:ahLst/>
              <a:cxnLst/>
              <a:rect r="r" b="b" t="t" l="l"/>
              <a:pathLst>
                <a:path h="1502295" w="3807637">
                  <a:moveTo>
                    <a:pt x="0" y="0"/>
                  </a:moveTo>
                  <a:lnTo>
                    <a:pt x="3807637" y="0"/>
                  </a:lnTo>
                  <a:lnTo>
                    <a:pt x="3807637" y="1502295"/>
                  </a:lnTo>
                  <a:lnTo>
                    <a:pt x="0" y="150229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21" t="0" r="-621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3807638" cy="1521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 Action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590245" y="7992037"/>
            <a:ext cx="17021137" cy="5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57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The orchestrator maintains state and routes the case between agents — every step is recorded as structured case events.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90245" y="8659320"/>
            <a:ext cx="17021137" cy="7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sz="1725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Agents exchange structured state — not chat turns. </a:t>
            </a:r>
            <a:r>
              <a:rPr lang="en-US" sz="1725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One case file, one owner, one closing condition: payment verified.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GOLDEN DEMO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One case. Two plans. One changing reality.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06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3827" y="2526935"/>
            <a:ext cx="5378444" cy="6201975"/>
          </a:xfrm>
          <a:custGeom>
            <a:avLst/>
            <a:gdLst/>
            <a:ahLst/>
            <a:cxnLst/>
            <a:rect r="r" b="b" t="t" l="l"/>
            <a:pathLst>
              <a:path h="6201975" w="5378444">
                <a:moveTo>
                  <a:pt x="0" y="0"/>
                </a:moveTo>
                <a:lnTo>
                  <a:pt x="5378444" y="0"/>
                </a:lnTo>
                <a:lnTo>
                  <a:pt x="5378444" y="6201975"/>
                </a:lnTo>
                <a:lnTo>
                  <a:pt x="0" y="6201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0872" y="2701919"/>
            <a:ext cx="4804353" cy="7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9"/>
              </a:lnSpc>
            </a:pPr>
            <a:r>
              <a:rPr lang="en-US" sz="1800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SHANTABAI PAWAR</a:t>
            </a:r>
          </a:p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67 · Nashik · Pension stopped 3 months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872" y="3196085"/>
            <a:ext cx="2745343" cy="40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27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EVIDENCE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8324" y="3761118"/>
            <a:ext cx="123634" cy="123634"/>
            <a:chOff x="0" y="0"/>
            <a:chExt cx="164846" cy="164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62853" y="3599478"/>
            <a:ext cx="178447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Scheme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19882" y="3599478"/>
            <a:ext cx="274534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Released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8324" y="4255284"/>
            <a:ext cx="123634" cy="123634"/>
            <a:chOff x="0" y="0"/>
            <a:chExt cx="164846" cy="1648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2853" y="4093645"/>
            <a:ext cx="178447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PFMS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19882" y="4093645"/>
            <a:ext cx="274534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Processed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8324" y="4749451"/>
            <a:ext cx="123634" cy="123634"/>
            <a:chOff x="0" y="0"/>
            <a:chExt cx="164846" cy="16484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F05A4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62853" y="4587802"/>
            <a:ext cx="178447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APBS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19882" y="4587802"/>
            <a:ext cx="274534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F05A47"/>
                </a:solidFill>
                <a:latin typeface="Arial Bold"/>
                <a:ea typeface="Arial Bold"/>
                <a:cs typeface="Arial Bold"/>
                <a:sym typeface="Arial Bold"/>
              </a:rPr>
              <a:t>Returned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8324" y="5243608"/>
            <a:ext cx="123634" cy="123634"/>
            <a:chOff x="0" y="0"/>
            <a:chExt cx="164846" cy="1648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F05A4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62853" y="5081968"/>
            <a:ext cx="178447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NPCI Mapper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19882" y="5081968"/>
            <a:ext cx="274534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F05A47"/>
                </a:solidFill>
                <a:latin typeface="Arial Bold"/>
                <a:ea typeface="Arial Bold"/>
                <a:cs typeface="Arial Bold"/>
                <a:sym typeface="Arial Bold"/>
              </a:rPr>
              <a:t>Inactive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8324" y="5737765"/>
            <a:ext cx="123634" cy="123634"/>
            <a:chOff x="0" y="0"/>
            <a:chExt cx="164846" cy="1648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F05A4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62853" y="5576125"/>
            <a:ext cx="178447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Bank CBS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19882" y="5576125"/>
            <a:ext cx="274534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F05A47"/>
                </a:solidFill>
                <a:latin typeface="Arial Bold"/>
                <a:ea typeface="Arial Bold"/>
                <a:cs typeface="Arial Bold"/>
                <a:sym typeface="Arial Bold"/>
              </a:rPr>
              <a:t>Account closed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88324" y="6231931"/>
            <a:ext cx="123634" cy="123634"/>
            <a:chOff x="0" y="0"/>
            <a:chExt cx="164846" cy="16484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F05A4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62853" y="6070292"/>
            <a:ext cx="178447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19882" y="6070292"/>
            <a:ext cx="274534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F05A47"/>
                </a:solidFill>
                <a:latin typeface="Arial Bold"/>
                <a:ea typeface="Arial Bold"/>
                <a:cs typeface="Arial Bold"/>
                <a:sym typeface="Arial Bold"/>
              </a:rPr>
              <a:t>Mismatch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879729" y="6782219"/>
            <a:ext cx="4966678" cy="1699698"/>
          </a:xfrm>
          <a:custGeom>
            <a:avLst/>
            <a:gdLst/>
            <a:ahLst/>
            <a:cxnLst/>
            <a:rect r="r" b="b" t="t" l="l"/>
            <a:pathLst>
              <a:path h="1699698" w="4966678">
                <a:moveTo>
                  <a:pt x="0" y="0"/>
                </a:moveTo>
                <a:lnTo>
                  <a:pt x="4966678" y="0"/>
                </a:lnTo>
                <a:lnTo>
                  <a:pt x="4966678" y="1699698"/>
                </a:lnTo>
                <a:lnTo>
                  <a:pt x="0" y="169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125588" y="6874850"/>
            <a:ext cx="2745343" cy="40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27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HAQ DIAGNOSIS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08910" y="7299655"/>
            <a:ext cx="4508287" cy="554936"/>
          </a:xfrm>
          <a:custGeom>
            <a:avLst/>
            <a:gdLst/>
            <a:ahLst/>
            <a:cxnLst/>
            <a:rect r="r" b="b" t="t" l="l"/>
            <a:pathLst>
              <a:path h="554936" w="4508287">
                <a:moveTo>
                  <a:pt x="0" y="0"/>
                </a:moveTo>
                <a:lnTo>
                  <a:pt x="4508287" y="0"/>
                </a:lnTo>
                <a:lnTo>
                  <a:pt x="4508287" y="554936"/>
                </a:lnTo>
                <a:lnTo>
                  <a:pt x="0" y="55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116063" y="7292521"/>
            <a:ext cx="4493981" cy="554965"/>
            <a:chOff x="0" y="0"/>
            <a:chExt cx="5991974" cy="7399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991975" cy="739953"/>
            </a:xfrm>
            <a:custGeom>
              <a:avLst/>
              <a:gdLst/>
              <a:ahLst/>
              <a:cxnLst/>
              <a:rect r="r" b="b" t="t" l="l"/>
              <a:pathLst>
                <a:path h="739953" w="5991975">
                  <a:moveTo>
                    <a:pt x="0" y="0"/>
                  </a:moveTo>
                  <a:lnTo>
                    <a:pt x="5991975" y="0"/>
                  </a:lnTo>
                  <a:lnTo>
                    <a:pt x="5991975" y="739953"/>
                  </a:lnTo>
                  <a:lnTo>
                    <a:pt x="0" y="7399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7785" r="0" b="-10778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991974" cy="759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0"/>
                </a:lnSpc>
              </a:pPr>
              <a:r>
                <a:rPr lang="en-US" sz="1425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CLOSED_MAPPED_ACCOUNT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08910" y="7931086"/>
            <a:ext cx="4508287" cy="445208"/>
            <a:chOff x="0" y="0"/>
            <a:chExt cx="6011050" cy="5936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11037" cy="593598"/>
            </a:xfrm>
            <a:custGeom>
              <a:avLst/>
              <a:gdLst/>
              <a:ahLst/>
              <a:cxnLst/>
              <a:rect r="r" b="b" t="t" l="l"/>
              <a:pathLst>
                <a:path h="593598" w="6011037">
                  <a:moveTo>
                    <a:pt x="0" y="296799"/>
                  </a:moveTo>
                  <a:cubicBezTo>
                    <a:pt x="0" y="132969"/>
                    <a:pt x="129032" y="0"/>
                    <a:pt x="288163" y="0"/>
                  </a:cubicBezTo>
                  <a:lnTo>
                    <a:pt x="5722874" y="0"/>
                  </a:lnTo>
                  <a:cubicBezTo>
                    <a:pt x="5882005" y="0"/>
                    <a:pt x="6011037" y="132969"/>
                    <a:pt x="6011037" y="296799"/>
                  </a:cubicBezTo>
                  <a:cubicBezTo>
                    <a:pt x="6011037" y="460629"/>
                    <a:pt x="5882005" y="593598"/>
                    <a:pt x="5722874" y="593598"/>
                  </a:cubicBezTo>
                  <a:lnTo>
                    <a:pt x="288163" y="593598"/>
                  </a:lnTo>
                  <a:cubicBezTo>
                    <a:pt x="129032" y="593598"/>
                    <a:pt x="0" y="460756"/>
                    <a:pt x="0" y="296799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7175" r="0" b="-147177"/>
              </a:stretch>
            </a:blipFill>
            <a:ln w="19065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16063" y="7923952"/>
            <a:ext cx="4493981" cy="445151"/>
            <a:chOff x="0" y="0"/>
            <a:chExt cx="5991974" cy="59353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91975" cy="593534"/>
            </a:xfrm>
            <a:custGeom>
              <a:avLst/>
              <a:gdLst/>
              <a:ahLst/>
              <a:cxnLst/>
              <a:rect r="r" b="b" t="t" l="l"/>
              <a:pathLst>
                <a:path h="593534" w="5991975">
                  <a:moveTo>
                    <a:pt x="0" y="0"/>
                  </a:moveTo>
                  <a:lnTo>
                    <a:pt x="5991975" y="0"/>
                  </a:lnTo>
                  <a:lnTo>
                    <a:pt x="5991975" y="593534"/>
                  </a:lnTo>
                  <a:lnTo>
                    <a:pt x="0" y="59353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6709" r="0" b="-14670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991974" cy="612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8E9FB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secondary · NAME_MISMATCH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6233150" y="2526935"/>
            <a:ext cx="4898003" cy="6202070"/>
          </a:xfrm>
          <a:custGeom>
            <a:avLst/>
            <a:gdLst/>
            <a:ahLst/>
            <a:cxnLst/>
            <a:rect r="r" b="b" t="t" l="l"/>
            <a:pathLst>
              <a:path h="6202070" w="4898003">
                <a:moveTo>
                  <a:pt x="0" y="0"/>
                </a:moveTo>
                <a:lnTo>
                  <a:pt x="4898003" y="0"/>
                </a:lnTo>
                <a:lnTo>
                  <a:pt x="4898003" y="6202070"/>
                </a:lnTo>
                <a:lnTo>
                  <a:pt x="0" y="62020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6503508" y="2769841"/>
            <a:ext cx="1817856" cy="527504"/>
          </a:xfrm>
          <a:custGeom>
            <a:avLst/>
            <a:gdLst/>
            <a:ahLst/>
            <a:cxnLst/>
            <a:rect r="r" b="b" t="t" l="l"/>
            <a:pathLst>
              <a:path h="527504" w="1817856">
                <a:moveTo>
                  <a:pt x="0" y="0"/>
                </a:moveTo>
                <a:lnTo>
                  <a:pt x="1817856" y="0"/>
                </a:lnTo>
                <a:lnTo>
                  <a:pt x="1817856" y="527504"/>
                </a:lnTo>
                <a:lnTo>
                  <a:pt x="0" y="527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6510661" y="2769851"/>
            <a:ext cx="1803540" cy="520370"/>
            <a:chOff x="0" y="0"/>
            <a:chExt cx="2404720" cy="69382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04720" cy="693826"/>
            </a:xfrm>
            <a:custGeom>
              <a:avLst/>
              <a:gdLst/>
              <a:ahLst/>
              <a:cxnLst/>
              <a:rect r="r" b="b" t="t" l="l"/>
              <a:pathLst>
                <a:path h="693826" w="2404720">
                  <a:moveTo>
                    <a:pt x="0" y="0"/>
                  </a:moveTo>
                  <a:lnTo>
                    <a:pt x="2404720" y="0"/>
                  </a:lnTo>
                  <a:lnTo>
                    <a:pt x="2404720" y="693826"/>
                  </a:lnTo>
                  <a:lnTo>
                    <a:pt x="0" y="6938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532" r="0" b="-1753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2404720" cy="703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 v1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8469392" y="2811732"/>
            <a:ext cx="2402176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dependency-ordered steps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6572145" y="3552263"/>
            <a:ext cx="500072" cy="500072"/>
          </a:xfrm>
          <a:custGeom>
            <a:avLst/>
            <a:gdLst/>
            <a:ahLst/>
            <a:cxnLst/>
            <a:rect r="r" b="b" t="t" l="l"/>
            <a:pathLst>
              <a:path h="500072" w="500072">
                <a:moveTo>
                  <a:pt x="0" y="0"/>
                </a:moveTo>
                <a:lnTo>
                  <a:pt x="500072" y="0"/>
                </a:lnTo>
                <a:lnTo>
                  <a:pt x="500072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6579299" y="3545129"/>
            <a:ext cx="485775" cy="500062"/>
            <a:chOff x="0" y="0"/>
            <a:chExt cx="647700" cy="6667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7700" cy="666750"/>
            </a:xfrm>
            <a:custGeom>
              <a:avLst/>
              <a:gdLst/>
              <a:ahLst/>
              <a:cxnLst/>
              <a:rect r="r" b="b" t="t" l="l"/>
              <a:pathLst>
                <a:path h="6667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077" t="0" r="-8207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477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206529" y="3541490"/>
            <a:ext cx="3568951" cy="686333"/>
            <a:chOff x="0" y="0"/>
            <a:chExt cx="4758601" cy="9151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58563" cy="915162"/>
            </a:xfrm>
            <a:custGeom>
              <a:avLst/>
              <a:gdLst/>
              <a:ahLst/>
              <a:cxnLst/>
              <a:rect r="r" b="b" t="t" l="l"/>
              <a:pathLst>
                <a:path h="915162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248" r="0" b="-51243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206529" y="3534346"/>
            <a:ext cx="3568951" cy="693477"/>
            <a:chOff x="0" y="0"/>
            <a:chExt cx="4758601" cy="9246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58601" cy="924636"/>
            </a:xfrm>
            <a:custGeom>
              <a:avLst/>
              <a:gdLst/>
              <a:ahLst/>
              <a:cxnLst/>
              <a:rect r="r" b="b" t="t" l="l"/>
              <a:pathLst>
                <a:path h="924636" w="4758601">
                  <a:moveTo>
                    <a:pt x="0" y="0"/>
                  </a:moveTo>
                  <a:lnTo>
                    <a:pt x="4758601" y="0"/>
                  </a:lnTo>
                  <a:lnTo>
                    <a:pt x="4758601" y="924636"/>
                  </a:lnTo>
                  <a:lnTo>
                    <a:pt x="0" y="9246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0278" r="0" b="-5027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758601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50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Correct account / mapping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6572145" y="4403322"/>
            <a:ext cx="500072" cy="500072"/>
          </a:xfrm>
          <a:custGeom>
            <a:avLst/>
            <a:gdLst/>
            <a:ahLst/>
            <a:cxnLst/>
            <a:rect r="r" b="b" t="t" l="l"/>
            <a:pathLst>
              <a:path h="500072" w="500072">
                <a:moveTo>
                  <a:pt x="0" y="0"/>
                </a:moveTo>
                <a:lnTo>
                  <a:pt x="500072" y="0"/>
                </a:lnTo>
                <a:lnTo>
                  <a:pt x="500072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6579299" y="4396188"/>
            <a:ext cx="485775" cy="500062"/>
            <a:chOff x="0" y="0"/>
            <a:chExt cx="647700" cy="6667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7700" cy="666750"/>
            </a:xfrm>
            <a:custGeom>
              <a:avLst/>
              <a:gdLst/>
              <a:ahLst/>
              <a:cxnLst/>
              <a:rect r="r" b="b" t="t" l="l"/>
              <a:pathLst>
                <a:path h="6667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077" t="0" r="-8207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6477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206529" y="4392549"/>
            <a:ext cx="3568951" cy="686333"/>
            <a:chOff x="0" y="0"/>
            <a:chExt cx="4758601" cy="9151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58563" cy="915162"/>
            </a:xfrm>
            <a:custGeom>
              <a:avLst/>
              <a:gdLst/>
              <a:ahLst/>
              <a:cxnLst/>
              <a:rect r="r" b="b" t="t" l="l"/>
              <a:pathLst>
                <a:path h="915162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248" r="0" b="-51243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206529" y="4385405"/>
            <a:ext cx="3568951" cy="693477"/>
            <a:chOff x="0" y="0"/>
            <a:chExt cx="4758601" cy="9246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58601" cy="924636"/>
            </a:xfrm>
            <a:custGeom>
              <a:avLst/>
              <a:gdLst/>
              <a:ahLst/>
              <a:cxnLst/>
              <a:rect r="r" b="b" t="t" l="l"/>
              <a:pathLst>
                <a:path h="924636" w="4758601">
                  <a:moveTo>
                    <a:pt x="0" y="0"/>
                  </a:moveTo>
                  <a:lnTo>
                    <a:pt x="4758601" y="0"/>
                  </a:lnTo>
                  <a:lnTo>
                    <a:pt x="4758601" y="924636"/>
                  </a:lnTo>
                  <a:lnTo>
                    <a:pt x="0" y="9246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0278" r="0" b="-5027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4758601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50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Gather required documents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6572145" y="5254381"/>
            <a:ext cx="500072" cy="500072"/>
          </a:xfrm>
          <a:custGeom>
            <a:avLst/>
            <a:gdLst/>
            <a:ahLst/>
            <a:cxnLst/>
            <a:rect r="r" b="b" t="t" l="l"/>
            <a:pathLst>
              <a:path h="500072" w="500072">
                <a:moveTo>
                  <a:pt x="0" y="0"/>
                </a:moveTo>
                <a:lnTo>
                  <a:pt x="500072" y="0"/>
                </a:lnTo>
                <a:lnTo>
                  <a:pt x="500072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6579299" y="5247246"/>
            <a:ext cx="485775" cy="500062"/>
            <a:chOff x="0" y="0"/>
            <a:chExt cx="647700" cy="6667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47700" cy="666750"/>
            </a:xfrm>
            <a:custGeom>
              <a:avLst/>
              <a:gdLst/>
              <a:ahLst/>
              <a:cxnLst/>
              <a:rect r="r" b="b" t="t" l="l"/>
              <a:pathLst>
                <a:path h="6667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077" t="0" r="-82077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6477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206529" y="5243608"/>
            <a:ext cx="3568951" cy="686333"/>
            <a:chOff x="0" y="0"/>
            <a:chExt cx="4758601" cy="91511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58563" cy="915162"/>
            </a:xfrm>
            <a:custGeom>
              <a:avLst/>
              <a:gdLst/>
              <a:ahLst/>
              <a:cxnLst/>
              <a:rect r="r" b="b" t="t" l="l"/>
              <a:pathLst>
                <a:path h="915162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248" r="0" b="-51243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206529" y="5236464"/>
            <a:ext cx="3568951" cy="693477"/>
            <a:chOff x="0" y="0"/>
            <a:chExt cx="4758601" cy="9246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58601" cy="924636"/>
            </a:xfrm>
            <a:custGeom>
              <a:avLst/>
              <a:gdLst/>
              <a:ahLst/>
              <a:cxnLst/>
              <a:rect r="r" b="b" t="t" l="l"/>
              <a:pathLst>
                <a:path h="924636" w="4758601">
                  <a:moveTo>
                    <a:pt x="0" y="0"/>
                  </a:moveTo>
                  <a:lnTo>
                    <a:pt x="4758601" y="0"/>
                  </a:lnTo>
                  <a:lnTo>
                    <a:pt x="4758601" y="924636"/>
                  </a:lnTo>
                  <a:lnTo>
                    <a:pt x="0" y="9246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0278" r="0" b="-5027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4758601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50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Bank / NPCI actions</a:t>
              </a: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6572145" y="6105430"/>
            <a:ext cx="500072" cy="500072"/>
          </a:xfrm>
          <a:custGeom>
            <a:avLst/>
            <a:gdLst/>
            <a:ahLst/>
            <a:cxnLst/>
            <a:rect r="r" b="b" t="t" l="l"/>
            <a:pathLst>
              <a:path h="500072" w="500072">
                <a:moveTo>
                  <a:pt x="0" y="0"/>
                </a:moveTo>
                <a:lnTo>
                  <a:pt x="500072" y="0"/>
                </a:lnTo>
                <a:lnTo>
                  <a:pt x="500072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6579299" y="6098296"/>
            <a:ext cx="485775" cy="500062"/>
            <a:chOff x="0" y="0"/>
            <a:chExt cx="647700" cy="6667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47700" cy="666750"/>
            </a:xfrm>
            <a:custGeom>
              <a:avLst/>
              <a:gdLst/>
              <a:ahLst/>
              <a:cxnLst/>
              <a:rect r="r" b="b" t="t" l="l"/>
              <a:pathLst>
                <a:path h="6667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077" t="0" r="-82077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6477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206529" y="6094666"/>
            <a:ext cx="3568951" cy="686333"/>
            <a:chOff x="0" y="0"/>
            <a:chExt cx="4758601" cy="9151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758563" cy="915162"/>
            </a:xfrm>
            <a:custGeom>
              <a:avLst/>
              <a:gdLst/>
              <a:ahLst/>
              <a:cxnLst/>
              <a:rect r="r" b="b" t="t" l="l"/>
              <a:pathLst>
                <a:path h="915162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248" r="0" b="-51243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7206529" y="6087523"/>
            <a:ext cx="3568951" cy="693477"/>
            <a:chOff x="0" y="0"/>
            <a:chExt cx="4758601" cy="9246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58601" cy="924636"/>
            </a:xfrm>
            <a:custGeom>
              <a:avLst/>
              <a:gdLst/>
              <a:ahLst/>
              <a:cxnLst/>
              <a:rect r="r" b="b" t="t" l="l"/>
              <a:pathLst>
                <a:path h="924636" w="4758601">
                  <a:moveTo>
                    <a:pt x="0" y="0"/>
                  </a:moveTo>
                  <a:lnTo>
                    <a:pt x="4758601" y="0"/>
                  </a:lnTo>
                  <a:lnTo>
                    <a:pt x="4758601" y="924636"/>
                  </a:lnTo>
                  <a:lnTo>
                    <a:pt x="0" y="9246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0278" r="0" b="-5027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4758601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50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Follow-up &amp; verification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6507680" y="7125386"/>
            <a:ext cx="4348886" cy="1329080"/>
          </a:xfrm>
          <a:custGeom>
            <a:avLst/>
            <a:gdLst/>
            <a:ahLst/>
            <a:cxnLst/>
            <a:rect r="r" b="b" t="t" l="l"/>
            <a:pathLst>
              <a:path h="1329080" w="4348886">
                <a:moveTo>
                  <a:pt x="0" y="0"/>
                </a:moveTo>
                <a:lnTo>
                  <a:pt x="4348886" y="0"/>
                </a:lnTo>
                <a:lnTo>
                  <a:pt x="4348886" y="1329080"/>
                </a:lnTo>
                <a:lnTo>
                  <a:pt x="0" y="132908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6726098" y="7237066"/>
            <a:ext cx="3912118" cy="113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Documents generated against this plan — then new evidence arrives…</a:t>
            </a:r>
          </a:p>
        </p:txBody>
      </p:sp>
      <p:sp>
        <p:nvSpPr>
          <p:cNvPr name="Freeform 97" id="97"/>
          <p:cNvSpPr/>
          <p:nvPr/>
        </p:nvSpPr>
        <p:spPr>
          <a:xfrm flipH="false" flipV="false" rot="0">
            <a:off x="11312033" y="2526935"/>
            <a:ext cx="6270650" cy="6202070"/>
          </a:xfrm>
          <a:custGeom>
            <a:avLst/>
            <a:gdLst/>
            <a:ahLst/>
            <a:cxnLst/>
            <a:rect r="r" b="b" t="t" l="l"/>
            <a:pathLst>
              <a:path h="6202070" w="6270650">
                <a:moveTo>
                  <a:pt x="0" y="0"/>
                </a:moveTo>
                <a:lnTo>
                  <a:pt x="6270650" y="0"/>
                </a:lnTo>
                <a:lnTo>
                  <a:pt x="6270650" y="6202070"/>
                </a:lnTo>
                <a:lnTo>
                  <a:pt x="0" y="620207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11517935" y="2732837"/>
            <a:ext cx="5858885" cy="848639"/>
          </a:xfrm>
          <a:custGeom>
            <a:avLst/>
            <a:gdLst/>
            <a:ahLst/>
            <a:cxnLst/>
            <a:rect r="r" b="b" t="t" l="l"/>
            <a:pathLst>
              <a:path h="848639" w="5858885">
                <a:moveTo>
                  <a:pt x="0" y="0"/>
                </a:moveTo>
                <a:lnTo>
                  <a:pt x="5858884" y="0"/>
                </a:lnTo>
                <a:lnTo>
                  <a:pt x="5858884" y="848639"/>
                </a:lnTo>
                <a:lnTo>
                  <a:pt x="0" y="848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1736353" y="2745343"/>
            <a:ext cx="5422059" cy="823608"/>
            <a:chOff x="0" y="0"/>
            <a:chExt cx="7229412" cy="109814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229348" cy="1098169"/>
            </a:xfrm>
            <a:custGeom>
              <a:avLst/>
              <a:gdLst/>
              <a:ahLst/>
              <a:cxnLst/>
              <a:rect r="r" b="b" t="t" l="l"/>
              <a:pathLst>
                <a:path h="1098169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8185" r="0" b="-78182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736353" y="2731056"/>
            <a:ext cx="5422059" cy="837895"/>
            <a:chOff x="0" y="0"/>
            <a:chExt cx="7229412" cy="111719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229412" cy="1117194"/>
            </a:xfrm>
            <a:custGeom>
              <a:avLst/>
              <a:gdLst/>
              <a:ahLst/>
              <a:cxnLst/>
              <a:rect r="r" b="b" t="t" l="l"/>
              <a:pathLst>
                <a:path h="1117194" w="7229412">
                  <a:moveTo>
                    <a:pt x="0" y="0"/>
                  </a:moveTo>
                  <a:lnTo>
                    <a:pt x="7229412" y="0"/>
                  </a:lnTo>
                  <a:lnTo>
                    <a:pt x="7229412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088" r="0" b="-7608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7229412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6"/>
                </a:lnSpc>
              </a:pPr>
              <a:r>
                <a:rPr lang="en-US" sz="1425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NEW PASSBOOK EVIDENCE  </a:t>
              </a:r>
              <a:r>
                <a:rPr lang="en-US" sz="14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 account is DORMANT, not closed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11530451" y="3709292"/>
            <a:ext cx="583385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↓  Diagnosis updated:  </a:t>
            </a:r>
            <a:r>
              <a:rPr lang="en-US" sz="1425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DORMANT_MAPPED_ACCOUNT</a:t>
            </a:r>
          </a:p>
        </p:txBody>
      </p:sp>
      <p:sp>
        <p:nvSpPr>
          <p:cNvPr name="Freeform 105" id="105"/>
          <p:cNvSpPr/>
          <p:nvPr/>
        </p:nvSpPr>
        <p:spPr>
          <a:xfrm flipH="false" flipV="false" rot="0">
            <a:off x="11513763" y="4197420"/>
            <a:ext cx="1817856" cy="500072"/>
          </a:xfrm>
          <a:custGeom>
            <a:avLst/>
            <a:gdLst/>
            <a:ahLst/>
            <a:cxnLst/>
            <a:rect r="r" b="b" t="t" l="l"/>
            <a:pathLst>
              <a:path h="500072" w="1817856">
                <a:moveTo>
                  <a:pt x="0" y="0"/>
                </a:moveTo>
                <a:lnTo>
                  <a:pt x="1817856" y="0"/>
                </a:lnTo>
                <a:lnTo>
                  <a:pt x="1817856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11520916" y="4197429"/>
            <a:ext cx="1803540" cy="492919"/>
            <a:chOff x="0" y="0"/>
            <a:chExt cx="2404720" cy="65722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04720" cy="657225"/>
            </a:xfrm>
            <a:custGeom>
              <a:avLst/>
              <a:gdLst/>
              <a:ahLst/>
              <a:cxnLst/>
              <a:rect r="r" b="b" t="t" l="l"/>
              <a:pathLst>
                <a:path h="657225" w="2404720">
                  <a:moveTo>
                    <a:pt x="0" y="0"/>
                  </a:moveTo>
                  <a:lnTo>
                    <a:pt x="2404720" y="0"/>
                  </a:lnTo>
                  <a:lnTo>
                    <a:pt x="240472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93" r="0" b="-2129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240472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140D0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 v2</a:t>
              </a: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11599078" y="4862341"/>
            <a:ext cx="5696588" cy="51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+  </a:t>
            </a:r>
            <a:r>
              <a:rPr lang="en-US" sz="1500">
                <a:solidFill>
                  <a:srgbClr val="2EC27E"/>
                </a:solidFill>
                <a:latin typeface="Arial"/>
                <a:ea typeface="Arial"/>
                <a:cs typeface="Arial"/>
                <a:sym typeface="Arial"/>
              </a:rPr>
              <a:t>REACTIVATE_DORMANT_ACCOUNT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599078" y="5438861"/>
            <a:ext cx="5696588" cy="51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05A47"/>
                </a:solidFill>
                <a:latin typeface="Arial Bold"/>
                <a:ea typeface="Arial Bold"/>
                <a:cs typeface="Arial Bold"/>
                <a:sym typeface="Arial Bold"/>
              </a:rPr>
              <a:t>−  </a:t>
            </a:r>
            <a:r>
              <a:rPr lang="en-US" sz="1500">
                <a:solidFill>
                  <a:srgbClr val="F05A47"/>
                </a:solidFill>
                <a:latin typeface="Arial"/>
                <a:ea typeface="Arial"/>
                <a:cs typeface="Arial"/>
                <a:sym typeface="Arial"/>
              </a:rPr>
              <a:t>OLD_ACCOUNT_ACTION removed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599078" y="6015390"/>
            <a:ext cx="5696588" cy="51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05A47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500">
                <a:solidFill>
                  <a:srgbClr val="F05A47"/>
                </a:solidFill>
                <a:latin typeface="Arial"/>
                <a:ea typeface="Arial"/>
                <a:cs typeface="Arial"/>
                <a:sym typeface="Arial"/>
              </a:rPr>
              <a:t>9 outdated documents invalidated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1599078" y="6591910"/>
            <a:ext cx="5696588" cy="51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New documents generated (KARM)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599078" y="7168429"/>
            <a:ext cx="5696588" cy="51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Watchdog activated (ANUSARAN)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1530451" y="7923400"/>
            <a:ext cx="5833853" cy="65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SATYAPAN invalidates the old plan’s artefacts — the case continues from a new state.</a:t>
            </a:r>
          </a:p>
        </p:txBody>
      </p:sp>
      <p:sp>
        <p:nvSpPr>
          <p:cNvPr name="Freeform 115" id="115"/>
          <p:cNvSpPr/>
          <p:nvPr/>
        </p:nvSpPr>
        <p:spPr>
          <a:xfrm flipH="false" flipV="false" rot="0">
            <a:off x="673827" y="8909856"/>
            <a:ext cx="16908932" cy="848639"/>
          </a:xfrm>
          <a:custGeom>
            <a:avLst/>
            <a:gdLst/>
            <a:ahLst/>
            <a:cxnLst/>
            <a:rect r="r" b="b" t="t" l="l"/>
            <a:pathLst>
              <a:path h="848639" w="16908932">
                <a:moveTo>
                  <a:pt x="0" y="0"/>
                </a:moveTo>
                <a:lnTo>
                  <a:pt x="16908932" y="0"/>
                </a:lnTo>
                <a:lnTo>
                  <a:pt x="16908932" y="848640"/>
                </a:lnTo>
                <a:lnTo>
                  <a:pt x="0" y="84864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1098137" y="8922372"/>
            <a:ext cx="16060264" cy="823608"/>
            <a:chOff x="0" y="0"/>
            <a:chExt cx="21413686" cy="109814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413724" cy="1098169"/>
            </a:xfrm>
            <a:custGeom>
              <a:avLst/>
              <a:gdLst/>
              <a:ahLst/>
              <a:cxnLst/>
              <a:rect r="r" b="b" t="t" l="l"/>
              <a:pathLst>
                <a:path h="1098169" w="21413724">
                  <a:moveTo>
                    <a:pt x="0" y="0"/>
                  </a:moveTo>
                  <a:lnTo>
                    <a:pt x="21413724" y="0"/>
                  </a:lnTo>
                  <a:lnTo>
                    <a:pt x="21413724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9684" r="0" b="-329681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98137" y="8908085"/>
            <a:ext cx="16060264" cy="837895"/>
            <a:chOff x="0" y="0"/>
            <a:chExt cx="21413686" cy="111719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413685" cy="1117194"/>
            </a:xfrm>
            <a:custGeom>
              <a:avLst/>
              <a:gdLst/>
              <a:ahLst/>
              <a:cxnLst/>
              <a:rect r="r" b="b" t="t" l="l"/>
              <a:pathLst>
                <a:path h="1117194" w="21413685">
                  <a:moveTo>
                    <a:pt x="0" y="0"/>
                  </a:moveTo>
                  <a:lnTo>
                    <a:pt x="21413685" y="0"/>
                  </a:lnTo>
                  <a:lnTo>
                    <a:pt x="21413685" y="1117194"/>
                  </a:lnTo>
                  <a:lnTo>
                    <a:pt x="0" y="11171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3477" r="0" b="-32347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21413686" cy="1136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7"/>
                </a:lnSpc>
              </a:pPr>
              <a:r>
                <a:rPr lang="en-US" sz="21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HAQ doesn’t blindly execute an old plan. </a:t>
              </a:r>
              <a:r>
                <a:rPr lang="en-US" sz="210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It re-plans when evidence changes.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TOOLS &amp; SOURCES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Grounded in evidence, not hallucination.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07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42455" y="2595562"/>
            <a:ext cx="8192414" cy="4623492"/>
          </a:xfrm>
          <a:custGeom>
            <a:avLst/>
            <a:gdLst/>
            <a:ahLst/>
            <a:cxnLst/>
            <a:rect r="r" b="b" t="t" l="l"/>
            <a:pathLst>
              <a:path h="4623492" w="8192414">
                <a:moveTo>
                  <a:pt x="0" y="0"/>
                </a:moveTo>
                <a:lnTo>
                  <a:pt x="8192414" y="0"/>
                </a:lnTo>
                <a:lnTo>
                  <a:pt x="8192414" y="4623493"/>
                </a:lnTo>
                <a:lnTo>
                  <a:pt x="0" y="4623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8137" y="2798007"/>
            <a:ext cx="7481068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50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●  LIVE / PUBLIC TOOLS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16994" y="3419170"/>
            <a:ext cx="7643393" cy="1013327"/>
          </a:xfrm>
          <a:custGeom>
            <a:avLst/>
            <a:gdLst/>
            <a:ahLst/>
            <a:cxnLst/>
            <a:rect r="r" b="b" t="t" l="l"/>
            <a:pathLst>
              <a:path h="1013327" w="7643393">
                <a:moveTo>
                  <a:pt x="0" y="0"/>
                </a:moveTo>
                <a:lnTo>
                  <a:pt x="7643393" y="0"/>
                </a:lnTo>
                <a:lnTo>
                  <a:pt x="7643393" y="1013327"/>
                </a:lnTo>
                <a:lnTo>
                  <a:pt x="0" y="1013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8724" y="3675802"/>
            <a:ext cx="1200160" cy="500072"/>
          </a:xfrm>
          <a:custGeom>
            <a:avLst/>
            <a:gdLst/>
            <a:ahLst/>
            <a:cxnLst/>
            <a:rect r="r" b="b" t="t" l="l"/>
            <a:pathLst>
              <a:path h="500072" w="1200160">
                <a:moveTo>
                  <a:pt x="0" y="0"/>
                </a:moveTo>
                <a:lnTo>
                  <a:pt x="1200159" y="0"/>
                </a:lnTo>
                <a:lnTo>
                  <a:pt x="1200159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25877" y="3668668"/>
            <a:ext cx="1185834" cy="500062"/>
            <a:chOff x="0" y="0"/>
            <a:chExt cx="1581112" cy="6667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1112" cy="666750"/>
            </a:xfrm>
            <a:custGeom>
              <a:avLst/>
              <a:gdLst/>
              <a:ahLst/>
              <a:cxnLst/>
              <a:rect r="r" b="b" t="t" l="l"/>
              <a:pathLst>
                <a:path h="666750" w="1581112">
                  <a:moveTo>
                    <a:pt x="0" y="0"/>
                  </a:moveTo>
                  <a:lnTo>
                    <a:pt x="1581112" y="0"/>
                  </a:lnTo>
                  <a:lnTo>
                    <a:pt x="1581112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105" t="0" r="-410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581112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2EC27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LIVE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608078" y="3503390"/>
            <a:ext cx="5971127" cy="86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Public IFSC directory lookup</a:t>
            </a:r>
          </a:p>
          <a:p>
            <a:pPr algn="l">
              <a:lnSpc>
                <a:spcPts val="1606"/>
              </a:lnSpc>
            </a:pPr>
            <a:r>
              <a:rPr lang="en-US" sz="127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real HTTP fetch · bank, branch, NEFT/RTGS/UPI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16994" y="4585945"/>
            <a:ext cx="7643393" cy="1013327"/>
          </a:xfrm>
          <a:custGeom>
            <a:avLst/>
            <a:gdLst/>
            <a:ahLst/>
            <a:cxnLst/>
            <a:rect r="r" b="b" t="t" l="l"/>
            <a:pathLst>
              <a:path h="1013327" w="7643393">
                <a:moveTo>
                  <a:pt x="0" y="0"/>
                </a:moveTo>
                <a:lnTo>
                  <a:pt x="7643393" y="0"/>
                </a:lnTo>
                <a:lnTo>
                  <a:pt x="7643393" y="1013326"/>
                </a:lnTo>
                <a:lnTo>
                  <a:pt x="0" y="1013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18724" y="4842577"/>
            <a:ext cx="1200160" cy="500072"/>
          </a:xfrm>
          <a:custGeom>
            <a:avLst/>
            <a:gdLst/>
            <a:ahLst/>
            <a:cxnLst/>
            <a:rect r="r" b="b" t="t" l="l"/>
            <a:pathLst>
              <a:path h="500072" w="1200160">
                <a:moveTo>
                  <a:pt x="0" y="0"/>
                </a:moveTo>
                <a:lnTo>
                  <a:pt x="1200159" y="0"/>
                </a:lnTo>
                <a:lnTo>
                  <a:pt x="1200159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5877" y="4835442"/>
            <a:ext cx="1185834" cy="500062"/>
            <a:chOff x="0" y="0"/>
            <a:chExt cx="1581112" cy="666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81112" cy="666750"/>
            </a:xfrm>
            <a:custGeom>
              <a:avLst/>
              <a:gdLst/>
              <a:ahLst/>
              <a:cxnLst/>
              <a:rect r="r" b="b" t="t" l="l"/>
              <a:pathLst>
                <a:path h="666750" w="1581112">
                  <a:moveTo>
                    <a:pt x="0" y="0"/>
                  </a:moveTo>
                  <a:lnTo>
                    <a:pt x="1581112" y="0"/>
                  </a:lnTo>
                  <a:lnTo>
                    <a:pt x="1581112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105" t="0" r="-410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581112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2EC27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LIVE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608078" y="4670165"/>
            <a:ext cx="5971127" cy="86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Public postal pincode directory lookup</a:t>
            </a:r>
          </a:p>
          <a:p>
            <a:pPr algn="l">
              <a:lnSpc>
                <a:spcPts val="1606"/>
              </a:lnSpc>
            </a:pPr>
            <a:r>
              <a:rPr lang="en-US" sz="127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real HTTP fetch · public postal directory service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16994" y="5752709"/>
            <a:ext cx="7643393" cy="1013327"/>
          </a:xfrm>
          <a:custGeom>
            <a:avLst/>
            <a:gdLst/>
            <a:ahLst/>
            <a:cxnLst/>
            <a:rect r="r" b="b" t="t" l="l"/>
            <a:pathLst>
              <a:path h="1013327" w="7643393">
                <a:moveTo>
                  <a:pt x="0" y="0"/>
                </a:moveTo>
                <a:lnTo>
                  <a:pt x="7643393" y="0"/>
                </a:lnTo>
                <a:lnTo>
                  <a:pt x="7643393" y="1013327"/>
                </a:lnTo>
                <a:lnTo>
                  <a:pt x="0" y="1013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18724" y="6009342"/>
            <a:ext cx="1200160" cy="500072"/>
          </a:xfrm>
          <a:custGeom>
            <a:avLst/>
            <a:gdLst/>
            <a:ahLst/>
            <a:cxnLst/>
            <a:rect r="r" b="b" t="t" l="l"/>
            <a:pathLst>
              <a:path h="500072" w="1200160">
                <a:moveTo>
                  <a:pt x="0" y="0"/>
                </a:moveTo>
                <a:lnTo>
                  <a:pt x="1200159" y="0"/>
                </a:lnTo>
                <a:lnTo>
                  <a:pt x="1200159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225877" y="6002207"/>
            <a:ext cx="1185834" cy="500062"/>
            <a:chOff x="0" y="0"/>
            <a:chExt cx="1581112" cy="6667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81112" cy="666750"/>
            </a:xfrm>
            <a:custGeom>
              <a:avLst/>
              <a:gdLst/>
              <a:ahLst/>
              <a:cxnLst/>
              <a:rect r="r" b="b" t="t" l="l"/>
              <a:pathLst>
                <a:path h="666750" w="1581112">
                  <a:moveTo>
                    <a:pt x="0" y="0"/>
                  </a:moveTo>
                  <a:lnTo>
                    <a:pt x="1581112" y="0"/>
                  </a:lnTo>
                  <a:lnTo>
                    <a:pt x="1581112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105" t="0" r="-410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581112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54B8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PUBLIC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608078" y="5836939"/>
            <a:ext cx="5971127" cy="86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57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Public DBT knowledge / document retrieval</a:t>
            </a:r>
          </a:p>
          <a:p>
            <a:pPr algn="l">
              <a:lnSpc>
                <a:spcPts val="1606"/>
              </a:lnSpc>
            </a:pPr>
            <a:r>
              <a:rPr lang="en-US" sz="127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curated public guidance · cited source URLs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321660" y="2595562"/>
            <a:ext cx="8233562" cy="4623492"/>
          </a:xfrm>
          <a:custGeom>
            <a:avLst/>
            <a:gdLst/>
            <a:ahLst/>
            <a:cxnLst/>
            <a:rect r="r" b="b" t="t" l="l"/>
            <a:pathLst>
              <a:path h="4623492" w="8233562">
                <a:moveTo>
                  <a:pt x="0" y="0"/>
                </a:moveTo>
                <a:lnTo>
                  <a:pt x="8233563" y="0"/>
                </a:lnTo>
                <a:lnTo>
                  <a:pt x="8233563" y="4623493"/>
                </a:lnTo>
                <a:lnTo>
                  <a:pt x="0" y="46234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9677343" y="2798007"/>
            <a:ext cx="7522245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50" b="true">
                <a:solidFill>
                  <a:srgbClr val="FFC95C"/>
                </a:solidFill>
                <a:latin typeface="Arial Bold"/>
                <a:ea typeface="Arial Bold"/>
                <a:cs typeface="Arial Bold"/>
                <a:sym typeface="Arial Bold"/>
              </a:rPr>
              <a:t>●  DEMO INSTITUTIONAL ADAPTERS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592018" y="3346361"/>
            <a:ext cx="1406090" cy="472640"/>
          </a:xfrm>
          <a:custGeom>
            <a:avLst/>
            <a:gdLst/>
            <a:ahLst/>
            <a:cxnLst/>
            <a:rect r="r" b="b" t="t" l="l"/>
            <a:pathLst>
              <a:path h="472640" w="1406090">
                <a:moveTo>
                  <a:pt x="0" y="0"/>
                </a:moveTo>
                <a:lnTo>
                  <a:pt x="1406090" y="0"/>
                </a:lnTo>
                <a:lnTo>
                  <a:pt x="1406090" y="472640"/>
                </a:lnTo>
                <a:lnTo>
                  <a:pt x="0" y="472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599171" y="3339227"/>
            <a:ext cx="1391736" cy="472611"/>
            <a:chOff x="0" y="0"/>
            <a:chExt cx="1855648" cy="6301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55648" cy="630149"/>
            </a:xfrm>
            <a:custGeom>
              <a:avLst/>
              <a:gdLst/>
              <a:ahLst/>
              <a:cxnLst/>
              <a:rect r="r" b="b" t="t" l="l"/>
              <a:pathLst>
                <a:path h="630149" w="1855648">
                  <a:moveTo>
                    <a:pt x="0" y="0"/>
                  </a:moveTo>
                  <a:lnTo>
                    <a:pt x="1855648" y="0"/>
                  </a:lnTo>
                  <a:lnTo>
                    <a:pt x="1855648" y="630149"/>
                  </a:lnTo>
                  <a:lnTo>
                    <a:pt x="0" y="6301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379" r="0" b="-737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855648" cy="6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"/>
                </a:lnSpc>
              </a:pPr>
              <a:r>
                <a:rPr lang="en-US" sz="1200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DEMO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187284" y="3352400"/>
            <a:ext cx="60123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Scheme Status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592018" y="3922881"/>
            <a:ext cx="1406090" cy="472640"/>
          </a:xfrm>
          <a:custGeom>
            <a:avLst/>
            <a:gdLst/>
            <a:ahLst/>
            <a:cxnLst/>
            <a:rect r="r" b="b" t="t" l="l"/>
            <a:pathLst>
              <a:path h="472640" w="1406090">
                <a:moveTo>
                  <a:pt x="0" y="0"/>
                </a:moveTo>
                <a:lnTo>
                  <a:pt x="1406090" y="0"/>
                </a:lnTo>
                <a:lnTo>
                  <a:pt x="1406090" y="472640"/>
                </a:lnTo>
                <a:lnTo>
                  <a:pt x="0" y="472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9599171" y="3915747"/>
            <a:ext cx="1391736" cy="472611"/>
            <a:chOff x="0" y="0"/>
            <a:chExt cx="1855648" cy="6301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55648" cy="630149"/>
            </a:xfrm>
            <a:custGeom>
              <a:avLst/>
              <a:gdLst/>
              <a:ahLst/>
              <a:cxnLst/>
              <a:rect r="r" b="b" t="t" l="l"/>
              <a:pathLst>
                <a:path h="630149" w="1855648">
                  <a:moveTo>
                    <a:pt x="0" y="0"/>
                  </a:moveTo>
                  <a:lnTo>
                    <a:pt x="1855648" y="0"/>
                  </a:lnTo>
                  <a:lnTo>
                    <a:pt x="1855648" y="630149"/>
                  </a:lnTo>
                  <a:lnTo>
                    <a:pt x="0" y="6301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379" r="0" b="-73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855648" cy="6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"/>
                </a:lnSpc>
              </a:pPr>
              <a:r>
                <a:rPr lang="en-US" sz="1200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DEMO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187284" y="3928920"/>
            <a:ext cx="60123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PFMS Status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592018" y="4499410"/>
            <a:ext cx="1406090" cy="472640"/>
          </a:xfrm>
          <a:custGeom>
            <a:avLst/>
            <a:gdLst/>
            <a:ahLst/>
            <a:cxnLst/>
            <a:rect r="r" b="b" t="t" l="l"/>
            <a:pathLst>
              <a:path h="472640" w="1406090">
                <a:moveTo>
                  <a:pt x="0" y="0"/>
                </a:moveTo>
                <a:lnTo>
                  <a:pt x="1406090" y="0"/>
                </a:lnTo>
                <a:lnTo>
                  <a:pt x="1406090" y="472640"/>
                </a:lnTo>
                <a:lnTo>
                  <a:pt x="0" y="472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599171" y="4492276"/>
            <a:ext cx="1391736" cy="472611"/>
            <a:chOff x="0" y="0"/>
            <a:chExt cx="1855648" cy="63014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55648" cy="630149"/>
            </a:xfrm>
            <a:custGeom>
              <a:avLst/>
              <a:gdLst/>
              <a:ahLst/>
              <a:cxnLst/>
              <a:rect r="r" b="b" t="t" l="l"/>
              <a:pathLst>
                <a:path h="630149" w="1855648">
                  <a:moveTo>
                    <a:pt x="0" y="0"/>
                  </a:moveTo>
                  <a:lnTo>
                    <a:pt x="1855648" y="0"/>
                  </a:lnTo>
                  <a:lnTo>
                    <a:pt x="1855648" y="630149"/>
                  </a:lnTo>
                  <a:lnTo>
                    <a:pt x="0" y="6301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379" r="0" b="-737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855648" cy="6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"/>
                </a:lnSpc>
              </a:pPr>
              <a:r>
                <a:rPr lang="en-US" sz="1200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DEMO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187284" y="4505449"/>
            <a:ext cx="60123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APBS Status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9592018" y="5075930"/>
            <a:ext cx="1406090" cy="472640"/>
          </a:xfrm>
          <a:custGeom>
            <a:avLst/>
            <a:gdLst/>
            <a:ahLst/>
            <a:cxnLst/>
            <a:rect r="r" b="b" t="t" l="l"/>
            <a:pathLst>
              <a:path h="472640" w="1406090">
                <a:moveTo>
                  <a:pt x="0" y="0"/>
                </a:moveTo>
                <a:lnTo>
                  <a:pt x="1406090" y="0"/>
                </a:lnTo>
                <a:lnTo>
                  <a:pt x="1406090" y="472640"/>
                </a:lnTo>
                <a:lnTo>
                  <a:pt x="0" y="472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9599171" y="5068795"/>
            <a:ext cx="1391736" cy="472611"/>
            <a:chOff x="0" y="0"/>
            <a:chExt cx="1855648" cy="63014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55648" cy="630149"/>
            </a:xfrm>
            <a:custGeom>
              <a:avLst/>
              <a:gdLst/>
              <a:ahLst/>
              <a:cxnLst/>
              <a:rect r="r" b="b" t="t" l="l"/>
              <a:pathLst>
                <a:path h="630149" w="1855648">
                  <a:moveTo>
                    <a:pt x="0" y="0"/>
                  </a:moveTo>
                  <a:lnTo>
                    <a:pt x="1855648" y="0"/>
                  </a:lnTo>
                  <a:lnTo>
                    <a:pt x="1855648" y="630149"/>
                  </a:lnTo>
                  <a:lnTo>
                    <a:pt x="0" y="6301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379" r="0" b="-737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855648" cy="6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"/>
                </a:lnSpc>
              </a:pPr>
              <a:r>
                <a:rPr lang="en-US" sz="1200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DEMO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1187284" y="5081968"/>
            <a:ext cx="60123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NPCI Mapper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9592018" y="5652449"/>
            <a:ext cx="1406090" cy="472640"/>
          </a:xfrm>
          <a:custGeom>
            <a:avLst/>
            <a:gdLst/>
            <a:ahLst/>
            <a:cxnLst/>
            <a:rect r="r" b="b" t="t" l="l"/>
            <a:pathLst>
              <a:path h="472640" w="1406090">
                <a:moveTo>
                  <a:pt x="0" y="0"/>
                </a:moveTo>
                <a:lnTo>
                  <a:pt x="1406090" y="0"/>
                </a:lnTo>
                <a:lnTo>
                  <a:pt x="1406090" y="472640"/>
                </a:lnTo>
                <a:lnTo>
                  <a:pt x="0" y="472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9599171" y="5645315"/>
            <a:ext cx="1391736" cy="472611"/>
            <a:chOff x="0" y="0"/>
            <a:chExt cx="1855648" cy="63014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55648" cy="630149"/>
            </a:xfrm>
            <a:custGeom>
              <a:avLst/>
              <a:gdLst/>
              <a:ahLst/>
              <a:cxnLst/>
              <a:rect r="r" b="b" t="t" l="l"/>
              <a:pathLst>
                <a:path h="630149" w="1855648">
                  <a:moveTo>
                    <a:pt x="0" y="0"/>
                  </a:moveTo>
                  <a:lnTo>
                    <a:pt x="1855648" y="0"/>
                  </a:lnTo>
                  <a:lnTo>
                    <a:pt x="1855648" y="630149"/>
                  </a:lnTo>
                  <a:lnTo>
                    <a:pt x="0" y="6301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379" r="0" b="-737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855648" cy="6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"/>
                </a:lnSpc>
              </a:pPr>
              <a:r>
                <a:rPr lang="en-US" sz="1200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● DEMO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187284" y="5658488"/>
            <a:ext cx="60123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Bank CBS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08706" y="6344831"/>
            <a:ext cx="7659510" cy="72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Beneficiary-level institutional status requires authenticated / authorized access — represented only by DEMO adapters, never shown as live.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54971" y="7511596"/>
            <a:ext cx="8236039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EVERY RESULT CARRIES AN EVIDENCE CHAIN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497425" y="8017621"/>
            <a:ext cx="3113589" cy="876167"/>
          </a:xfrm>
          <a:custGeom>
            <a:avLst/>
            <a:gdLst/>
            <a:ahLst/>
            <a:cxnLst/>
            <a:rect r="r" b="b" t="t" l="l"/>
            <a:pathLst>
              <a:path h="876167" w="3113589">
                <a:moveTo>
                  <a:pt x="0" y="0"/>
                </a:moveTo>
                <a:lnTo>
                  <a:pt x="3113589" y="0"/>
                </a:lnTo>
                <a:lnTo>
                  <a:pt x="3113589" y="876167"/>
                </a:lnTo>
                <a:lnTo>
                  <a:pt x="0" y="8761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502788" y="8008696"/>
            <a:ext cx="3102807" cy="879643"/>
            <a:chOff x="0" y="0"/>
            <a:chExt cx="4137076" cy="117285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37076" cy="1172858"/>
            </a:xfrm>
            <a:custGeom>
              <a:avLst/>
              <a:gdLst/>
              <a:ahLst/>
              <a:cxnLst/>
              <a:rect r="r" b="b" t="t" l="l"/>
              <a:pathLst>
                <a:path h="1172858" w="4137076">
                  <a:moveTo>
                    <a:pt x="0" y="0"/>
                  </a:moveTo>
                  <a:lnTo>
                    <a:pt x="4137076" y="0"/>
                  </a:lnTo>
                  <a:lnTo>
                    <a:pt x="4137076" y="1172858"/>
                  </a:lnTo>
                  <a:lnTo>
                    <a:pt x="0" y="117285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730" r="0" b="-1873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137076" cy="119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Source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4476131" y="8017621"/>
            <a:ext cx="3113589" cy="876167"/>
          </a:xfrm>
          <a:custGeom>
            <a:avLst/>
            <a:gdLst/>
            <a:ahLst/>
            <a:cxnLst/>
            <a:rect r="r" b="b" t="t" l="l"/>
            <a:pathLst>
              <a:path h="876167" w="3113589">
                <a:moveTo>
                  <a:pt x="0" y="0"/>
                </a:moveTo>
                <a:lnTo>
                  <a:pt x="3113589" y="0"/>
                </a:lnTo>
                <a:lnTo>
                  <a:pt x="3113589" y="876167"/>
                </a:lnTo>
                <a:lnTo>
                  <a:pt x="0" y="8761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4481493" y="8008696"/>
            <a:ext cx="3102807" cy="879643"/>
            <a:chOff x="0" y="0"/>
            <a:chExt cx="4137076" cy="117285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37076" cy="1172858"/>
            </a:xfrm>
            <a:custGeom>
              <a:avLst/>
              <a:gdLst/>
              <a:ahLst/>
              <a:cxnLst/>
              <a:rect r="r" b="b" t="t" l="l"/>
              <a:pathLst>
                <a:path h="1172858" w="4137076">
                  <a:moveTo>
                    <a:pt x="0" y="0"/>
                  </a:moveTo>
                  <a:lnTo>
                    <a:pt x="4137076" y="0"/>
                  </a:lnTo>
                  <a:lnTo>
                    <a:pt x="4137076" y="1172858"/>
                  </a:lnTo>
                  <a:lnTo>
                    <a:pt x="0" y="117285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730" r="0" b="-1873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137076" cy="119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Evidence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7454827" y="8017621"/>
            <a:ext cx="3113589" cy="876167"/>
          </a:xfrm>
          <a:custGeom>
            <a:avLst/>
            <a:gdLst/>
            <a:ahLst/>
            <a:cxnLst/>
            <a:rect r="r" b="b" t="t" l="l"/>
            <a:pathLst>
              <a:path h="876167" w="3113589">
                <a:moveTo>
                  <a:pt x="0" y="0"/>
                </a:moveTo>
                <a:lnTo>
                  <a:pt x="3113589" y="0"/>
                </a:lnTo>
                <a:lnTo>
                  <a:pt x="3113589" y="876167"/>
                </a:lnTo>
                <a:lnTo>
                  <a:pt x="0" y="8761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7460190" y="8008696"/>
            <a:ext cx="3102807" cy="879643"/>
            <a:chOff x="0" y="0"/>
            <a:chExt cx="4137076" cy="117285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137076" cy="1172858"/>
            </a:xfrm>
            <a:custGeom>
              <a:avLst/>
              <a:gdLst/>
              <a:ahLst/>
              <a:cxnLst/>
              <a:rect r="r" b="b" t="t" l="l"/>
              <a:pathLst>
                <a:path h="1172858" w="4137076">
                  <a:moveTo>
                    <a:pt x="0" y="0"/>
                  </a:moveTo>
                  <a:lnTo>
                    <a:pt x="4137076" y="0"/>
                  </a:lnTo>
                  <a:lnTo>
                    <a:pt x="4137076" y="1172858"/>
                  </a:lnTo>
                  <a:lnTo>
                    <a:pt x="0" y="117285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730" r="0" b="-1873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137076" cy="119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Diagnosis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0433523" y="8017621"/>
            <a:ext cx="3113589" cy="876167"/>
          </a:xfrm>
          <a:custGeom>
            <a:avLst/>
            <a:gdLst/>
            <a:ahLst/>
            <a:cxnLst/>
            <a:rect r="r" b="b" t="t" l="l"/>
            <a:pathLst>
              <a:path h="876167" w="3113589">
                <a:moveTo>
                  <a:pt x="0" y="0"/>
                </a:moveTo>
                <a:lnTo>
                  <a:pt x="3113589" y="0"/>
                </a:lnTo>
                <a:lnTo>
                  <a:pt x="3113589" y="876167"/>
                </a:lnTo>
                <a:lnTo>
                  <a:pt x="0" y="8761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0438886" y="8008696"/>
            <a:ext cx="3102807" cy="879643"/>
            <a:chOff x="0" y="0"/>
            <a:chExt cx="4137076" cy="117285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37076" cy="1172858"/>
            </a:xfrm>
            <a:custGeom>
              <a:avLst/>
              <a:gdLst/>
              <a:ahLst/>
              <a:cxnLst/>
              <a:rect r="r" b="b" t="t" l="l"/>
              <a:pathLst>
                <a:path h="1172858" w="4137076">
                  <a:moveTo>
                    <a:pt x="0" y="0"/>
                  </a:moveTo>
                  <a:lnTo>
                    <a:pt x="4137076" y="0"/>
                  </a:lnTo>
                  <a:lnTo>
                    <a:pt x="4137076" y="1172858"/>
                  </a:lnTo>
                  <a:lnTo>
                    <a:pt x="0" y="117285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730" r="0" b="-1873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137076" cy="119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754971" y="9071124"/>
            <a:ext cx="16746607" cy="60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"/>
              </a:lnSpc>
            </a:pPr>
            <a:r>
              <a:rPr lang="en-US" sz="135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per result: source · LIVE / DEMO / PUBLIC label · timestamp · confidence.  </a:t>
            </a:r>
            <a:r>
              <a:rPr lang="en-US" sz="135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Public IFSC / pincode lookups are third-party public directory services — not government APIs or beneficiary databases.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TECHNICAL IMPLEMENTATION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Built as a real working system.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08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3827" y="2595562"/>
            <a:ext cx="5515794" cy="2770403"/>
          </a:xfrm>
          <a:custGeom>
            <a:avLst/>
            <a:gdLst/>
            <a:ahLst/>
            <a:cxnLst/>
            <a:rect r="r" b="b" t="t" l="l"/>
            <a:pathLst>
              <a:path h="2770403" w="5515794">
                <a:moveTo>
                  <a:pt x="0" y="0"/>
                </a:moveTo>
                <a:lnTo>
                  <a:pt x="5515794" y="0"/>
                </a:lnTo>
                <a:lnTo>
                  <a:pt x="5515794" y="2770404"/>
                </a:lnTo>
                <a:lnTo>
                  <a:pt x="0" y="2770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86333" y="2608078"/>
            <a:ext cx="82391" cy="2745391"/>
            <a:chOff x="0" y="0"/>
            <a:chExt cx="109855" cy="36605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9500" y="2817057"/>
            <a:ext cx="480435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9500" y="3302813"/>
            <a:ext cx="4804353" cy="187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HTML · CSS · JavaScript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Single-page case console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Hindi / English · voice · TTS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411592" y="2595562"/>
            <a:ext cx="5515794" cy="2770403"/>
          </a:xfrm>
          <a:custGeom>
            <a:avLst/>
            <a:gdLst/>
            <a:ahLst/>
            <a:cxnLst/>
            <a:rect r="r" b="b" t="t" l="l"/>
            <a:pathLst>
              <a:path h="2770403" w="5515794">
                <a:moveTo>
                  <a:pt x="0" y="0"/>
                </a:moveTo>
                <a:lnTo>
                  <a:pt x="5515794" y="0"/>
                </a:lnTo>
                <a:lnTo>
                  <a:pt x="5515794" y="2770404"/>
                </a:lnTo>
                <a:lnTo>
                  <a:pt x="0" y="2770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424108" y="2608078"/>
            <a:ext cx="82391" cy="2745391"/>
            <a:chOff x="0" y="0"/>
            <a:chExt cx="109855" cy="36605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767274" y="2817057"/>
            <a:ext cx="480435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67274" y="3302813"/>
            <a:ext cx="4804353" cy="67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Python · FastAPI · Uvicorn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  Case API with structured event logging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Consent gate · masking · delete case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149366" y="2595562"/>
            <a:ext cx="5515794" cy="2770403"/>
          </a:xfrm>
          <a:custGeom>
            <a:avLst/>
            <a:gdLst/>
            <a:ahLst/>
            <a:cxnLst/>
            <a:rect r="r" b="b" t="t" l="l"/>
            <a:pathLst>
              <a:path h="2770403" w="5515794">
                <a:moveTo>
                  <a:pt x="0" y="0"/>
                </a:moveTo>
                <a:lnTo>
                  <a:pt x="5515794" y="0"/>
                </a:lnTo>
                <a:lnTo>
                  <a:pt x="5515794" y="2770404"/>
                </a:lnTo>
                <a:lnTo>
                  <a:pt x="0" y="2770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161872" y="2608078"/>
            <a:ext cx="82391" cy="2745391"/>
            <a:chOff x="0" y="0"/>
            <a:chExt cx="109855" cy="36605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505049" y="2817057"/>
            <a:ext cx="480435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CORE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05049" y="3302813"/>
            <a:ext cx="4804353" cy="187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Stateful agent orchestrator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Deterministic rules engine (NYAYA)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Evidence / case state management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73827" y="5587994"/>
            <a:ext cx="5515794" cy="2770403"/>
          </a:xfrm>
          <a:custGeom>
            <a:avLst/>
            <a:gdLst/>
            <a:ahLst/>
            <a:cxnLst/>
            <a:rect r="r" b="b" t="t" l="l"/>
            <a:pathLst>
              <a:path h="2770403" w="5515794">
                <a:moveTo>
                  <a:pt x="0" y="0"/>
                </a:moveTo>
                <a:lnTo>
                  <a:pt x="5515794" y="0"/>
                </a:lnTo>
                <a:lnTo>
                  <a:pt x="5515794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686333" y="5600500"/>
            <a:ext cx="82391" cy="2745391"/>
            <a:chOff x="0" y="0"/>
            <a:chExt cx="109855" cy="36605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9500" y="5809488"/>
            <a:ext cx="480435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9500" y="6295244"/>
            <a:ext cx="4804353" cy="89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SQLite · JSON rules / knowledge base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DBT public-guidance knowledge base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Scheme playbooks </a:t>
            </a: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 case re-open / continuation support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411592" y="5587994"/>
            <a:ext cx="5515794" cy="2770403"/>
          </a:xfrm>
          <a:custGeom>
            <a:avLst/>
            <a:gdLst/>
            <a:ahLst/>
            <a:cxnLst/>
            <a:rect r="r" b="b" t="t" l="l"/>
            <a:pathLst>
              <a:path h="2770403" w="5515794">
                <a:moveTo>
                  <a:pt x="0" y="0"/>
                </a:moveTo>
                <a:lnTo>
                  <a:pt x="5515794" y="0"/>
                </a:lnTo>
                <a:lnTo>
                  <a:pt x="5515794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6424108" y="5600500"/>
            <a:ext cx="82391" cy="2745391"/>
            <a:chOff x="0" y="0"/>
            <a:chExt cx="109855" cy="36605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767274" y="5809488"/>
            <a:ext cx="480435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INTEGRATIONS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67274" y="6295244"/>
            <a:ext cx="4804353" cy="187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Public IFSC directory lookup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Public postal pincode directory lookup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DBT public knowledge / document retrieval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DEMO: Scheme Status · PFMS Status · APBS Status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DEMO: NPCI Mapper · Bank CBS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2149366" y="5587994"/>
            <a:ext cx="5515794" cy="2770403"/>
          </a:xfrm>
          <a:custGeom>
            <a:avLst/>
            <a:gdLst/>
            <a:ahLst/>
            <a:cxnLst/>
            <a:rect r="r" b="b" t="t" l="l"/>
            <a:pathLst>
              <a:path h="2770403" w="5515794">
                <a:moveTo>
                  <a:pt x="0" y="0"/>
                </a:moveTo>
                <a:lnTo>
                  <a:pt x="5515794" y="0"/>
                </a:lnTo>
                <a:lnTo>
                  <a:pt x="5515794" y="2770403"/>
                </a:lnTo>
                <a:lnTo>
                  <a:pt x="0" y="2770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161872" y="5600500"/>
            <a:ext cx="82391" cy="2745391"/>
            <a:chOff x="0" y="0"/>
            <a:chExt cx="109855" cy="36605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505049" y="5809488"/>
            <a:ext cx="480435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LANGUAGE LAYER (OPTIONAL)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05049" y="6295244"/>
            <a:ext cx="4804353" cy="187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Groq / Gemini — when configured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Env-var keys · never in code</a:t>
            </a:r>
          </a:p>
          <a:p>
            <a:pPr algn="l">
              <a:lnSpc>
                <a:spcPts val="1764"/>
              </a:lnSpc>
            </a:pPr>
            <a:r>
              <a:rPr lang="en-US" sz="1500">
                <a:solidFill>
                  <a:srgbClr val="51638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Language only — not policy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673827" y="8498053"/>
            <a:ext cx="16950080" cy="1260405"/>
          </a:xfrm>
          <a:custGeom>
            <a:avLst/>
            <a:gdLst/>
            <a:ahLst/>
            <a:cxnLst/>
            <a:rect r="r" b="b" t="t" l="l"/>
            <a:pathLst>
              <a:path h="1260405" w="16950080">
                <a:moveTo>
                  <a:pt x="0" y="0"/>
                </a:moveTo>
                <a:lnTo>
                  <a:pt x="16950080" y="0"/>
                </a:lnTo>
                <a:lnTo>
                  <a:pt x="16950080" y="1260405"/>
                </a:lnTo>
                <a:lnTo>
                  <a:pt x="0" y="1260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098137" y="8510568"/>
            <a:ext cx="8785108" cy="1235402"/>
            <a:chOff x="0" y="0"/>
            <a:chExt cx="11713477" cy="16472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13464" cy="1647190"/>
            </a:xfrm>
            <a:custGeom>
              <a:avLst/>
              <a:gdLst/>
              <a:ahLst/>
              <a:cxnLst/>
              <a:rect r="r" b="b" t="t" l="l"/>
              <a:pathLst>
                <a:path h="1647190" w="11713464">
                  <a:moveTo>
                    <a:pt x="0" y="0"/>
                  </a:moveTo>
                  <a:lnTo>
                    <a:pt x="11713464" y="0"/>
                  </a:lnTo>
                  <a:lnTo>
                    <a:pt x="11713464" y="1647190"/>
                  </a:lnTo>
                  <a:lnTo>
                    <a:pt x="0" y="164719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8464" r="0" b="-8846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98137" y="8496281"/>
            <a:ext cx="8785108" cy="1249690"/>
            <a:chOff x="0" y="0"/>
            <a:chExt cx="11713477" cy="166625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13477" cy="1666253"/>
            </a:xfrm>
            <a:custGeom>
              <a:avLst/>
              <a:gdLst/>
              <a:ahLst/>
              <a:cxnLst/>
              <a:rect r="r" b="b" t="t" l="l"/>
              <a:pathLst>
                <a:path h="1666253" w="11713477">
                  <a:moveTo>
                    <a:pt x="0" y="0"/>
                  </a:moveTo>
                  <a:lnTo>
                    <a:pt x="11713477" y="0"/>
                  </a:lnTo>
                  <a:lnTo>
                    <a:pt x="11713477" y="1666253"/>
                  </a:lnTo>
                  <a:lnTo>
                    <a:pt x="0" y="166625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976" r="0" b="-8697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1713477" cy="1685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Hybrid AI: </a:t>
              </a:r>
              <a:r>
                <a:rPr lang="en-US" sz="18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 for language,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deterministic rules for critical decisions.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0072459" y="8686057"/>
            <a:ext cx="2215906" cy="417776"/>
          </a:xfrm>
          <a:custGeom>
            <a:avLst/>
            <a:gdLst/>
            <a:ahLst/>
            <a:cxnLst/>
            <a:rect r="r" b="b" t="t" l="l"/>
            <a:pathLst>
              <a:path h="417776" w="2215906">
                <a:moveTo>
                  <a:pt x="0" y="0"/>
                </a:moveTo>
                <a:lnTo>
                  <a:pt x="2215905" y="0"/>
                </a:lnTo>
                <a:lnTo>
                  <a:pt x="2215905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0079612" y="8686067"/>
            <a:ext cx="2201618" cy="410556"/>
            <a:chOff x="0" y="0"/>
            <a:chExt cx="2935491" cy="5474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35491" cy="547408"/>
            </a:xfrm>
            <a:custGeom>
              <a:avLst/>
              <a:gdLst/>
              <a:ahLst/>
              <a:cxnLst/>
              <a:rect r="r" b="b" t="t" l="l"/>
              <a:pathLst>
                <a:path h="547408" w="2935491">
                  <a:moveTo>
                    <a:pt x="0" y="0"/>
                  </a:moveTo>
                  <a:lnTo>
                    <a:pt x="2935491" y="0"/>
                  </a:lnTo>
                  <a:lnTo>
                    <a:pt x="2935491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489" r="0" b="-544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935491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Consent before processing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2364822" y="8686057"/>
            <a:ext cx="1817856" cy="417776"/>
          </a:xfrm>
          <a:custGeom>
            <a:avLst/>
            <a:gdLst/>
            <a:ahLst/>
            <a:cxnLst/>
            <a:rect r="r" b="b" t="t" l="l"/>
            <a:pathLst>
              <a:path h="417776" w="1817856">
                <a:moveTo>
                  <a:pt x="0" y="0"/>
                </a:moveTo>
                <a:lnTo>
                  <a:pt x="1817855" y="0"/>
                </a:lnTo>
                <a:lnTo>
                  <a:pt x="1817855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2371975" y="8686067"/>
            <a:ext cx="1803540" cy="410556"/>
            <a:chOff x="0" y="0"/>
            <a:chExt cx="2404720" cy="5474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04720" cy="547408"/>
            </a:xfrm>
            <a:custGeom>
              <a:avLst/>
              <a:gdLst/>
              <a:ahLst/>
              <a:cxnLst/>
              <a:rect r="r" b="b" t="t" l="l"/>
              <a:pathLst>
                <a:path h="547408" w="2404720">
                  <a:moveTo>
                    <a:pt x="0" y="0"/>
                  </a:moveTo>
                  <a:lnTo>
                    <a:pt x="2404720" y="0"/>
                  </a:lnTo>
                  <a:lnTo>
                    <a:pt x="2404720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5596" r="0" b="-3559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404720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Masked Aadhaar / A·C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4259106" y="8686057"/>
            <a:ext cx="1340177" cy="417776"/>
          </a:xfrm>
          <a:custGeom>
            <a:avLst/>
            <a:gdLst/>
            <a:ahLst/>
            <a:cxnLst/>
            <a:rect r="r" b="b" t="t" l="l"/>
            <a:pathLst>
              <a:path h="417776" w="1340177">
                <a:moveTo>
                  <a:pt x="0" y="0"/>
                </a:moveTo>
                <a:lnTo>
                  <a:pt x="1340177" y="0"/>
                </a:lnTo>
                <a:lnTo>
                  <a:pt x="1340177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4266259" y="8686067"/>
            <a:ext cx="1325851" cy="410556"/>
            <a:chOff x="0" y="0"/>
            <a:chExt cx="1767802" cy="5474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67801" cy="547408"/>
            </a:xfrm>
            <a:custGeom>
              <a:avLst/>
              <a:gdLst/>
              <a:ahLst/>
              <a:cxnLst/>
              <a:rect r="r" b="b" t="t" l="l"/>
              <a:pathLst>
                <a:path h="547408" w="1767801">
                  <a:moveTo>
                    <a:pt x="0" y="0"/>
                  </a:moveTo>
                  <a:lnTo>
                    <a:pt x="1767801" y="0"/>
                  </a:lnTo>
                  <a:lnTo>
                    <a:pt x="1767801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925" r="0" b="-129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767802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Privacy Center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0072459" y="9152763"/>
            <a:ext cx="1340177" cy="417776"/>
          </a:xfrm>
          <a:custGeom>
            <a:avLst/>
            <a:gdLst/>
            <a:ahLst/>
            <a:cxnLst/>
            <a:rect r="r" b="b" t="t" l="l"/>
            <a:pathLst>
              <a:path h="417776" w="1340177">
                <a:moveTo>
                  <a:pt x="0" y="0"/>
                </a:moveTo>
                <a:lnTo>
                  <a:pt x="1340177" y="0"/>
                </a:lnTo>
                <a:lnTo>
                  <a:pt x="1340177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079612" y="9152773"/>
            <a:ext cx="1325851" cy="410556"/>
            <a:chOff x="0" y="0"/>
            <a:chExt cx="1767802" cy="5474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67801" cy="547408"/>
            </a:xfrm>
            <a:custGeom>
              <a:avLst/>
              <a:gdLst/>
              <a:ahLst/>
              <a:cxnLst/>
              <a:rect r="r" b="b" t="t" l="l"/>
              <a:pathLst>
                <a:path h="547408" w="1767801">
                  <a:moveTo>
                    <a:pt x="0" y="0"/>
                  </a:moveTo>
                  <a:lnTo>
                    <a:pt x="1767801" y="0"/>
                  </a:lnTo>
                  <a:lnTo>
                    <a:pt x="1767801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925" r="0" b="-129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767802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Delete My Case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1489055" y="9152763"/>
            <a:ext cx="1738227" cy="417776"/>
          </a:xfrm>
          <a:custGeom>
            <a:avLst/>
            <a:gdLst/>
            <a:ahLst/>
            <a:cxnLst/>
            <a:rect r="r" b="b" t="t" l="l"/>
            <a:pathLst>
              <a:path h="417776" w="1738227">
                <a:moveTo>
                  <a:pt x="0" y="0"/>
                </a:moveTo>
                <a:lnTo>
                  <a:pt x="1738227" y="0"/>
                </a:lnTo>
                <a:lnTo>
                  <a:pt x="1738227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1496208" y="9152773"/>
            <a:ext cx="1723920" cy="410556"/>
            <a:chOff x="0" y="0"/>
            <a:chExt cx="2298560" cy="5474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98560" cy="547408"/>
            </a:xfrm>
            <a:custGeom>
              <a:avLst/>
              <a:gdLst/>
              <a:ahLst/>
              <a:cxnLst/>
              <a:rect r="r" b="b" t="t" l="l"/>
              <a:pathLst>
                <a:path h="547408" w="2298560">
                  <a:moveTo>
                    <a:pt x="0" y="0"/>
                  </a:moveTo>
                  <a:lnTo>
                    <a:pt x="2298560" y="0"/>
                  </a:lnTo>
                  <a:lnTo>
                    <a:pt x="2298560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817" r="0" b="-3181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298560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Source transparency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3303729" y="9152763"/>
            <a:ext cx="2375164" cy="417776"/>
          </a:xfrm>
          <a:custGeom>
            <a:avLst/>
            <a:gdLst/>
            <a:ahLst/>
            <a:cxnLst/>
            <a:rect r="r" b="b" t="t" l="l"/>
            <a:pathLst>
              <a:path h="417776" w="2375164">
                <a:moveTo>
                  <a:pt x="0" y="0"/>
                </a:moveTo>
                <a:lnTo>
                  <a:pt x="2375164" y="0"/>
                </a:lnTo>
                <a:lnTo>
                  <a:pt x="2375164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3310883" y="9152773"/>
            <a:ext cx="2360847" cy="410556"/>
            <a:chOff x="0" y="0"/>
            <a:chExt cx="3147797" cy="54740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47796" cy="547408"/>
            </a:xfrm>
            <a:custGeom>
              <a:avLst/>
              <a:gdLst/>
              <a:ahLst/>
              <a:cxnLst/>
              <a:rect r="r" b="b" t="t" l="l"/>
              <a:pathLst>
                <a:path h="547408" w="3147796">
                  <a:moveTo>
                    <a:pt x="0" y="0"/>
                  </a:moveTo>
                  <a:lnTo>
                    <a:pt x="3147796" y="0"/>
                  </a:lnTo>
                  <a:lnTo>
                    <a:pt x="3147796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2046" r="0" b="-6204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147797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secrets in client / logs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PRODUCT / UX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Designed for a citizen, built for accountability.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09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3827" y="2526935"/>
            <a:ext cx="5515794" cy="5378444"/>
          </a:xfrm>
          <a:custGeom>
            <a:avLst/>
            <a:gdLst/>
            <a:ahLst/>
            <a:cxnLst/>
            <a:rect r="r" b="b" t="t" l="l"/>
            <a:pathLst>
              <a:path h="5378444" w="5515794">
                <a:moveTo>
                  <a:pt x="0" y="0"/>
                </a:moveTo>
                <a:lnTo>
                  <a:pt x="5515794" y="0"/>
                </a:lnTo>
                <a:lnTo>
                  <a:pt x="5515794" y="5378444"/>
                </a:lnTo>
                <a:lnTo>
                  <a:pt x="0" y="537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3827" y="2526935"/>
            <a:ext cx="5515699" cy="464306"/>
          </a:xfrm>
          <a:custGeom>
            <a:avLst/>
            <a:gdLst/>
            <a:ahLst/>
            <a:cxnLst/>
            <a:rect r="r" b="b" t="t" l="l"/>
            <a:pathLst>
              <a:path h="464306" w="5515699">
                <a:moveTo>
                  <a:pt x="0" y="0"/>
                </a:moveTo>
                <a:lnTo>
                  <a:pt x="5515699" y="0"/>
                </a:lnTo>
                <a:lnTo>
                  <a:pt x="5515699" y="464306"/>
                </a:lnTo>
                <a:lnTo>
                  <a:pt x="0" y="464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86333" y="2759069"/>
            <a:ext cx="5490686" cy="219646"/>
            <a:chOff x="0" y="0"/>
            <a:chExt cx="7320915" cy="292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20915" cy="292862"/>
            </a:xfrm>
            <a:custGeom>
              <a:avLst/>
              <a:gdLst/>
              <a:ahLst/>
              <a:cxnLst/>
              <a:rect r="r" b="b" t="t" l="l"/>
              <a:pathLst>
                <a:path h="292862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243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1059" y="2690441"/>
            <a:ext cx="109728" cy="109728"/>
            <a:chOff x="0" y="0"/>
            <a:chExt cx="146304" cy="1463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43235" y="2690441"/>
            <a:ext cx="109728" cy="109728"/>
            <a:chOff x="0" y="0"/>
            <a:chExt cx="146304" cy="1463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5402" y="2690441"/>
            <a:ext cx="109728" cy="109728"/>
            <a:chOff x="0" y="0"/>
            <a:chExt cx="146304" cy="146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509941" y="2550928"/>
            <a:ext cx="4529823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HAQ — Case Dashboard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75548" y="3140459"/>
            <a:ext cx="2092366" cy="445208"/>
          </a:xfrm>
          <a:custGeom>
            <a:avLst/>
            <a:gdLst/>
            <a:ahLst/>
            <a:cxnLst/>
            <a:rect r="r" b="b" t="t" l="l"/>
            <a:pathLst>
              <a:path h="445208" w="2092366">
                <a:moveTo>
                  <a:pt x="0" y="0"/>
                </a:moveTo>
                <a:lnTo>
                  <a:pt x="2092366" y="0"/>
                </a:lnTo>
                <a:lnTo>
                  <a:pt x="2092366" y="445208"/>
                </a:lnTo>
                <a:lnTo>
                  <a:pt x="0" y="4452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82701" y="3133325"/>
            <a:ext cx="2078069" cy="445151"/>
            <a:chOff x="0" y="0"/>
            <a:chExt cx="2770759" cy="5935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70759" cy="593534"/>
            </a:xfrm>
            <a:custGeom>
              <a:avLst/>
              <a:gdLst/>
              <a:ahLst/>
              <a:cxnLst/>
              <a:rect r="r" b="b" t="t" l="l"/>
              <a:pathLst>
                <a:path h="593534" w="2770759">
                  <a:moveTo>
                    <a:pt x="0" y="0"/>
                  </a:moveTo>
                  <a:lnTo>
                    <a:pt x="2770759" y="0"/>
                  </a:lnTo>
                  <a:lnTo>
                    <a:pt x="2770759" y="593534"/>
                  </a:lnTo>
                  <a:lnTo>
                    <a:pt x="0" y="59353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960" r="0" b="-409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770759" cy="612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"/>
                </a:lnSpc>
              </a:pPr>
              <a:r>
                <a:rPr lang="en-US" sz="12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HAQ-883E…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3071832" y="3140459"/>
            <a:ext cx="1612021" cy="445208"/>
          </a:xfrm>
          <a:custGeom>
            <a:avLst/>
            <a:gdLst/>
            <a:ahLst/>
            <a:cxnLst/>
            <a:rect r="r" b="b" t="t" l="l"/>
            <a:pathLst>
              <a:path h="445208" w="1612021">
                <a:moveTo>
                  <a:pt x="0" y="0"/>
                </a:moveTo>
                <a:lnTo>
                  <a:pt x="1612020" y="0"/>
                </a:lnTo>
                <a:lnTo>
                  <a:pt x="1612020" y="445208"/>
                </a:lnTo>
                <a:lnTo>
                  <a:pt x="0" y="4452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078985" y="3133325"/>
            <a:ext cx="1597638" cy="445151"/>
            <a:chOff x="0" y="0"/>
            <a:chExt cx="2130184" cy="5935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30184" cy="593534"/>
            </a:xfrm>
            <a:custGeom>
              <a:avLst/>
              <a:gdLst/>
              <a:ahLst/>
              <a:cxnLst/>
              <a:rect r="r" b="b" t="t" l="l"/>
              <a:pathLst>
                <a:path h="593534" w="2130184">
                  <a:moveTo>
                    <a:pt x="0" y="0"/>
                  </a:moveTo>
                  <a:lnTo>
                    <a:pt x="2130184" y="0"/>
                  </a:lnTo>
                  <a:lnTo>
                    <a:pt x="2130184" y="593534"/>
                  </a:lnTo>
                  <a:lnTo>
                    <a:pt x="0" y="59353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931" r="0" b="-199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130184" cy="612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"/>
                </a:lnSpc>
              </a:pPr>
              <a:r>
                <a:rPr lang="en-US" sz="1200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MODE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92235" y="3668116"/>
            <a:ext cx="5078892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Shantabai Pawar · Pension · Nashik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75548" y="4142508"/>
            <a:ext cx="2504227" cy="417776"/>
          </a:xfrm>
          <a:custGeom>
            <a:avLst/>
            <a:gdLst/>
            <a:ahLst/>
            <a:cxnLst/>
            <a:rect r="r" b="b" t="t" l="l"/>
            <a:pathLst>
              <a:path h="417776" w="2504227">
                <a:moveTo>
                  <a:pt x="0" y="0"/>
                </a:moveTo>
                <a:lnTo>
                  <a:pt x="2504227" y="0"/>
                </a:lnTo>
                <a:lnTo>
                  <a:pt x="2504227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882701" y="4142518"/>
            <a:ext cx="2489873" cy="410556"/>
            <a:chOff x="0" y="0"/>
            <a:chExt cx="3319831" cy="5474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19831" cy="547408"/>
            </a:xfrm>
            <a:custGeom>
              <a:avLst/>
              <a:gdLst/>
              <a:ahLst/>
              <a:cxnLst/>
              <a:rect r="r" b="b" t="t" l="l"/>
              <a:pathLst>
                <a:path h="547408" w="3319831">
                  <a:moveTo>
                    <a:pt x="0" y="0"/>
                  </a:moveTo>
                  <a:lnTo>
                    <a:pt x="3319831" y="0"/>
                  </a:lnTo>
                  <a:lnTo>
                    <a:pt x="3319831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8169" r="0" b="-6816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319831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8E9FB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Aadhaar XXXX XXXX 2109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483626" y="4142508"/>
            <a:ext cx="1817856" cy="417776"/>
          </a:xfrm>
          <a:custGeom>
            <a:avLst/>
            <a:gdLst/>
            <a:ahLst/>
            <a:cxnLst/>
            <a:rect r="r" b="b" t="t" l="l"/>
            <a:pathLst>
              <a:path h="417776" w="1817856">
                <a:moveTo>
                  <a:pt x="0" y="0"/>
                </a:moveTo>
                <a:lnTo>
                  <a:pt x="1817856" y="0"/>
                </a:lnTo>
                <a:lnTo>
                  <a:pt x="1817856" y="417776"/>
                </a:lnTo>
                <a:lnTo>
                  <a:pt x="0" y="4177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3490779" y="4142518"/>
            <a:ext cx="1803540" cy="410556"/>
            <a:chOff x="0" y="0"/>
            <a:chExt cx="2404720" cy="5474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04720" cy="547408"/>
            </a:xfrm>
            <a:custGeom>
              <a:avLst/>
              <a:gdLst/>
              <a:ahLst/>
              <a:cxnLst/>
              <a:rect r="r" b="b" t="t" l="l"/>
              <a:pathLst>
                <a:path h="547408" w="2404720">
                  <a:moveTo>
                    <a:pt x="0" y="0"/>
                  </a:moveTo>
                  <a:lnTo>
                    <a:pt x="2404720" y="0"/>
                  </a:lnTo>
                  <a:lnTo>
                    <a:pt x="2404720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5596" r="0" b="-3559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404720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8E9FB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A/C XXXX4521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875548" y="4691577"/>
            <a:ext cx="5112268" cy="500072"/>
          </a:xfrm>
          <a:custGeom>
            <a:avLst/>
            <a:gdLst/>
            <a:ahLst/>
            <a:cxnLst/>
            <a:rect r="r" b="b" t="t" l="l"/>
            <a:pathLst>
              <a:path h="500072" w="5112268">
                <a:moveTo>
                  <a:pt x="0" y="0"/>
                </a:moveTo>
                <a:lnTo>
                  <a:pt x="5112267" y="0"/>
                </a:lnTo>
                <a:lnTo>
                  <a:pt x="5112267" y="500072"/>
                </a:lnTo>
                <a:lnTo>
                  <a:pt x="0" y="50007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882701" y="4684443"/>
            <a:ext cx="5097951" cy="500062"/>
            <a:chOff x="0" y="0"/>
            <a:chExt cx="6797269" cy="6667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97268" cy="666750"/>
            </a:xfrm>
            <a:custGeom>
              <a:avLst/>
              <a:gdLst/>
              <a:ahLst/>
              <a:cxnLst/>
              <a:rect r="r" b="b" t="t" l="l"/>
              <a:pathLst>
                <a:path h="666750" w="6797268">
                  <a:moveTo>
                    <a:pt x="0" y="0"/>
                  </a:moveTo>
                  <a:lnTo>
                    <a:pt x="6797268" y="0"/>
                  </a:lnTo>
                  <a:lnTo>
                    <a:pt x="6797268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8642" r="0" b="-1486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797269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DORMANT_MAPPED_ACCOUNT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92235" y="5227634"/>
            <a:ext cx="5078892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PLAN v2 · 6 steps · 8 verified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92235" y="5765225"/>
            <a:ext cx="5078920" cy="192214"/>
            <a:chOff x="0" y="0"/>
            <a:chExt cx="6771894" cy="25628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71894" cy="256286"/>
            </a:xfrm>
            <a:custGeom>
              <a:avLst/>
              <a:gdLst/>
              <a:ahLst/>
              <a:cxnLst/>
              <a:rect r="r" b="b" t="t" l="l"/>
              <a:pathLst>
                <a:path h="256286" w="6771894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6643751" y="0"/>
                  </a:lnTo>
                  <a:cubicBezTo>
                    <a:pt x="6714490" y="0"/>
                    <a:pt x="6771894" y="57404"/>
                    <a:pt x="6771894" y="128143"/>
                  </a:cubicBezTo>
                  <a:cubicBezTo>
                    <a:pt x="6771894" y="198882"/>
                    <a:pt x="6714490" y="256286"/>
                    <a:pt x="6643751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18243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92235" y="5765225"/>
            <a:ext cx="3555206" cy="192214"/>
            <a:chOff x="0" y="0"/>
            <a:chExt cx="4740275" cy="25628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40275" cy="256286"/>
            </a:xfrm>
            <a:custGeom>
              <a:avLst/>
              <a:gdLst/>
              <a:ahLst/>
              <a:cxnLst/>
              <a:rect r="r" b="b" t="t" l="l"/>
              <a:pathLst>
                <a:path h="256286" w="4740275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4612132" y="0"/>
                  </a:lnTo>
                  <a:cubicBezTo>
                    <a:pt x="4682871" y="0"/>
                    <a:pt x="4740275" y="57404"/>
                    <a:pt x="4740275" y="128143"/>
                  </a:cubicBezTo>
                  <a:cubicBezTo>
                    <a:pt x="4740275" y="198882"/>
                    <a:pt x="4682871" y="256286"/>
                    <a:pt x="4612132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2EC27E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92235" y="6177029"/>
            <a:ext cx="5078920" cy="192214"/>
            <a:chOff x="0" y="0"/>
            <a:chExt cx="6771894" cy="25628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71894" cy="256286"/>
            </a:xfrm>
            <a:custGeom>
              <a:avLst/>
              <a:gdLst/>
              <a:ahLst/>
              <a:cxnLst/>
              <a:rect r="r" b="b" t="t" l="l"/>
              <a:pathLst>
                <a:path h="256286" w="6771894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6643751" y="0"/>
                  </a:lnTo>
                  <a:cubicBezTo>
                    <a:pt x="6714490" y="0"/>
                    <a:pt x="6771894" y="57404"/>
                    <a:pt x="6771894" y="128143"/>
                  </a:cubicBezTo>
                  <a:cubicBezTo>
                    <a:pt x="6771894" y="198882"/>
                    <a:pt x="6714490" y="256286"/>
                    <a:pt x="6643751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18243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92235" y="6177029"/>
            <a:ext cx="2285524" cy="192214"/>
            <a:chOff x="0" y="0"/>
            <a:chExt cx="3047365" cy="25628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47365" cy="256286"/>
            </a:xfrm>
            <a:custGeom>
              <a:avLst/>
              <a:gdLst/>
              <a:ahLst/>
              <a:cxnLst/>
              <a:rect r="r" b="b" t="t" l="l"/>
              <a:pathLst>
                <a:path h="256286" w="3047365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919222" y="0"/>
                  </a:lnTo>
                  <a:cubicBezTo>
                    <a:pt x="2989961" y="0"/>
                    <a:pt x="3047365" y="57404"/>
                    <a:pt x="3047365" y="128143"/>
                  </a:cubicBezTo>
                  <a:cubicBezTo>
                    <a:pt x="3047365" y="198882"/>
                    <a:pt x="2989961" y="256286"/>
                    <a:pt x="2919222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92235" y="6588824"/>
            <a:ext cx="5078920" cy="192214"/>
            <a:chOff x="0" y="0"/>
            <a:chExt cx="6771894" cy="25628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71894" cy="256286"/>
            </a:xfrm>
            <a:custGeom>
              <a:avLst/>
              <a:gdLst/>
              <a:ahLst/>
              <a:cxnLst/>
              <a:rect r="r" b="b" t="t" l="l"/>
              <a:pathLst>
                <a:path h="256286" w="6771894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6643751" y="0"/>
                  </a:lnTo>
                  <a:cubicBezTo>
                    <a:pt x="6714490" y="0"/>
                    <a:pt x="6771894" y="57404"/>
                    <a:pt x="6771894" y="128143"/>
                  </a:cubicBezTo>
                  <a:cubicBezTo>
                    <a:pt x="6771894" y="198882"/>
                    <a:pt x="6714490" y="256286"/>
                    <a:pt x="6643751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18243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92235" y="6588824"/>
            <a:ext cx="1015841" cy="192214"/>
            <a:chOff x="0" y="0"/>
            <a:chExt cx="1354455" cy="25628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54455" cy="256286"/>
            </a:xfrm>
            <a:custGeom>
              <a:avLst/>
              <a:gdLst/>
              <a:ahLst/>
              <a:cxnLst/>
              <a:rect r="r" b="b" t="t" l="l"/>
              <a:pathLst>
                <a:path h="256286" w="1354455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226312" y="0"/>
                  </a:lnTo>
                  <a:cubicBezTo>
                    <a:pt x="1297051" y="0"/>
                    <a:pt x="1354455" y="57404"/>
                    <a:pt x="1354455" y="128143"/>
                  </a:cubicBezTo>
                  <a:cubicBezTo>
                    <a:pt x="1354455" y="198882"/>
                    <a:pt x="1297051" y="256286"/>
                    <a:pt x="1226312" y="256286"/>
                  </a:cubicBezTo>
                  <a:lnTo>
                    <a:pt x="128143" y="256286"/>
                  </a:ln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3A4E78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892235" y="7168429"/>
            <a:ext cx="5078892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12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Payment status: pending · watchdog day 2/7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6411592" y="2526935"/>
            <a:ext cx="5515794" cy="5378444"/>
          </a:xfrm>
          <a:custGeom>
            <a:avLst/>
            <a:gdLst/>
            <a:ahLst/>
            <a:cxnLst/>
            <a:rect r="r" b="b" t="t" l="l"/>
            <a:pathLst>
              <a:path h="5378444" w="5515794">
                <a:moveTo>
                  <a:pt x="0" y="0"/>
                </a:moveTo>
                <a:lnTo>
                  <a:pt x="5515794" y="0"/>
                </a:lnTo>
                <a:lnTo>
                  <a:pt x="5515794" y="5378444"/>
                </a:lnTo>
                <a:lnTo>
                  <a:pt x="0" y="537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6411592" y="2526935"/>
            <a:ext cx="5515699" cy="464306"/>
          </a:xfrm>
          <a:custGeom>
            <a:avLst/>
            <a:gdLst/>
            <a:ahLst/>
            <a:cxnLst/>
            <a:rect r="r" b="b" t="t" l="l"/>
            <a:pathLst>
              <a:path h="464306" w="5515699">
                <a:moveTo>
                  <a:pt x="0" y="0"/>
                </a:moveTo>
                <a:lnTo>
                  <a:pt x="5515699" y="0"/>
                </a:lnTo>
                <a:lnTo>
                  <a:pt x="5515699" y="464306"/>
                </a:lnTo>
                <a:lnTo>
                  <a:pt x="0" y="464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6424108" y="2759069"/>
            <a:ext cx="5490686" cy="219646"/>
            <a:chOff x="0" y="0"/>
            <a:chExt cx="7320915" cy="29286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20915" cy="292862"/>
            </a:xfrm>
            <a:custGeom>
              <a:avLst/>
              <a:gdLst/>
              <a:ahLst/>
              <a:cxnLst/>
              <a:rect r="r" b="b" t="t" l="l"/>
              <a:pathLst>
                <a:path h="292862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243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588824" y="2690441"/>
            <a:ext cx="109728" cy="109728"/>
            <a:chOff x="0" y="0"/>
            <a:chExt cx="146304" cy="14630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781000" y="2690441"/>
            <a:ext cx="109728" cy="109728"/>
            <a:chOff x="0" y="0"/>
            <a:chExt cx="146304" cy="14630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973176" y="2690441"/>
            <a:ext cx="109728" cy="109728"/>
            <a:chOff x="0" y="0"/>
            <a:chExt cx="146304" cy="14630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7247706" y="2550928"/>
            <a:ext cx="4529823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HAQ — Agent Activity · Tool Trace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0">
            <a:off x="6576317" y="3213268"/>
            <a:ext cx="5186229" cy="601561"/>
          </a:xfrm>
          <a:custGeom>
            <a:avLst/>
            <a:gdLst/>
            <a:ahLst/>
            <a:cxnLst/>
            <a:rect r="r" b="b" t="t" l="l"/>
            <a:pathLst>
              <a:path h="601561" w="5186229">
                <a:moveTo>
                  <a:pt x="0" y="0"/>
                </a:moveTo>
                <a:lnTo>
                  <a:pt x="5186229" y="0"/>
                </a:lnTo>
                <a:lnTo>
                  <a:pt x="5186229" y="601561"/>
                </a:lnTo>
                <a:lnTo>
                  <a:pt x="0" y="6015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6767274" y="3253235"/>
            <a:ext cx="3500314" cy="549069"/>
            <a:chOff x="0" y="0"/>
            <a:chExt cx="4667085" cy="7320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67123" cy="732155"/>
            </a:xfrm>
            <a:custGeom>
              <a:avLst/>
              <a:gdLst/>
              <a:ahLst/>
              <a:cxnLst/>
              <a:rect r="r" b="b" t="t" l="l"/>
              <a:pathLst>
                <a:path h="732155" w="4667123">
                  <a:moveTo>
                    <a:pt x="0" y="0"/>
                  </a:moveTo>
                  <a:lnTo>
                    <a:pt x="4667123" y="0"/>
                  </a:lnTo>
                  <a:lnTo>
                    <a:pt x="4667123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0" t="-74124" r="0" b="-74114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767274" y="3253235"/>
            <a:ext cx="3500314" cy="549069"/>
            <a:chOff x="0" y="0"/>
            <a:chExt cx="4667085" cy="7320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667085" cy="732092"/>
            </a:xfrm>
            <a:custGeom>
              <a:avLst/>
              <a:gdLst/>
              <a:ahLst/>
              <a:cxnLst/>
              <a:rect r="r" b="b" t="t" l="l"/>
              <a:pathLst>
                <a:path h="732092" w="4667085">
                  <a:moveTo>
                    <a:pt x="0" y="0"/>
                  </a:moveTo>
                  <a:lnTo>
                    <a:pt x="4667085" y="0"/>
                  </a:lnTo>
                  <a:lnTo>
                    <a:pt x="46670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466708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82"/>
                </a:lnSpc>
              </a:pPr>
              <a:r>
                <a:rPr lang="en-US" sz="11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SAMVAAD  </a:t>
              </a: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identity graph · 6 fields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0679392" y="3259398"/>
            <a:ext cx="823608" cy="46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0" b="true">
                <a:solidFill>
                  <a:srgbClr val="2EC27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6576317" y="3899602"/>
            <a:ext cx="5186229" cy="601561"/>
          </a:xfrm>
          <a:custGeom>
            <a:avLst/>
            <a:gdLst/>
            <a:ahLst/>
            <a:cxnLst/>
            <a:rect r="r" b="b" t="t" l="l"/>
            <a:pathLst>
              <a:path h="601561" w="5186229">
                <a:moveTo>
                  <a:pt x="0" y="0"/>
                </a:moveTo>
                <a:lnTo>
                  <a:pt x="5186229" y="0"/>
                </a:lnTo>
                <a:lnTo>
                  <a:pt x="5186229" y="601561"/>
                </a:lnTo>
                <a:lnTo>
                  <a:pt x="0" y="6015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6767274" y="3939569"/>
            <a:ext cx="3500314" cy="549069"/>
            <a:chOff x="0" y="0"/>
            <a:chExt cx="4667085" cy="7320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667123" cy="732155"/>
            </a:xfrm>
            <a:custGeom>
              <a:avLst/>
              <a:gdLst/>
              <a:ahLst/>
              <a:cxnLst/>
              <a:rect r="r" b="b" t="t" l="l"/>
              <a:pathLst>
                <a:path h="732155" w="4667123">
                  <a:moveTo>
                    <a:pt x="0" y="0"/>
                  </a:moveTo>
                  <a:lnTo>
                    <a:pt x="4667123" y="0"/>
                  </a:lnTo>
                  <a:lnTo>
                    <a:pt x="4667123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0" t="-74124" r="0" b="-74114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767274" y="3939569"/>
            <a:ext cx="3500314" cy="549069"/>
            <a:chOff x="0" y="0"/>
            <a:chExt cx="4667085" cy="7320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667085" cy="732092"/>
            </a:xfrm>
            <a:custGeom>
              <a:avLst/>
              <a:gdLst/>
              <a:ahLst/>
              <a:cxnLst/>
              <a:rect r="r" b="b" t="t" l="l"/>
              <a:pathLst>
                <a:path h="732092" w="4667085">
                  <a:moveTo>
                    <a:pt x="0" y="0"/>
                  </a:moveTo>
                  <a:lnTo>
                    <a:pt x="4667085" y="0"/>
                  </a:lnTo>
                  <a:lnTo>
                    <a:pt x="46670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66708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82"/>
                </a:lnSpc>
              </a:pPr>
              <a:r>
                <a:rPr lang="en-US" sz="11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KHOJ  </a:t>
              </a: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SCHEME_STATUS call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10525439" y="3991518"/>
            <a:ext cx="1062904" cy="417681"/>
          </a:xfrm>
          <a:custGeom>
            <a:avLst/>
            <a:gdLst/>
            <a:ahLst/>
            <a:cxnLst/>
            <a:rect r="r" b="b" t="t" l="l"/>
            <a:pathLst>
              <a:path h="417681" w="1062904">
                <a:moveTo>
                  <a:pt x="0" y="0"/>
                </a:moveTo>
                <a:lnTo>
                  <a:pt x="1062905" y="0"/>
                </a:lnTo>
                <a:lnTo>
                  <a:pt x="1062905" y="417681"/>
                </a:lnTo>
                <a:lnTo>
                  <a:pt x="0" y="41768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0532593" y="3991527"/>
            <a:ext cx="1048569" cy="410556"/>
            <a:chOff x="0" y="0"/>
            <a:chExt cx="1398092" cy="54740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98092" cy="547408"/>
            </a:xfrm>
            <a:custGeom>
              <a:avLst/>
              <a:gdLst/>
              <a:ahLst/>
              <a:cxnLst/>
              <a:rect r="r" b="b" t="t" l="l"/>
              <a:pathLst>
                <a:path h="547408" w="1398092">
                  <a:moveTo>
                    <a:pt x="0" y="0"/>
                  </a:moveTo>
                  <a:lnTo>
                    <a:pt x="1398092" y="0"/>
                  </a:lnTo>
                  <a:lnTo>
                    <a:pt x="1398092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35" t="0" r="-235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1398092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C9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6576317" y="4585945"/>
            <a:ext cx="5186229" cy="601561"/>
          </a:xfrm>
          <a:custGeom>
            <a:avLst/>
            <a:gdLst/>
            <a:ahLst/>
            <a:cxnLst/>
            <a:rect r="r" b="b" t="t" l="l"/>
            <a:pathLst>
              <a:path h="601561" w="5186229">
                <a:moveTo>
                  <a:pt x="0" y="0"/>
                </a:moveTo>
                <a:lnTo>
                  <a:pt x="5186229" y="0"/>
                </a:lnTo>
                <a:lnTo>
                  <a:pt x="5186229" y="601561"/>
                </a:lnTo>
                <a:lnTo>
                  <a:pt x="0" y="6015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6767274" y="4625902"/>
            <a:ext cx="3500314" cy="549069"/>
            <a:chOff x="0" y="0"/>
            <a:chExt cx="4667085" cy="7320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667123" cy="732155"/>
            </a:xfrm>
            <a:custGeom>
              <a:avLst/>
              <a:gdLst/>
              <a:ahLst/>
              <a:cxnLst/>
              <a:rect r="r" b="b" t="t" l="l"/>
              <a:pathLst>
                <a:path h="732155" w="4667123">
                  <a:moveTo>
                    <a:pt x="0" y="0"/>
                  </a:moveTo>
                  <a:lnTo>
                    <a:pt x="4667123" y="0"/>
                  </a:lnTo>
                  <a:lnTo>
                    <a:pt x="4667123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0" t="-74124" r="0" b="-74114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767274" y="4625902"/>
            <a:ext cx="3500314" cy="549069"/>
            <a:chOff x="0" y="0"/>
            <a:chExt cx="4667085" cy="7320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67085" cy="732092"/>
            </a:xfrm>
            <a:custGeom>
              <a:avLst/>
              <a:gdLst/>
              <a:ahLst/>
              <a:cxnLst/>
              <a:rect r="r" b="b" t="t" l="l"/>
              <a:pathLst>
                <a:path h="732092" w="4667085">
                  <a:moveTo>
                    <a:pt x="0" y="0"/>
                  </a:moveTo>
                  <a:lnTo>
                    <a:pt x="4667085" y="0"/>
                  </a:lnTo>
                  <a:lnTo>
                    <a:pt x="46670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466708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82"/>
                </a:lnSpc>
              </a:pPr>
              <a:r>
                <a:rPr lang="en-US" sz="11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KHOJ  </a:t>
              </a: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IFSC_LOOKUP call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10525439" y="4677851"/>
            <a:ext cx="1062904" cy="417681"/>
          </a:xfrm>
          <a:custGeom>
            <a:avLst/>
            <a:gdLst/>
            <a:ahLst/>
            <a:cxnLst/>
            <a:rect r="r" b="b" t="t" l="l"/>
            <a:pathLst>
              <a:path h="417681" w="1062904">
                <a:moveTo>
                  <a:pt x="0" y="0"/>
                </a:moveTo>
                <a:lnTo>
                  <a:pt x="1062905" y="0"/>
                </a:lnTo>
                <a:lnTo>
                  <a:pt x="1062905" y="417681"/>
                </a:lnTo>
                <a:lnTo>
                  <a:pt x="0" y="4176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0532593" y="4677861"/>
            <a:ext cx="1048569" cy="410556"/>
            <a:chOff x="0" y="0"/>
            <a:chExt cx="1398092" cy="54740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98092" cy="547408"/>
            </a:xfrm>
            <a:custGeom>
              <a:avLst/>
              <a:gdLst/>
              <a:ahLst/>
              <a:cxnLst/>
              <a:rect r="r" b="b" t="t" l="l"/>
              <a:pathLst>
                <a:path h="547408" w="1398092">
                  <a:moveTo>
                    <a:pt x="0" y="0"/>
                  </a:moveTo>
                  <a:lnTo>
                    <a:pt x="1398092" y="0"/>
                  </a:lnTo>
                  <a:lnTo>
                    <a:pt x="1398092" y="547408"/>
                  </a:lnTo>
                  <a:lnTo>
                    <a:pt x="0" y="547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35" t="0" r="-235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398092" cy="556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2EC27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6576317" y="5272278"/>
            <a:ext cx="5186229" cy="601561"/>
          </a:xfrm>
          <a:custGeom>
            <a:avLst/>
            <a:gdLst/>
            <a:ahLst/>
            <a:cxnLst/>
            <a:rect r="r" b="b" t="t" l="l"/>
            <a:pathLst>
              <a:path h="601561" w="5186229">
                <a:moveTo>
                  <a:pt x="0" y="0"/>
                </a:moveTo>
                <a:lnTo>
                  <a:pt x="5186229" y="0"/>
                </a:lnTo>
                <a:lnTo>
                  <a:pt x="5186229" y="601561"/>
                </a:lnTo>
                <a:lnTo>
                  <a:pt x="0" y="6015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6767274" y="5312245"/>
            <a:ext cx="3500314" cy="549069"/>
            <a:chOff x="0" y="0"/>
            <a:chExt cx="4667085" cy="7320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667123" cy="732155"/>
            </a:xfrm>
            <a:custGeom>
              <a:avLst/>
              <a:gdLst/>
              <a:ahLst/>
              <a:cxnLst/>
              <a:rect r="r" b="b" t="t" l="l"/>
              <a:pathLst>
                <a:path h="732155" w="4667123">
                  <a:moveTo>
                    <a:pt x="0" y="0"/>
                  </a:moveTo>
                  <a:lnTo>
                    <a:pt x="4667123" y="0"/>
                  </a:lnTo>
                  <a:lnTo>
                    <a:pt x="4667123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0" t="-74124" r="0" b="-74114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767274" y="5312245"/>
            <a:ext cx="3500314" cy="549069"/>
            <a:chOff x="0" y="0"/>
            <a:chExt cx="4667085" cy="7320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667085" cy="732092"/>
            </a:xfrm>
            <a:custGeom>
              <a:avLst/>
              <a:gdLst/>
              <a:ahLst/>
              <a:cxnLst/>
              <a:rect r="r" b="b" t="t" l="l"/>
              <a:pathLst>
                <a:path h="732092" w="4667085">
                  <a:moveTo>
                    <a:pt x="0" y="0"/>
                  </a:moveTo>
                  <a:lnTo>
                    <a:pt x="4667085" y="0"/>
                  </a:lnTo>
                  <a:lnTo>
                    <a:pt x="46670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66708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82"/>
                </a:lnSpc>
              </a:pPr>
              <a:r>
                <a:rPr lang="en-US" sz="11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NIDAAN  </a:t>
              </a: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DORMANT_MAPPED_ACCOUNT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0679392" y="5318398"/>
            <a:ext cx="823608" cy="46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0" b="true">
                <a:solidFill>
                  <a:srgbClr val="FF9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Freeform 106" id="106"/>
          <p:cNvSpPr/>
          <p:nvPr/>
        </p:nvSpPr>
        <p:spPr>
          <a:xfrm flipH="false" flipV="false" rot="0">
            <a:off x="6576317" y="5958611"/>
            <a:ext cx="5186229" cy="601561"/>
          </a:xfrm>
          <a:custGeom>
            <a:avLst/>
            <a:gdLst/>
            <a:ahLst/>
            <a:cxnLst/>
            <a:rect r="r" b="b" t="t" l="l"/>
            <a:pathLst>
              <a:path h="601561" w="5186229">
                <a:moveTo>
                  <a:pt x="0" y="0"/>
                </a:moveTo>
                <a:lnTo>
                  <a:pt x="5186229" y="0"/>
                </a:lnTo>
                <a:lnTo>
                  <a:pt x="5186229" y="601561"/>
                </a:lnTo>
                <a:lnTo>
                  <a:pt x="0" y="6015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6767274" y="5998578"/>
            <a:ext cx="3500314" cy="549069"/>
            <a:chOff x="0" y="0"/>
            <a:chExt cx="4667085" cy="7320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667123" cy="732155"/>
            </a:xfrm>
            <a:custGeom>
              <a:avLst/>
              <a:gdLst/>
              <a:ahLst/>
              <a:cxnLst/>
              <a:rect r="r" b="b" t="t" l="l"/>
              <a:pathLst>
                <a:path h="732155" w="4667123">
                  <a:moveTo>
                    <a:pt x="0" y="0"/>
                  </a:moveTo>
                  <a:lnTo>
                    <a:pt x="4667123" y="0"/>
                  </a:lnTo>
                  <a:lnTo>
                    <a:pt x="4667123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0" t="-74124" r="0" b="-74114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767274" y="5998578"/>
            <a:ext cx="3500314" cy="549069"/>
            <a:chOff x="0" y="0"/>
            <a:chExt cx="4667085" cy="7320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667085" cy="732092"/>
            </a:xfrm>
            <a:custGeom>
              <a:avLst/>
              <a:gdLst/>
              <a:ahLst/>
              <a:cxnLst/>
              <a:rect r="r" b="b" t="t" l="l"/>
              <a:pathLst>
                <a:path h="732092" w="4667085">
                  <a:moveTo>
                    <a:pt x="0" y="0"/>
                  </a:moveTo>
                  <a:lnTo>
                    <a:pt x="4667085" y="0"/>
                  </a:lnTo>
                  <a:lnTo>
                    <a:pt x="46670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466708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82"/>
                </a:lnSpc>
              </a:pPr>
              <a:r>
                <a:rPr lang="en-US" sz="11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YOJNA  </a:t>
              </a: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plan v2 generated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10679392" y="6004741"/>
            <a:ext cx="823608" cy="46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0" b="true">
                <a:solidFill>
                  <a:srgbClr val="FF9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Freeform 113" id="113"/>
          <p:cNvSpPr/>
          <p:nvPr/>
        </p:nvSpPr>
        <p:spPr>
          <a:xfrm flipH="false" flipV="false" rot="0">
            <a:off x="6576317" y="6644945"/>
            <a:ext cx="5186229" cy="601561"/>
          </a:xfrm>
          <a:custGeom>
            <a:avLst/>
            <a:gdLst/>
            <a:ahLst/>
            <a:cxnLst/>
            <a:rect r="r" b="b" t="t" l="l"/>
            <a:pathLst>
              <a:path h="601561" w="5186229">
                <a:moveTo>
                  <a:pt x="0" y="0"/>
                </a:moveTo>
                <a:lnTo>
                  <a:pt x="5186229" y="0"/>
                </a:lnTo>
                <a:lnTo>
                  <a:pt x="5186229" y="601561"/>
                </a:lnTo>
                <a:lnTo>
                  <a:pt x="0" y="6015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6767274" y="6684912"/>
            <a:ext cx="3500314" cy="549069"/>
            <a:chOff x="0" y="0"/>
            <a:chExt cx="4667085" cy="7320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667123" cy="732155"/>
            </a:xfrm>
            <a:custGeom>
              <a:avLst/>
              <a:gdLst/>
              <a:ahLst/>
              <a:cxnLst/>
              <a:rect r="r" b="b" t="t" l="l"/>
              <a:pathLst>
                <a:path h="732155" w="4667123">
                  <a:moveTo>
                    <a:pt x="0" y="0"/>
                  </a:moveTo>
                  <a:lnTo>
                    <a:pt x="4667123" y="0"/>
                  </a:lnTo>
                  <a:lnTo>
                    <a:pt x="4667123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0" t="-74124" r="0" b="-74114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767274" y="6684912"/>
            <a:ext cx="3500314" cy="549069"/>
            <a:chOff x="0" y="0"/>
            <a:chExt cx="4667085" cy="7320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667085" cy="732092"/>
            </a:xfrm>
            <a:custGeom>
              <a:avLst/>
              <a:gdLst/>
              <a:ahLst/>
              <a:cxnLst/>
              <a:rect r="r" b="b" t="t" l="l"/>
              <a:pathLst>
                <a:path h="732092" w="4667085">
                  <a:moveTo>
                    <a:pt x="0" y="0"/>
                  </a:moveTo>
                  <a:lnTo>
                    <a:pt x="4667085" y="0"/>
                  </a:lnTo>
                  <a:lnTo>
                    <a:pt x="466708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466708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82"/>
                </a:lnSpc>
              </a:pPr>
              <a:r>
                <a:rPr lang="en-US" sz="11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SATYAPAN  </a:t>
              </a:r>
              <a:r>
                <a:rPr lang="en-US" sz="1125">
                  <a:solidFill>
                    <a:srgbClr val="8E9FBA"/>
                  </a:solidFill>
                  <a:latin typeface="Arial"/>
                  <a:ea typeface="Arial"/>
                  <a:cs typeface="Arial"/>
                  <a:sym typeface="Arial"/>
                </a:rPr>
                <a:t>9 docs invalidated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10679392" y="6691074"/>
            <a:ext cx="823608" cy="46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350" b="true">
                <a:solidFill>
                  <a:srgbClr val="F05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6630010" y="7305694"/>
            <a:ext cx="5078892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12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62 case events · timestamps IST</a:t>
            </a:r>
          </a:p>
        </p:txBody>
      </p:sp>
      <p:sp>
        <p:nvSpPr>
          <p:cNvPr name="Freeform 121" id="121"/>
          <p:cNvSpPr/>
          <p:nvPr/>
        </p:nvSpPr>
        <p:spPr>
          <a:xfrm flipH="false" flipV="false" rot="0">
            <a:off x="12149366" y="2526935"/>
            <a:ext cx="5515794" cy="5378444"/>
          </a:xfrm>
          <a:custGeom>
            <a:avLst/>
            <a:gdLst/>
            <a:ahLst/>
            <a:cxnLst/>
            <a:rect r="r" b="b" t="t" l="l"/>
            <a:pathLst>
              <a:path h="5378444" w="5515794">
                <a:moveTo>
                  <a:pt x="0" y="0"/>
                </a:moveTo>
                <a:lnTo>
                  <a:pt x="5515794" y="0"/>
                </a:lnTo>
                <a:lnTo>
                  <a:pt x="5515794" y="5378444"/>
                </a:lnTo>
                <a:lnTo>
                  <a:pt x="0" y="537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12149366" y="2526935"/>
            <a:ext cx="5515699" cy="464306"/>
          </a:xfrm>
          <a:custGeom>
            <a:avLst/>
            <a:gdLst/>
            <a:ahLst/>
            <a:cxnLst/>
            <a:rect r="r" b="b" t="t" l="l"/>
            <a:pathLst>
              <a:path h="464306" w="5515699">
                <a:moveTo>
                  <a:pt x="0" y="0"/>
                </a:moveTo>
                <a:lnTo>
                  <a:pt x="5515699" y="0"/>
                </a:lnTo>
                <a:lnTo>
                  <a:pt x="5515699" y="464306"/>
                </a:lnTo>
                <a:lnTo>
                  <a:pt x="0" y="464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3" id="123"/>
          <p:cNvGrpSpPr/>
          <p:nvPr/>
        </p:nvGrpSpPr>
        <p:grpSpPr>
          <a:xfrm rot="0">
            <a:off x="12161872" y="2759069"/>
            <a:ext cx="5490686" cy="219646"/>
            <a:chOff x="0" y="0"/>
            <a:chExt cx="7320915" cy="29286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320915" cy="292862"/>
            </a:xfrm>
            <a:custGeom>
              <a:avLst/>
              <a:gdLst/>
              <a:ahLst/>
              <a:cxnLst/>
              <a:rect r="r" b="b" t="t" l="l"/>
              <a:pathLst>
                <a:path h="292862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8243C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326598" y="2690441"/>
            <a:ext cx="109728" cy="109728"/>
            <a:chOff x="0" y="0"/>
            <a:chExt cx="146304" cy="14630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2518774" y="2690441"/>
            <a:ext cx="109728" cy="109728"/>
            <a:chOff x="0" y="0"/>
            <a:chExt cx="146304" cy="14630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710941" y="2690441"/>
            <a:ext cx="109728" cy="109728"/>
            <a:chOff x="0" y="0"/>
            <a:chExt cx="146304" cy="14630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665"/>
                    <a:pt x="0" y="73152"/>
                  </a:cubicBezTo>
                  <a:close/>
                </a:path>
              </a:pathLst>
            </a:custGeom>
            <a:solidFill>
              <a:srgbClr val="516384"/>
            </a:solidFill>
          </p:spPr>
        </p:sp>
      </p:grpSp>
      <p:sp>
        <p:nvSpPr>
          <p:cNvPr name="TextBox 131" id="131"/>
          <p:cNvSpPr txBox="true"/>
          <p:nvPr/>
        </p:nvSpPr>
        <p:spPr>
          <a:xfrm rot="0">
            <a:off x="12985480" y="2550928"/>
            <a:ext cx="4529823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HAQ — Recovery Plan · Documents</a:t>
            </a:r>
          </a:p>
        </p:txBody>
      </p:sp>
      <p:sp>
        <p:nvSpPr>
          <p:cNvPr name="Freeform 132" id="132"/>
          <p:cNvSpPr/>
          <p:nvPr/>
        </p:nvSpPr>
        <p:spPr>
          <a:xfrm flipH="false" flipV="false" rot="0">
            <a:off x="12351096" y="3140459"/>
            <a:ext cx="1543345" cy="445208"/>
          </a:xfrm>
          <a:custGeom>
            <a:avLst/>
            <a:gdLst/>
            <a:ahLst/>
            <a:cxnLst/>
            <a:rect r="r" b="b" t="t" l="l"/>
            <a:pathLst>
              <a:path h="445208" w="1543345">
                <a:moveTo>
                  <a:pt x="0" y="0"/>
                </a:moveTo>
                <a:lnTo>
                  <a:pt x="1543345" y="0"/>
                </a:lnTo>
                <a:lnTo>
                  <a:pt x="1543345" y="445208"/>
                </a:lnTo>
                <a:lnTo>
                  <a:pt x="0" y="44520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2358249" y="3133325"/>
            <a:ext cx="1529001" cy="445151"/>
            <a:chOff x="0" y="0"/>
            <a:chExt cx="2038668" cy="59353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038668" cy="593534"/>
            </a:xfrm>
            <a:custGeom>
              <a:avLst/>
              <a:gdLst/>
              <a:ahLst/>
              <a:cxnLst/>
              <a:rect r="r" b="b" t="t" l="l"/>
              <a:pathLst>
                <a:path h="593534" w="2038668">
                  <a:moveTo>
                    <a:pt x="0" y="0"/>
                  </a:moveTo>
                  <a:lnTo>
                    <a:pt x="2038668" y="0"/>
                  </a:lnTo>
                  <a:lnTo>
                    <a:pt x="2038668" y="593534"/>
                  </a:lnTo>
                  <a:lnTo>
                    <a:pt x="0" y="59353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7" r="0" b="-1692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2038668" cy="612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40D0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 v2</a:t>
              </a:r>
            </a:p>
          </p:txBody>
        </p:sp>
      </p:grpSp>
      <p:sp>
        <p:nvSpPr>
          <p:cNvPr name="Freeform 136" id="136"/>
          <p:cNvSpPr/>
          <p:nvPr/>
        </p:nvSpPr>
        <p:spPr>
          <a:xfrm flipH="false" flipV="false" rot="0">
            <a:off x="12382719" y="3776062"/>
            <a:ext cx="272091" cy="272091"/>
          </a:xfrm>
          <a:custGeom>
            <a:avLst/>
            <a:gdLst/>
            <a:ahLst/>
            <a:cxnLst/>
            <a:rect r="r" b="b" t="t" l="l"/>
            <a:pathLst>
              <a:path h="272091" w="272091">
                <a:moveTo>
                  <a:pt x="0" y="0"/>
                </a:moveTo>
                <a:lnTo>
                  <a:pt x="272091" y="0"/>
                </a:lnTo>
                <a:lnTo>
                  <a:pt x="272091" y="272092"/>
                </a:lnTo>
                <a:lnTo>
                  <a:pt x="0" y="27209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7" id="137"/>
          <p:cNvSpPr txBox="true"/>
          <p:nvPr/>
        </p:nvSpPr>
        <p:spPr>
          <a:xfrm rot="0">
            <a:off x="12779578" y="3690242"/>
            <a:ext cx="4667088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Re-activate dormant account (bank)</a:t>
            </a:r>
          </a:p>
        </p:txBody>
      </p:sp>
      <p:sp>
        <p:nvSpPr>
          <p:cNvPr name="Freeform 138" id="138"/>
          <p:cNvSpPr/>
          <p:nvPr/>
        </p:nvSpPr>
        <p:spPr>
          <a:xfrm flipH="false" flipV="false" rot="0">
            <a:off x="12382719" y="4242768"/>
            <a:ext cx="272091" cy="272091"/>
          </a:xfrm>
          <a:custGeom>
            <a:avLst/>
            <a:gdLst/>
            <a:ahLst/>
            <a:cxnLst/>
            <a:rect r="r" b="b" t="t" l="l"/>
            <a:pathLst>
              <a:path h="272091" w="272091">
                <a:moveTo>
                  <a:pt x="0" y="0"/>
                </a:moveTo>
                <a:lnTo>
                  <a:pt x="272091" y="0"/>
                </a:lnTo>
                <a:lnTo>
                  <a:pt x="272091" y="272092"/>
                </a:lnTo>
                <a:lnTo>
                  <a:pt x="0" y="27209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9" id="139"/>
          <p:cNvSpPr txBox="true"/>
          <p:nvPr/>
        </p:nvSpPr>
        <p:spPr>
          <a:xfrm rot="0">
            <a:off x="12779578" y="4156958"/>
            <a:ext cx="4667088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Submit re-seeding request (NPCI)</a:t>
            </a:r>
          </a:p>
        </p:txBody>
      </p:sp>
      <p:sp>
        <p:nvSpPr>
          <p:cNvPr name="Freeform 140" id="140"/>
          <p:cNvSpPr/>
          <p:nvPr/>
        </p:nvSpPr>
        <p:spPr>
          <a:xfrm flipH="false" flipV="false" rot="0">
            <a:off x="12382719" y="4709484"/>
            <a:ext cx="272091" cy="272091"/>
          </a:xfrm>
          <a:custGeom>
            <a:avLst/>
            <a:gdLst/>
            <a:ahLst/>
            <a:cxnLst/>
            <a:rect r="r" b="b" t="t" l="l"/>
            <a:pathLst>
              <a:path h="272091" w="272091">
                <a:moveTo>
                  <a:pt x="0" y="0"/>
                </a:moveTo>
                <a:lnTo>
                  <a:pt x="272091" y="0"/>
                </a:lnTo>
                <a:lnTo>
                  <a:pt x="272091" y="272091"/>
                </a:lnTo>
                <a:lnTo>
                  <a:pt x="0" y="27209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1" id="141"/>
          <p:cNvSpPr txBox="true"/>
          <p:nvPr/>
        </p:nvSpPr>
        <p:spPr>
          <a:xfrm rot="0">
            <a:off x="12779578" y="4623664"/>
            <a:ext cx="4667088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Watchdog: follow-up in 7 days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2367774" y="5178057"/>
            <a:ext cx="4118019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12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GENERATED ACTION DOCUMENTS</a:t>
            </a:r>
          </a:p>
        </p:txBody>
      </p:sp>
      <p:sp>
        <p:nvSpPr>
          <p:cNvPr name="Freeform 143" id="143"/>
          <p:cNvSpPr/>
          <p:nvPr/>
        </p:nvSpPr>
        <p:spPr>
          <a:xfrm flipH="false" flipV="false" rot="0">
            <a:off x="12355268" y="5574268"/>
            <a:ext cx="5103933" cy="491738"/>
          </a:xfrm>
          <a:custGeom>
            <a:avLst/>
            <a:gdLst/>
            <a:ahLst/>
            <a:cxnLst/>
            <a:rect r="r" b="b" t="t" l="l"/>
            <a:pathLst>
              <a:path h="491738" w="5103933">
                <a:moveTo>
                  <a:pt x="0" y="0"/>
                </a:moveTo>
                <a:lnTo>
                  <a:pt x="5103933" y="0"/>
                </a:lnTo>
                <a:lnTo>
                  <a:pt x="5103933" y="491738"/>
                </a:lnTo>
                <a:lnTo>
                  <a:pt x="0" y="49173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4" id="144"/>
          <p:cNvSpPr txBox="true"/>
          <p:nvPr/>
        </p:nvSpPr>
        <p:spPr>
          <a:xfrm rot="0">
            <a:off x="12573676" y="5598262"/>
            <a:ext cx="3294412" cy="40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RTI Application</a:t>
            </a:r>
          </a:p>
        </p:txBody>
      </p:sp>
      <p:sp>
        <p:nvSpPr>
          <p:cNvPr name="Freeform 145" id="145"/>
          <p:cNvSpPr/>
          <p:nvPr/>
        </p:nvSpPr>
        <p:spPr>
          <a:xfrm flipH="false" flipV="false" rot="0">
            <a:off x="15920037" y="5624998"/>
            <a:ext cx="1337510" cy="390344"/>
          </a:xfrm>
          <a:custGeom>
            <a:avLst/>
            <a:gdLst/>
            <a:ahLst/>
            <a:cxnLst/>
            <a:rect r="r" b="b" t="t" l="l"/>
            <a:pathLst>
              <a:path h="390344" w="1337510">
                <a:moveTo>
                  <a:pt x="0" y="0"/>
                </a:moveTo>
                <a:lnTo>
                  <a:pt x="1337510" y="0"/>
                </a:lnTo>
                <a:lnTo>
                  <a:pt x="1337510" y="390344"/>
                </a:lnTo>
                <a:lnTo>
                  <a:pt x="0" y="39034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6" id="146"/>
          <p:cNvGrpSpPr/>
          <p:nvPr/>
        </p:nvGrpSpPr>
        <p:grpSpPr>
          <a:xfrm rot="0">
            <a:off x="15927191" y="5625008"/>
            <a:ext cx="1323108" cy="383105"/>
            <a:chOff x="0" y="0"/>
            <a:chExt cx="1764144" cy="51080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764144" cy="510806"/>
            </a:xfrm>
            <a:custGeom>
              <a:avLst/>
              <a:gdLst/>
              <a:ahLst/>
              <a:cxnLst/>
              <a:rect r="r" b="b" t="t" l="l"/>
              <a:pathLst>
                <a:path h="510806" w="1764144">
                  <a:moveTo>
                    <a:pt x="0" y="0"/>
                  </a:moveTo>
                  <a:lnTo>
                    <a:pt x="1764144" y="0"/>
                  </a:lnTo>
                  <a:lnTo>
                    <a:pt x="1764144" y="510806"/>
                  </a:lnTo>
                  <a:lnTo>
                    <a:pt x="0" y="51080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294" r="0" b="-17294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1764144" cy="520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Download</a:t>
              </a:r>
            </a:p>
          </p:txBody>
        </p:sp>
      </p:grpSp>
      <p:sp>
        <p:nvSpPr>
          <p:cNvPr name="Freeform 149" id="149"/>
          <p:cNvSpPr/>
          <p:nvPr/>
        </p:nvSpPr>
        <p:spPr>
          <a:xfrm flipH="false" flipV="false" rot="0">
            <a:off x="12355268" y="6123337"/>
            <a:ext cx="5103933" cy="491738"/>
          </a:xfrm>
          <a:custGeom>
            <a:avLst/>
            <a:gdLst/>
            <a:ahLst/>
            <a:cxnLst/>
            <a:rect r="r" b="b" t="t" l="l"/>
            <a:pathLst>
              <a:path h="491738" w="5103933">
                <a:moveTo>
                  <a:pt x="0" y="0"/>
                </a:moveTo>
                <a:lnTo>
                  <a:pt x="5103933" y="0"/>
                </a:lnTo>
                <a:lnTo>
                  <a:pt x="5103933" y="491737"/>
                </a:lnTo>
                <a:lnTo>
                  <a:pt x="0" y="49173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0" id="150"/>
          <p:cNvSpPr txBox="true"/>
          <p:nvPr/>
        </p:nvSpPr>
        <p:spPr>
          <a:xfrm rot="0">
            <a:off x="12573676" y="6147330"/>
            <a:ext cx="3294412" cy="40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CPGRAMS Grievance</a:t>
            </a:r>
          </a:p>
        </p:txBody>
      </p:sp>
      <p:sp>
        <p:nvSpPr>
          <p:cNvPr name="Freeform 151" id="151"/>
          <p:cNvSpPr/>
          <p:nvPr/>
        </p:nvSpPr>
        <p:spPr>
          <a:xfrm flipH="false" flipV="false" rot="0">
            <a:off x="15920037" y="6174067"/>
            <a:ext cx="1337510" cy="390344"/>
          </a:xfrm>
          <a:custGeom>
            <a:avLst/>
            <a:gdLst/>
            <a:ahLst/>
            <a:cxnLst/>
            <a:rect r="r" b="b" t="t" l="l"/>
            <a:pathLst>
              <a:path h="390344" w="1337510">
                <a:moveTo>
                  <a:pt x="0" y="0"/>
                </a:moveTo>
                <a:lnTo>
                  <a:pt x="1337510" y="0"/>
                </a:lnTo>
                <a:lnTo>
                  <a:pt x="1337510" y="390344"/>
                </a:lnTo>
                <a:lnTo>
                  <a:pt x="0" y="39034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2" id="152"/>
          <p:cNvGrpSpPr/>
          <p:nvPr/>
        </p:nvGrpSpPr>
        <p:grpSpPr>
          <a:xfrm rot="0">
            <a:off x="15927191" y="6174076"/>
            <a:ext cx="1323108" cy="383105"/>
            <a:chOff x="0" y="0"/>
            <a:chExt cx="1764144" cy="510807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764144" cy="510806"/>
            </a:xfrm>
            <a:custGeom>
              <a:avLst/>
              <a:gdLst/>
              <a:ahLst/>
              <a:cxnLst/>
              <a:rect r="r" b="b" t="t" l="l"/>
              <a:pathLst>
                <a:path h="510806" w="1764144">
                  <a:moveTo>
                    <a:pt x="0" y="0"/>
                  </a:moveTo>
                  <a:lnTo>
                    <a:pt x="1764144" y="0"/>
                  </a:lnTo>
                  <a:lnTo>
                    <a:pt x="1764144" y="510806"/>
                  </a:lnTo>
                  <a:lnTo>
                    <a:pt x="0" y="51080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294" r="0" b="-1729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9525"/>
              <a:ext cx="1764144" cy="520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Download</a:t>
              </a:r>
            </a:p>
          </p:txBody>
        </p:sp>
      </p:grpSp>
      <p:sp>
        <p:nvSpPr>
          <p:cNvPr name="Freeform 155" id="155"/>
          <p:cNvSpPr/>
          <p:nvPr/>
        </p:nvSpPr>
        <p:spPr>
          <a:xfrm flipH="false" flipV="false" rot="0">
            <a:off x="12351096" y="6778047"/>
            <a:ext cx="5112268" cy="445208"/>
          </a:xfrm>
          <a:custGeom>
            <a:avLst/>
            <a:gdLst/>
            <a:ahLst/>
            <a:cxnLst/>
            <a:rect r="r" b="b" t="t" l="l"/>
            <a:pathLst>
              <a:path h="445208" w="5112268">
                <a:moveTo>
                  <a:pt x="0" y="0"/>
                </a:moveTo>
                <a:lnTo>
                  <a:pt x="5112268" y="0"/>
                </a:lnTo>
                <a:lnTo>
                  <a:pt x="5112268" y="445208"/>
                </a:lnTo>
                <a:lnTo>
                  <a:pt x="0" y="445208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6" id="156"/>
          <p:cNvGrpSpPr/>
          <p:nvPr/>
        </p:nvGrpSpPr>
        <p:grpSpPr>
          <a:xfrm rot="0">
            <a:off x="12358249" y="6778057"/>
            <a:ext cx="5097951" cy="438007"/>
            <a:chOff x="0" y="0"/>
            <a:chExt cx="6797269" cy="58401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6797268" cy="584009"/>
            </a:xfrm>
            <a:custGeom>
              <a:avLst/>
              <a:gdLst/>
              <a:ahLst/>
              <a:cxnLst/>
              <a:rect r="r" b="b" t="t" l="l"/>
              <a:pathLst>
                <a:path h="584009" w="6797268">
                  <a:moveTo>
                    <a:pt x="0" y="0"/>
                  </a:moveTo>
                  <a:lnTo>
                    <a:pt x="6797268" y="0"/>
                  </a:lnTo>
                  <a:lnTo>
                    <a:pt x="6797268" y="584009"/>
                  </a:lnTo>
                  <a:lnTo>
                    <a:pt x="0" y="58400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785" r="0" b="-176785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"/>
              <a:ext cx="6797269" cy="59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05A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SATYAPAN · 9 outdated docs invalidated</a:t>
              </a:r>
            </a:p>
          </p:txBody>
        </p:sp>
      </p:grpSp>
      <p:sp>
        <p:nvSpPr>
          <p:cNvPr name="TextBox 159" id="159"/>
          <p:cNvSpPr txBox="true"/>
          <p:nvPr/>
        </p:nvSpPr>
        <p:spPr>
          <a:xfrm rot="0">
            <a:off x="12367774" y="7305694"/>
            <a:ext cx="5078892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125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Preview → Verify → Download · templates only</a:t>
            </a:r>
          </a:p>
        </p:txBody>
      </p:sp>
      <p:sp>
        <p:nvSpPr>
          <p:cNvPr name="Freeform 160" id="160"/>
          <p:cNvSpPr/>
          <p:nvPr/>
        </p:nvSpPr>
        <p:spPr>
          <a:xfrm flipH="false" flipV="false" rot="0">
            <a:off x="669655" y="8150714"/>
            <a:ext cx="1886436" cy="582463"/>
          </a:xfrm>
          <a:custGeom>
            <a:avLst/>
            <a:gdLst/>
            <a:ahLst/>
            <a:cxnLst/>
            <a:rect r="r" b="b" t="t" l="l"/>
            <a:pathLst>
              <a:path h="582463" w="1886436">
                <a:moveTo>
                  <a:pt x="0" y="0"/>
                </a:moveTo>
                <a:lnTo>
                  <a:pt x="1886436" y="0"/>
                </a:lnTo>
                <a:lnTo>
                  <a:pt x="1886436" y="582463"/>
                </a:lnTo>
                <a:lnTo>
                  <a:pt x="0" y="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1" id="161"/>
          <p:cNvGrpSpPr/>
          <p:nvPr/>
        </p:nvGrpSpPr>
        <p:grpSpPr>
          <a:xfrm rot="0">
            <a:off x="676808" y="8143580"/>
            <a:ext cx="1872177" cy="582425"/>
            <a:chOff x="0" y="0"/>
            <a:chExt cx="2496236" cy="77656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496236" cy="776567"/>
            </a:xfrm>
            <a:custGeom>
              <a:avLst/>
              <a:gdLst/>
              <a:ahLst/>
              <a:cxnLst/>
              <a:rect r="r" b="b" t="t" l="l"/>
              <a:pathLst>
                <a:path h="776567" w="2496236">
                  <a:moveTo>
                    <a:pt x="0" y="0"/>
                  </a:moveTo>
                  <a:lnTo>
                    <a:pt x="2496236" y="0"/>
                  </a:lnTo>
                  <a:lnTo>
                    <a:pt x="2496236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33" r="0" b="-12633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19050"/>
              <a:ext cx="2496236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हिन्दी / English</a:t>
              </a:r>
            </a:p>
          </p:txBody>
        </p:sp>
      </p:grpSp>
      <p:sp>
        <p:nvSpPr>
          <p:cNvPr name="Freeform 164" id="164"/>
          <p:cNvSpPr/>
          <p:nvPr/>
        </p:nvSpPr>
        <p:spPr>
          <a:xfrm flipH="false" flipV="false" rot="0">
            <a:off x="2687479" y="8150714"/>
            <a:ext cx="3077918" cy="582368"/>
          </a:xfrm>
          <a:custGeom>
            <a:avLst/>
            <a:gdLst/>
            <a:ahLst/>
            <a:cxnLst/>
            <a:rect r="r" b="b" t="t" l="l"/>
            <a:pathLst>
              <a:path h="582368" w="3077918">
                <a:moveTo>
                  <a:pt x="0" y="0"/>
                </a:moveTo>
                <a:lnTo>
                  <a:pt x="3077918" y="0"/>
                </a:lnTo>
                <a:lnTo>
                  <a:pt x="3077918" y="582368"/>
                </a:lnTo>
                <a:lnTo>
                  <a:pt x="0" y="58236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5" id="165"/>
          <p:cNvGrpSpPr/>
          <p:nvPr/>
        </p:nvGrpSpPr>
        <p:grpSpPr>
          <a:xfrm rot="0">
            <a:off x="2694632" y="8143580"/>
            <a:ext cx="3063650" cy="582425"/>
            <a:chOff x="0" y="0"/>
            <a:chExt cx="4084866" cy="776567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084867" cy="776567"/>
            </a:xfrm>
            <a:custGeom>
              <a:avLst/>
              <a:gdLst/>
              <a:ahLst/>
              <a:cxnLst/>
              <a:rect r="r" b="b" t="t" l="l"/>
              <a:pathLst>
                <a:path h="776567" w="4084867">
                  <a:moveTo>
                    <a:pt x="0" y="0"/>
                  </a:moveTo>
                  <a:lnTo>
                    <a:pt x="4084867" y="0"/>
                  </a:lnTo>
                  <a:lnTo>
                    <a:pt x="4084867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2494" r="0" b="-52494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19050"/>
              <a:ext cx="4084866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Voice input + read-aloud</a:t>
              </a:r>
            </a:p>
          </p:txBody>
        </p:sp>
      </p:grpSp>
      <p:sp>
        <p:nvSpPr>
          <p:cNvPr name="Freeform 168" id="168"/>
          <p:cNvSpPr/>
          <p:nvPr/>
        </p:nvSpPr>
        <p:spPr>
          <a:xfrm flipH="false" flipV="false" rot="0">
            <a:off x="5896785" y="8150714"/>
            <a:ext cx="2740257" cy="582368"/>
          </a:xfrm>
          <a:custGeom>
            <a:avLst/>
            <a:gdLst/>
            <a:ahLst/>
            <a:cxnLst/>
            <a:rect r="r" b="b" t="t" l="l"/>
            <a:pathLst>
              <a:path h="582368" w="2740257">
                <a:moveTo>
                  <a:pt x="0" y="0"/>
                </a:moveTo>
                <a:lnTo>
                  <a:pt x="2740256" y="0"/>
                </a:lnTo>
                <a:lnTo>
                  <a:pt x="2740256" y="582368"/>
                </a:lnTo>
                <a:lnTo>
                  <a:pt x="0" y="58236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9" id="169"/>
          <p:cNvGrpSpPr/>
          <p:nvPr/>
        </p:nvGrpSpPr>
        <p:grpSpPr>
          <a:xfrm rot="0">
            <a:off x="5903938" y="8143580"/>
            <a:ext cx="2725969" cy="582425"/>
            <a:chOff x="0" y="0"/>
            <a:chExt cx="3634626" cy="776567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3634625" cy="776567"/>
            </a:xfrm>
            <a:custGeom>
              <a:avLst/>
              <a:gdLst/>
              <a:ahLst/>
              <a:cxnLst/>
              <a:rect r="r" b="b" t="t" l="l"/>
              <a:pathLst>
                <a:path h="776567" w="3634625">
                  <a:moveTo>
                    <a:pt x="0" y="0"/>
                  </a:moveTo>
                  <a:lnTo>
                    <a:pt x="3634625" y="0"/>
                  </a:lnTo>
                  <a:lnTo>
                    <a:pt x="3634625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1197" r="0" b="-41197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19050"/>
              <a:ext cx="3634626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A+/A− · High contrast</a:t>
              </a:r>
            </a:p>
          </p:txBody>
        </p:sp>
      </p:grpSp>
      <p:sp>
        <p:nvSpPr>
          <p:cNvPr name="Freeform 172" id="172"/>
          <p:cNvSpPr/>
          <p:nvPr/>
        </p:nvSpPr>
        <p:spPr>
          <a:xfrm flipH="false" flipV="false" rot="0">
            <a:off x="8768420" y="8150714"/>
            <a:ext cx="3865826" cy="582368"/>
          </a:xfrm>
          <a:custGeom>
            <a:avLst/>
            <a:gdLst/>
            <a:ahLst/>
            <a:cxnLst/>
            <a:rect r="r" b="b" t="t" l="l"/>
            <a:pathLst>
              <a:path h="582368" w="3865826">
                <a:moveTo>
                  <a:pt x="0" y="0"/>
                </a:moveTo>
                <a:lnTo>
                  <a:pt x="3865826" y="0"/>
                </a:lnTo>
                <a:lnTo>
                  <a:pt x="3865826" y="582368"/>
                </a:lnTo>
                <a:lnTo>
                  <a:pt x="0" y="582368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3" id="173"/>
          <p:cNvGrpSpPr/>
          <p:nvPr/>
        </p:nvGrpSpPr>
        <p:grpSpPr>
          <a:xfrm rot="0">
            <a:off x="8775573" y="8143580"/>
            <a:ext cx="3851567" cy="582425"/>
            <a:chOff x="0" y="0"/>
            <a:chExt cx="5135423" cy="77656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5135423" cy="776567"/>
            </a:xfrm>
            <a:custGeom>
              <a:avLst/>
              <a:gdLst/>
              <a:ahLst/>
              <a:cxnLst/>
              <a:rect r="r" b="b" t="t" l="l"/>
              <a:pathLst>
                <a:path h="776567" w="5135423">
                  <a:moveTo>
                    <a:pt x="0" y="0"/>
                  </a:moveTo>
                  <a:lnTo>
                    <a:pt x="5135423" y="0"/>
                  </a:lnTo>
                  <a:lnTo>
                    <a:pt x="5135423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8854" r="0" b="-78854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19050"/>
              <a:ext cx="5135423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Privacy Center · Delete My Case</a:t>
              </a:r>
            </a:p>
          </p:txBody>
        </p:sp>
      </p:grpSp>
      <p:sp>
        <p:nvSpPr>
          <p:cNvPr name="Freeform 176" id="176"/>
          <p:cNvSpPr/>
          <p:nvPr/>
        </p:nvSpPr>
        <p:spPr>
          <a:xfrm flipH="false" flipV="false" rot="0">
            <a:off x="12765643" y="8150714"/>
            <a:ext cx="2515086" cy="582463"/>
          </a:xfrm>
          <a:custGeom>
            <a:avLst/>
            <a:gdLst/>
            <a:ahLst/>
            <a:cxnLst/>
            <a:rect r="r" b="b" t="t" l="l"/>
            <a:pathLst>
              <a:path h="582463" w="2515086">
                <a:moveTo>
                  <a:pt x="0" y="0"/>
                </a:moveTo>
                <a:lnTo>
                  <a:pt x="2515086" y="0"/>
                </a:lnTo>
                <a:lnTo>
                  <a:pt x="2515086" y="582463"/>
                </a:lnTo>
                <a:lnTo>
                  <a:pt x="0" y="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7" id="177"/>
          <p:cNvGrpSpPr/>
          <p:nvPr/>
        </p:nvGrpSpPr>
        <p:grpSpPr>
          <a:xfrm rot="0">
            <a:off x="12772796" y="8143580"/>
            <a:ext cx="2500855" cy="582425"/>
            <a:chOff x="0" y="0"/>
            <a:chExt cx="3334474" cy="776567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334473" cy="776567"/>
            </a:xfrm>
            <a:custGeom>
              <a:avLst/>
              <a:gdLst/>
              <a:ahLst/>
              <a:cxnLst/>
              <a:rect r="r" b="b" t="t" l="l"/>
              <a:pathLst>
                <a:path h="776567" w="3334473">
                  <a:moveTo>
                    <a:pt x="0" y="0"/>
                  </a:moveTo>
                  <a:lnTo>
                    <a:pt x="3334473" y="0"/>
                  </a:lnTo>
                  <a:lnTo>
                    <a:pt x="3334473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666" r="0" b="-33666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19050"/>
              <a:ext cx="3334474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Source transparency</a:t>
              </a:r>
            </a:p>
          </p:txBody>
        </p:sp>
      </p:grpSp>
      <p:sp>
        <p:nvSpPr>
          <p:cNvPr name="Freeform 180" id="180"/>
          <p:cNvSpPr/>
          <p:nvPr/>
        </p:nvSpPr>
        <p:spPr>
          <a:xfrm flipH="false" flipV="false" rot="0">
            <a:off x="15412155" y="8150714"/>
            <a:ext cx="2290010" cy="582463"/>
          </a:xfrm>
          <a:custGeom>
            <a:avLst/>
            <a:gdLst/>
            <a:ahLst/>
            <a:cxnLst/>
            <a:rect r="r" b="b" t="t" l="l"/>
            <a:pathLst>
              <a:path h="582463" w="2290010">
                <a:moveTo>
                  <a:pt x="0" y="0"/>
                </a:moveTo>
                <a:lnTo>
                  <a:pt x="2290010" y="0"/>
                </a:lnTo>
                <a:lnTo>
                  <a:pt x="2290010" y="582463"/>
                </a:lnTo>
                <a:lnTo>
                  <a:pt x="0" y="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1" id="181"/>
          <p:cNvGrpSpPr/>
          <p:nvPr/>
        </p:nvGrpSpPr>
        <p:grpSpPr>
          <a:xfrm rot="0">
            <a:off x="15419308" y="8143580"/>
            <a:ext cx="2275742" cy="582425"/>
            <a:chOff x="0" y="0"/>
            <a:chExt cx="3034322" cy="776567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3034323" cy="776567"/>
            </a:xfrm>
            <a:custGeom>
              <a:avLst/>
              <a:gdLst/>
              <a:ahLst/>
              <a:cxnLst/>
              <a:rect r="r" b="b" t="t" l="l"/>
              <a:pathLst>
                <a:path h="776567" w="3034323">
                  <a:moveTo>
                    <a:pt x="0" y="0"/>
                  </a:moveTo>
                  <a:lnTo>
                    <a:pt x="3034323" y="0"/>
                  </a:lnTo>
                  <a:lnTo>
                    <a:pt x="3034323" y="776567"/>
                  </a:lnTo>
                  <a:lnTo>
                    <a:pt x="0" y="7765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34" r="0" b="-26134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19050"/>
              <a:ext cx="3034322" cy="795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Watchdog timeline</a:t>
              </a:r>
            </a:p>
          </p:txBody>
        </p:sp>
      </p:grpSp>
      <p:sp>
        <p:nvSpPr>
          <p:cNvPr name="TextBox 184" id="184"/>
          <p:cNvSpPr txBox="true"/>
          <p:nvPr/>
        </p:nvSpPr>
        <p:spPr>
          <a:xfrm rot="0">
            <a:off x="686333" y="8865222"/>
            <a:ext cx="16883872" cy="53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"/>
              </a:lnSpc>
            </a:pPr>
            <a:r>
              <a:rPr lang="en-US" sz="1350">
                <a:solidFill>
                  <a:srgbClr val="8E9FBA"/>
                </a:solidFill>
                <a:latin typeface="Arial"/>
                <a:ea typeface="Arial"/>
                <a:cs typeface="Arial"/>
                <a:sym typeface="Arial"/>
              </a:rPr>
              <a:t>Actual HAQ case console · keyboard &amp; screen-reader friendly · every result shows source, LIVE / DEMO label, timestamp, confidence.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IMPACT &amp; SCALABILITY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From one failed payment to a reusable public-service recovery layer.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10 / 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971" y="2460165"/>
            <a:ext cx="686336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WHERE HAQ APPLIES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38283" y="2934557"/>
            <a:ext cx="2366877" cy="719719"/>
          </a:xfrm>
          <a:custGeom>
            <a:avLst/>
            <a:gdLst/>
            <a:ahLst/>
            <a:cxnLst/>
            <a:rect r="r" b="b" t="t" l="l"/>
            <a:pathLst>
              <a:path h="719719" w="2366877">
                <a:moveTo>
                  <a:pt x="0" y="0"/>
                </a:moveTo>
                <a:lnTo>
                  <a:pt x="2366877" y="0"/>
                </a:lnTo>
                <a:lnTo>
                  <a:pt x="2366877" y="719719"/>
                </a:lnTo>
                <a:lnTo>
                  <a:pt x="0" y="719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45436" y="2934567"/>
            <a:ext cx="2352608" cy="712546"/>
            <a:chOff x="0" y="0"/>
            <a:chExt cx="3136811" cy="9500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36811" cy="950061"/>
            </a:xfrm>
            <a:custGeom>
              <a:avLst/>
              <a:gdLst/>
              <a:ahLst/>
              <a:cxnLst/>
              <a:rect r="r" b="b" t="t" l="l"/>
              <a:pathLst>
                <a:path h="950061" w="3136811">
                  <a:moveTo>
                    <a:pt x="0" y="0"/>
                  </a:moveTo>
                  <a:lnTo>
                    <a:pt x="3136811" y="0"/>
                  </a:lnTo>
                  <a:lnTo>
                    <a:pt x="3136811" y="950061"/>
                  </a:lnTo>
                  <a:lnTo>
                    <a:pt x="0" y="9500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333" r="0" b="-143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136811" cy="959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Pension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277724" y="2934557"/>
            <a:ext cx="2778738" cy="719719"/>
          </a:xfrm>
          <a:custGeom>
            <a:avLst/>
            <a:gdLst/>
            <a:ahLst/>
            <a:cxnLst/>
            <a:rect r="r" b="b" t="t" l="l"/>
            <a:pathLst>
              <a:path h="719719" w="2778738">
                <a:moveTo>
                  <a:pt x="0" y="0"/>
                </a:moveTo>
                <a:lnTo>
                  <a:pt x="2778738" y="0"/>
                </a:lnTo>
                <a:lnTo>
                  <a:pt x="2778738" y="719719"/>
                </a:lnTo>
                <a:lnTo>
                  <a:pt x="0" y="71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284877" y="2934567"/>
            <a:ext cx="2764412" cy="712546"/>
            <a:chOff x="0" y="0"/>
            <a:chExt cx="3685883" cy="9500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85883" cy="950061"/>
            </a:xfrm>
            <a:custGeom>
              <a:avLst/>
              <a:gdLst/>
              <a:ahLst/>
              <a:cxnLst/>
              <a:rect r="r" b="b" t="t" l="l"/>
              <a:pathLst>
                <a:path h="950061" w="3685883">
                  <a:moveTo>
                    <a:pt x="0" y="0"/>
                  </a:moveTo>
                  <a:lnTo>
                    <a:pt x="3685883" y="0"/>
                  </a:lnTo>
                  <a:lnTo>
                    <a:pt x="3685883" y="950061"/>
                  </a:lnTo>
                  <a:lnTo>
                    <a:pt x="0" y="9500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594" r="0" b="-2559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685883" cy="959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Scholarships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228969" y="2934557"/>
            <a:ext cx="2366877" cy="719719"/>
          </a:xfrm>
          <a:custGeom>
            <a:avLst/>
            <a:gdLst/>
            <a:ahLst/>
            <a:cxnLst/>
            <a:rect r="r" b="b" t="t" l="l"/>
            <a:pathLst>
              <a:path h="719719" w="2366877">
                <a:moveTo>
                  <a:pt x="0" y="0"/>
                </a:moveTo>
                <a:lnTo>
                  <a:pt x="2366877" y="0"/>
                </a:lnTo>
                <a:lnTo>
                  <a:pt x="2366877" y="719719"/>
                </a:lnTo>
                <a:lnTo>
                  <a:pt x="0" y="719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236122" y="2934567"/>
            <a:ext cx="2352608" cy="712546"/>
            <a:chOff x="0" y="0"/>
            <a:chExt cx="3136811" cy="9500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36811" cy="950061"/>
            </a:xfrm>
            <a:custGeom>
              <a:avLst/>
              <a:gdLst/>
              <a:ahLst/>
              <a:cxnLst/>
              <a:rect r="r" b="b" t="t" l="l"/>
              <a:pathLst>
                <a:path h="950061" w="3136811">
                  <a:moveTo>
                    <a:pt x="0" y="0"/>
                  </a:moveTo>
                  <a:lnTo>
                    <a:pt x="3136811" y="0"/>
                  </a:lnTo>
                  <a:lnTo>
                    <a:pt x="3136811" y="950061"/>
                  </a:lnTo>
                  <a:lnTo>
                    <a:pt x="0" y="9500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333" r="0" b="-143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136811" cy="959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PM-KISAN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768420" y="2934557"/>
            <a:ext cx="2710063" cy="719719"/>
          </a:xfrm>
          <a:custGeom>
            <a:avLst/>
            <a:gdLst/>
            <a:ahLst/>
            <a:cxnLst/>
            <a:rect r="r" b="b" t="t" l="l"/>
            <a:pathLst>
              <a:path h="719719" w="2710063">
                <a:moveTo>
                  <a:pt x="0" y="0"/>
                </a:moveTo>
                <a:lnTo>
                  <a:pt x="2710062" y="0"/>
                </a:lnTo>
                <a:lnTo>
                  <a:pt x="2710062" y="719719"/>
                </a:lnTo>
                <a:lnTo>
                  <a:pt x="0" y="7197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8775573" y="2934567"/>
            <a:ext cx="2695775" cy="712546"/>
            <a:chOff x="0" y="0"/>
            <a:chExt cx="3594367" cy="9500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94367" cy="950061"/>
            </a:xfrm>
            <a:custGeom>
              <a:avLst/>
              <a:gdLst/>
              <a:ahLst/>
              <a:cxnLst/>
              <a:rect r="r" b="b" t="t" l="l"/>
              <a:pathLst>
                <a:path h="950061" w="3594367">
                  <a:moveTo>
                    <a:pt x="0" y="0"/>
                  </a:moveTo>
                  <a:lnTo>
                    <a:pt x="3594367" y="0"/>
                  </a:lnTo>
                  <a:lnTo>
                    <a:pt x="3594367" y="950061"/>
                  </a:lnTo>
                  <a:lnTo>
                    <a:pt x="0" y="9500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17" r="0" b="-237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594367" cy="959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Welfare DBTs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651028" y="2934557"/>
            <a:ext cx="4425896" cy="719719"/>
          </a:xfrm>
          <a:custGeom>
            <a:avLst/>
            <a:gdLst/>
            <a:ahLst/>
            <a:cxnLst/>
            <a:rect r="r" b="b" t="t" l="l"/>
            <a:pathLst>
              <a:path h="719719" w="4425896">
                <a:moveTo>
                  <a:pt x="0" y="0"/>
                </a:moveTo>
                <a:lnTo>
                  <a:pt x="4425896" y="0"/>
                </a:lnTo>
                <a:lnTo>
                  <a:pt x="4425896" y="719719"/>
                </a:lnTo>
                <a:lnTo>
                  <a:pt x="0" y="719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1658181" y="2934567"/>
            <a:ext cx="4411618" cy="712546"/>
            <a:chOff x="0" y="0"/>
            <a:chExt cx="5882157" cy="9500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82157" cy="950061"/>
            </a:xfrm>
            <a:custGeom>
              <a:avLst/>
              <a:gdLst/>
              <a:ahLst/>
              <a:cxnLst/>
              <a:rect r="r" b="b" t="t" l="l"/>
              <a:pathLst>
                <a:path h="950061" w="5882157">
                  <a:moveTo>
                    <a:pt x="0" y="0"/>
                  </a:moveTo>
                  <a:lnTo>
                    <a:pt x="5882157" y="0"/>
                  </a:lnTo>
                  <a:lnTo>
                    <a:pt x="5882157" y="950061"/>
                  </a:lnTo>
                  <a:lnTo>
                    <a:pt x="0" y="9500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638" r="0" b="-7063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882157" cy="959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0"/>
                </a:lnSpc>
              </a:pPr>
              <a:r>
                <a:rPr lang="en-US" sz="1575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Other eligible benefit flows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54971" y="4011282"/>
            <a:ext cx="8236039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REUSABLE RECOVERY LAYER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769906" y="4517307"/>
            <a:ext cx="2495798" cy="1260405"/>
          </a:xfrm>
          <a:custGeom>
            <a:avLst/>
            <a:gdLst/>
            <a:ahLst/>
            <a:cxnLst/>
            <a:rect r="r" b="b" t="t" l="l"/>
            <a:pathLst>
              <a:path h="1260405" w="2495798">
                <a:moveTo>
                  <a:pt x="0" y="0"/>
                </a:moveTo>
                <a:lnTo>
                  <a:pt x="2495797" y="0"/>
                </a:lnTo>
                <a:lnTo>
                  <a:pt x="2495797" y="1260406"/>
                </a:lnTo>
                <a:lnTo>
                  <a:pt x="0" y="12604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892235" y="4639637"/>
            <a:ext cx="2251186" cy="1015775"/>
            <a:chOff x="0" y="0"/>
            <a:chExt cx="3001582" cy="13543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01518" cy="1354328"/>
            </a:xfrm>
            <a:custGeom>
              <a:avLst/>
              <a:gdLst/>
              <a:ahLst/>
              <a:cxnLst/>
              <a:rect r="r" b="b" t="t" l="l"/>
              <a:pathLst>
                <a:path h="1354328" w="3001518">
                  <a:moveTo>
                    <a:pt x="0" y="0"/>
                  </a:moveTo>
                  <a:lnTo>
                    <a:pt x="3001518" y="0"/>
                  </a:lnTo>
                  <a:lnTo>
                    <a:pt x="3001518" y="1354328"/>
                  </a:lnTo>
                  <a:lnTo>
                    <a:pt x="0" y="1354328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933" t="0" r="-7935" b="-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92235" y="4632493"/>
            <a:ext cx="2251186" cy="1022918"/>
            <a:chOff x="0" y="0"/>
            <a:chExt cx="3001582" cy="13638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01581" cy="1363892"/>
            </a:xfrm>
            <a:custGeom>
              <a:avLst/>
              <a:gdLst/>
              <a:ahLst/>
              <a:cxnLst/>
              <a:rect r="r" b="b" t="t" l="l"/>
              <a:pathLst>
                <a:path h="1363892" w="3001581">
                  <a:moveTo>
                    <a:pt x="0" y="0"/>
                  </a:moveTo>
                  <a:lnTo>
                    <a:pt x="3001581" y="0"/>
                  </a:lnTo>
                  <a:lnTo>
                    <a:pt x="3001581" y="1363892"/>
                  </a:lnTo>
                  <a:lnTo>
                    <a:pt x="0" y="13638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99" t="0" r="-829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001582" cy="1373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202200">
            <a:off x="3283372" y="5128470"/>
            <a:ext cx="324088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3625072" y="4517307"/>
            <a:ext cx="2495798" cy="1260405"/>
          </a:xfrm>
          <a:custGeom>
            <a:avLst/>
            <a:gdLst/>
            <a:ahLst/>
            <a:cxnLst/>
            <a:rect r="r" b="b" t="t" l="l"/>
            <a:pathLst>
              <a:path h="1260405" w="2495798">
                <a:moveTo>
                  <a:pt x="0" y="0"/>
                </a:moveTo>
                <a:lnTo>
                  <a:pt x="2495798" y="0"/>
                </a:lnTo>
                <a:lnTo>
                  <a:pt x="2495798" y="1260406"/>
                </a:lnTo>
                <a:lnTo>
                  <a:pt x="0" y="12604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3747392" y="4639637"/>
            <a:ext cx="2251186" cy="1015775"/>
            <a:chOff x="0" y="0"/>
            <a:chExt cx="3001582" cy="135436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01518" cy="1354328"/>
            </a:xfrm>
            <a:custGeom>
              <a:avLst/>
              <a:gdLst/>
              <a:ahLst/>
              <a:cxnLst/>
              <a:rect r="r" b="b" t="t" l="l"/>
              <a:pathLst>
                <a:path h="1354328" w="3001518">
                  <a:moveTo>
                    <a:pt x="0" y="0"/>
                  </a:moveTo>
                  <a:lnTo>
                    <a:pt x="3001518" y="0"/>
                  </a:lnTo>
                  <a:lnTo>
                    <a:pt x="3001518" y="1354328"/>
                  </a:lnTo>
                  <a:lnTo>
                    <a:pt x="0" y="1354328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933" t="0" r="-7935" b="-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747392" y="4632493"/>
            <a:ext cx="2251186" cy="1022918"/>
            <a:chOff x="0" y="0"/>
            <a:chExt cx="3001582" cy="13638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01581" cy="1363892"/>
            </a:xfrm>
            <a:custGeom>
              <a:avLst/>
              <a:gdLst/>
              <a:ahLst/>
              <a:cxnLst/>
              <a:rect r="r" b="b" t="t" l="l"/>
              <a:pathLst>
                <a:path h="1363892" w="3001581">
                  <a:moveTo>
                    <a:pt x="0" y="0"/>
                  </a:moveTo>
                  <a:lnTo>
                    <a:pt x="3001581" y="0"/>
                  </a:lnTo>
                  <a:lnTo>
                    <a:pt x="3001581" y="1363892"/>
                  </a:lnTo>
                  <a:lnTo>
                    <a:pt x="0" y="13638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99" t="0" r="-829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001582" cy="1373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50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HAQ Orchestrator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202200">
            <a:off x="6138529" y="5128470"/>
            <a:ext cx="324088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6480229" y="4517307"/>
            <a:ext cx="2495798" cy="1260405"/>
          </a:xfrm>
          <a:custGeom>
            <a:avLst/>
            <a:gdLst/>
            <a:ahLst/>
            <a:cxnLst/>
            <a:rect r="r" b="b" t="t" l="l"/>
            <a:pathLst>
              <a:path h="1260405" w="2495798">
                <a:moveTo>
                  <a:pt x="0" y="0"/>
                </a:moveTo>
                <a:lnTo>
                  <a:pt x="2495798" y="0"/>
                </a:lnTo>
                <a:lnTo>
                  <a:pt x="2495798" y="1260406"/>
                </a:lnTo>
                <a:lnTo>
                  <a:pt x="0" y="12604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6602559" y="4639637"/>
            <a:ext cx="2251186" cy="1015775"/>
            <a:chOff x="0" y="0"/>
            <a:chExt cx="3001582" cy="135436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01518" cy="1354328"/>
            </a:xfrm>
            <a:custGeom>
              <a:avLst/>
              <a:gdLst/>
              <a:ahLst/>
              <a:cxnLst/>
              <a:rect r="r" b="b" t="t" l="l"/>
              <a:pathLst>
                <a:path h="1354328" w="3001518">
                  <a:moveTo>
                    <a:pt x="0" y="0"/>
                  </a:moveTo>
                  <a:lnTo>
                    <a:pt x="3001518" y="0"/>
                  </a:lnTo>
                  <a:lnTo>
                    <a:pt x="3001518" y="1354328"/>
                  </a:lnTo>
                  <a:lnTo>
                    <a:pt x="0" y="1354328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933" t="0" r="-7935" b="-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602559" y="4632493"/>
            <a:ext cx="2251186" cy="1022918"/>
            <a:chOff x="0" y="0"/>
            <a:chExt cx="3001582" cy="13638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01581" cy="1363892"/>
            </a:xfrm>
            <a:custGeom>
              <a:avLst/>
              <a:gdLst/>
              <a:ahLst/>
              <a:cxnLst/>
              <a:rect r="r" b="b" t="t" l="l"/>
              <a:pathLst>
                <a:path h="1363892" w="3001581">
                  <a:moveTo>
                    <a:pt x="0" y="0"/>
                  </a:moveTo>
                  <a:lnTo>
                    <a:pt x="3001581" y="0"/>
                  </a:lnTo>
                  <a:lnTo>
                    <a:pt x="3001581" y="1363892"/>
                  </a:lnTo>
                  <a:lnTo>
                    <a:pt x="0" y="13638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99" t="0" r="-829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001582" cy="1373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Scheme-specific adapters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202200">
            <a:off x="8993686" y="5128470"/>
            <a:ext cx="324088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8" id="58"/>
          <p:cNvSpPr/>
          <p:nvPr/>
        </p:nvSpPr>
        <p:spPr>
          <a:xfrm flipH="false" flipV="false" rot="0">
            <a:off x="9335386" y="4517307"/>
            <a:ext cx="2495798" cy="1260405"/>
          </a:xfrm>
          <a:custGeom>
            <a:avLst/>
            <a:gdLst/>
            <a:ahLst/>
            <a:cxnLst/>
            <a:rect r="r" b="b" t="t" l="l"/>
            <a:pathLst>
              <a:path h="1260405" w="2495798">
                <a:moveTo>
                  <a:pt x="0" y="0"/>
                </a:moveTo>
                <a:lnTo>
                  <a:pt x="2495797" y="0"/>
                </a:lnTo>
                <a:lnTo>
                  <a:pt x="2495797" y="1260406"/>
                </a:lnTo>
                <a:lnTo>
                  <a:pt x="0" y="12604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9457715" y="4639637"/>
            <a:ext cx="2251186" cy="1015775"/>
            <a:chOff x="0" y="0"/>
            <a:chExt cx="3001582" cy="135436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01518" cy="1354328"/>
            </a:xfrm>
            <a:custGeom>
              <a:avLst/>
              <a:gdLst/>
              <a:ahLst/>
              <a:cxnLst/>
              <a:rect r="r" b="b" t="t" l="l"/>
              <a:pathLst>
                <a:path h="1354328" w="3001518">
                  <a:moveTo>
                    <a:pt x="0" y="0"/>
                  </a:moveTo>
                  <a:lnTo>
                    <a:pt x="3001518" y="0"/>
                  </a:lnTo>
                  <a:lnTo>
                    <a:pt x="3001518" y="1354328"/>
                  </a:lnTo>
                  <a:lnTo>
                    <a:pt x="0" y="1354328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933" t="0" r="-7935" b="-2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457715" y="4632493"/>
            <a:ext cx="2251186" cy="1022918"/>
            <a:chOff x="0" y="0"/>
            <a:chExt cx="3001582" cy="13638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01581" cy="1363892"/>
            </a:xfrm>
            <a:custGeom>
              <a:avLst/>
              <a:gdLst/>
              <a:ahLst/>
              <a:cxnLst/>
              <a:rect r="r" b="b" t="t" l="l"/>
              <a:pathLst>
                <a:path h="1363892" w="3001581">
                  <a:moveTo>
                    <a:pt x="0" y="0"/>
                  </a:moveTo>
                  <a:lnTo>
                    <a:pt x="3001581" y="0"/>
                  </a:lnTo>
                  <a:lnTo>
                    <a:pt x="3001581" y="1363892"/>
                  </a:lnTo>
                  <a:lnTo>
                    <a:pt x="0" y="13638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99" t="0" r="-8299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3001582" cy="1373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Evidence sources</a:t>
              </a:r>
            </a:p>
          </p:txBody>
        </p:sp>
      </p:grpSp>
      <p:sp>
        <p:nvSpPr>
          <p:cNvPr name="AutoShape 64" id="64"/>
          <p:cNvSpPr/>
          <p:nvPr/>
        </p:nvSpPr>
        <p:spPr>
          <a:xfrm rot="202200">
            <a:off x="11848843" y="5128470"/>
            <a:ext cx="324088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5" id="65"/>
          <p:cNvSpPr/>
          <p:nvPr/>
        </p:nvSpPr>
        <p:spPr>
          <a:xfrm flipH="false" flipV="false" rot="0">
            <a:off x="12190543" y="4517307"/>
            <a:ext cx="2495798" cy="1260405"/>
          </a:xfrm>
          <a:custGeom>
            <a:avLst/>
            <a:gdLst/>
            <a:ahLst/>
            <a:cxnLst/>
            <a:rect r="r" b="b" t="t" l="l"/>
            <a:pathLst>
              <a:path h="1260405" w="2495798">
                <a:moveTo>
                  <a:pt x="0" y="0"/>
                </a:moveTo>
                <a:lnTo>
                  <a:pt x="2495797" y="0"/>
                </a:lnTo>
                <a:lnTo>
                  <a:pt x="2495797" y="1260406"/>
                </a:lnTo>
                <a:lnTo>
                  <a:pt x="0" y="12604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312872" y="4639637"/>
            <a:ext cx="2251186" cy="1015775"/>
            <a:chOff x="0" y="0"/>
            <a:chExt cx="3001582" cy="135436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01518" cy="1354328"/>
            </a:xfrm>
            <a:custGeom>
              <a:avLst/>
              <a:gdLst/>
              <a:ahLst/>
              <a:cxnLst/>
              <a:rect r="r" b="b" t="t" l="l"/>
              <a:pathLst>
                <a:path h="1354328" w="3001518">
                  <a:moveTo>
                    <a:pt x="0" y="0"/>
                  </a:moveTo>
                  <a:lnTo>
                    <a:pt x="3001518" y="0"/>
                  </a:lnTo>
                  <a:lnTo>
                    <a:pt x="3001518" y="1354328"/>
                  </a:lnTo>
                  <a:lnTo>
                    <a:pt x="0" y="1354328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933" t="0" r="-7935" b="-2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312872" y="4632493"/>
            <a:ext cx="2251186" cy="1022918"/>
            <a:chOff x="0" y="0"/>
            <a:chExt cx="3001582" cy="13638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01581" cy="1363892"/>
            </a:xfrm>
            <a:custGeom>
              <a:avLst/>
              <a:gdLst/>
              <a:ahLst/>
              <a:cxnLst/>
              <a:rect r="r" b="b" t="t" l="l"/>
              <a:pathLst>
                <a:path h="1363892" w="3001581">
                  <a:moveTo>
                    <a:pt x="0" y="0"/>
                  </a:moveTo>
                  <a:lnTo>
                    <a:pt x="3001581" y="0"/>
                  </a:lnTo>
                  <a:lnTo>
                    <a:pt x="3001581" y="1363892"/>
                  </a:lnTo>
                  <a:lnTo>
                    <a:pt x="0" y="13638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99" t="0" r="-829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001582" cy="1373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Rules / policies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202200">
            <a:off x="14704000" y="5128470"/>
            <a:ext cx="324088" cy="0"/>
          </a:xfrm>
          <a:prstGeom prst="line">
            <a:avLst/>
          </a:prstGeom>
          <a:ln cap="rnd" w="19050">
            <a:solidFill>
              <a:srgbClr val="3A4E7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2" id="72"/>
          <p:cNvSpPr/>
          <p:nvPr/>
        </p:nvSpPr>
        <p:spPr>
          <a:xfrm flipH="false" flipV="false" rot="0">
            <a:off x="15045709" y="4517307"/>
            <a:ext cx="2495798" cy="1260405"/>
          </a:xfrm>
          <a:custGeom>
            <a:avLst/>
            <a:gdLst/>
            <a:ahLst/>
            <a:cxnLst/>
            <a:rect r="r" b="b" t="t" l="l"/>
            <a:pathLst>
              <a:path h="1260405" w="2495798">
                <a:moveTo>
                  <a:pt x="0" y="0"/>
                </a:moveTo>
                <a:lnTo>
                  <a:pt x="2495798" y="0"/>
                </a:lnTo>
                <a:lnTo>
                  <a:pt x="2495798" y="1260406"/>
                </a:lnTo>
                <a:lnTo>
                  <a:pt x="0" y="12604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5168029" y="4639637"/>
            <a:ext cx="2251186" cy="1015775"/>
            <a:chOff x="0" y="0"/>
            <a:chExt cx="3001582" cy="135436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01518" cy="1354328"/>
            </a:xfrm>
            <a:custGeom>
              <a:avLst/>
              <a:gdLst/>
              <a:ahLst/>
              <a:cxnLst/>
              <a:rect r="r" b="b" t="t" l="l"/>
              <a:pathLst>
                <a:path h="1354328" w="3001518">
                  <a:moveTo>
                    <a:pt x="0" y="0"/>
                  </a:moveTo>
                  <a:lnTo>
                    <a:pt x="3001518" y="0"/>
                  </a:lnTo>
                  <a:lnTo>
                    <a:pt x="3001518" y="1354328"/>
                  </a:lnTo>
                  <a:lnTo>
                    <a:pt x="0" y="1354328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-7933" t="0" r="-7935" b="-2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168029" y="4632493"/>
            <a:ext cx="2251186" cy="1022918"/>
            <a:chOff x="0" y="0"/>
            <a:chExt cx="3001582" cy="13638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01581" cy="1363892"/>
            </a:xfrm>
            <a:custGeom>
              <a:avLst/>
              <a:gdLst/>
              <a:ahLst/>
              <a:cxnLst/>
              <a:rect r="r" b="b" t="t" l="l"/>
              <a:pathLst>
                <a:path h="1363892" w="3001581">
                  <a:moveTo>
                    <a:pt x="0" y="0"/>
                  </a:moveTo>
                  <a:lnTo>
                    <a:pt x="3001581" y="0"/>
                  </a:lnTo>
                  <a:lnTo>
                    <a:pt x="3001581" y="1363892"/>
                  </a:lnTo>
                  <a:lnTo>
                    <a:pt x="0" y="13638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99" t="0" r="-829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001582" cy="1373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Actions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742455" y="6507680"/>
            <a:ext cx="16840257" cy="2907659"/>
          </a:xfrm>
          <a:custGeom>
            <a:avLst/>
            <a:gdLst/>
            <a:ahLst/>
            <a:cxnLst/>
            <a:rect r="r" b="b" t="t" l="l"/>
            <a:pathLst>
              <a:path h="2907659" w="16840257">
                <a:moveTo>
                  <a:pt x="0" y="0"/>
                </a:moveTo>
                <a:lnTo>
                  <a:pt x="16840257" y="0"/>
                </a:lnTo>
                <a:lnTo>
                  <a:pt x="16840257" y="2907659"/>
                </a:lnTo>
                <a:lnTo>
                  <a:pt x="0" y="290765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9" id="79"/>
          <p:cNvSpPr txBox="true"/>
          <p:nvPr/>
        </p:nvSpPr>
        <p:spPr>
          <a:xfrm rot="0">
            <a:off x="1098137" y="6756625"/>
            <a:ext cx="6863363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25" b="true">
                <a:solidFill>
                  <a:srgbClr val="2EC27E"/>
                </a:solidFill>
                <a:latin typeface="Arial Bold"/>
                <a:ea typeface="Arial Bold"/>
                <a:cs typeface="Arial Bold"/>
                <a:sym typeface="Arial Bold"/>
              </a:rPr>
              <a:t>SEPARATED LAYERS</a:t>
            </a:r>
          </a:p>
        </p:txBody>
      </p:sp>
      <p:sp>
        <p:nvSpPr>
          <p:cNvPr name="Freeform 80" id="80"/>
          <p:cNvSpPr/>
          <p:nvPr/>
        </p:nvSpPr>
        <p:spPr>
          <a:xfrm flipH="false" flipV="false" rot="0">
            <a:off x="1081449" y="7327116"/>
            <a:ext cx="2984668" cy="692287"/>
          </a:xfrm>
          <a:custGeom>
            <a:avLst/>
            <a:gdLst/>
            <a:ahLst/>
            <a:cxnLst/>
            <a:rect r="r" b="b" t="t" l="l"/>
            <a:pathLst>
              <a:path h="692287" w="2984668">
                <a:moveTo>
                  <a:pt x="0" y="0"/>
                </a:moveTo>
                <a:lnTo>
                  <a:pt x="2984669" y="0"/>
                </a:lnTo>
                <a:lnTo>
                  <a:pt x="2984669" y="692286"/>
                </a:lnTo>
                <a:lnTo>
                  <a:pt x="0" y="69228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1088603" y="7319982"/>
            <a:ext cx="2970314" cy="692239"/>
            <a:chOff x="0" y="0"/>
            <a:chExt cx="3960419" cy="92298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960419" cy="922985"/>
            </a:xfrm>
            <a:custGeom>
              <a:avLst/>
              <a:gdLst/>
              <a:ahLst/>
              <a:cxnLst/>
              <a:rect r="r" b="b" t="t" l="l"/>
              <a:pathLst>
                <a:path h="922985" w="3960419">
                  <a:moveTo>
                    <a:pt x="0" y="0"/>
                  </a:moveTo>
                  <a:lnTo>
                    <a:pt x="3960419" y="0"/>
                  </a:lnTo>
                  <a:lnTo>
                    <a:pt x="3960419" y="922985"/>
                  </a:lnTo>
                  <a:lnTo>
                    <a:pt x="0" y="9229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07" r="0" b="-3360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3960419" cy="9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 reasoning</a:t>
              </a: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0">
            <a:off x="4211145" y="7327116"/>
            <a:ext cx="3053248" cy="692287"/>
          </a:xfrm>
          <a:custGeom>
            <a:avLst/>
            <a:gdLst/>
            <a:ahLst/>
            <a:cxnLst/>
            <a:rect r="r" b="b" t="t" l="l"/>
            <a:pathLst>
              <a:path h="692287" w="3053248">
                <a:moveTo>
                  <a:pt x="0" y="0"/>
                </a:moveTo>
                <a:lnTo>
                  <a:pt x="3053249" y="0"/>
                </a:lnTo>
                <a:lnTo>
                  <a:pt x="3053249" y="692286"/>
                </a:lnTo>
                <a:lnTo>
                  <a:pt x="0" y="69228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4218299" y="7319982"/>
            <a:ext cx="3038942" cy="692239"/>
            <a:chOff x="0" y="0"/>
            <a:chExt cx="4051922" cy="92298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051923" cy="922985"/>
            </a:xfrm>
            <a:custGeom>
              <a:avLst/>
              <a:gdLst/>
              <a:ahLst/>
              <a:cxnLst/>
              <a:rect r="r" b="b" t="t" l="l"/>
              <a:pathLst>
                <a:path h="922985" w="4051923">
                  <a:moveTo>
                    <a:pt x="0" y="0"/>
                  </a:moveTo>
                  <a:lnTo>
                    <a:pt x="4051923" y="0"/>
                  </a:lnTo>
                  <a:lnTo>
                    <a:pt x="4051923" y="922985"/>
                  </a:lnTo>
                  <a:lnTo>
                    <a:pt x="0" y="9229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539" r="0" b="-3553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4051922" cy="9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Evidence adapters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7409469" y="7327116"/>
            <a:ext cx="2710063" cy="692287"/>
          </a:xfrm>
          <a:custGeom>
            <a:avLst/>
            <a:gdLst/>
            <a:ahLst/>
            <a:cxnLst/>
            <a:rect r="r" b="b" t="t" l="l"/>
            <a:pathLst>
              <a:path h="692287" w="2710063">
                <a:moveTo>
                  <a:pt x="0" y="0"/>
                </a:moveTo>
                <a:lnTo>
                  <a:pt x="2710062" y="0"/>
                </a:lnTo>
                <a:lnTo>
                  <a:pt x="2710062" y="692286"/>
                </a:lnTo>
                <a:lnTo>
                  <a:pt x="0" y="69228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7416622" y="7319982"/>
            <a:ext cx="2695775" cy="692239"/>
            <a:chOff x="0" y="0"/>
            <a:chExt cx="3594367" cy="92298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594367" cy="922985"/>
            </a:xfrm>
            <a:custGeom>
              <a:avLst/>
              <a:gdLst/>
              <a:ahLst/>
              <a:cxnLst/>
              <a:rect r="r" b="b" t="t" l="l"/>
              <a:pathLst>
                <a:path h="922985" w="3594367">
                  <a:moveTo>
                    <a:pt x="0" y="0"/>
                  </a:moveTo>
                  <a:lnTo>
                    <a:pt x="3594367" y="0"/>
                  </a:lnTo>
                  <a:lnTo>
                    <a:pt x="3594367" y="922985"/>
                  </a:lnTo>
                  <a:lnTo>
                    <a:pt x="0" y="9229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80" r="0" b="-2588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3594367" cy="9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Policy / rules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10264635" y="7327116"/>
            <a:ext cx="3259179" cy="692287"/>
          </a:xfrm>
          <a:custGeom>
            <a:avLst/>
            <a:gdLst/>
            <a:ahLst/>
            <a:cxnLst/>
            <a:rect r="r" b="b" t="t" l="l"/>
            <a:pathLst>
              <a:path h="692287" w="3259179">
                <a:moveTo>
                  <a:pt x="0" y="0"/>
                </a:moveTo>
                <a:lnTo>
                  <a:pt x="3259179" y="0"/>
                </a:lnTo>
                <a:lnTo>
                  <a:pt x="3259179" y="692286"/>
                </a:lnTo>
                <a:lnTo>
                  <a:pt x="0" y="69228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0271789" y="7319982"/>
            <a:ext cx="3244844" cy="692239"/>
            <a:chOff x="0" y="0"/>
            <a:chExt cx="4326458" cy="92298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26459" cy="922985"/>
            </a:xfrm>
            <a:custGeom>
              <a:avLst/>
              <a:gdLst/>
              <a:ahLst/>
              <a:cxnLst/>
              <a:rect r="r" b="b" t="t" l="l"/>
              <a:pathLst>
                <a:path h="922985" w="4326459">
                  <a:moveTo>
                    <a:pt x="0" y="0"/>
                  </a:moveTo>
                  <a:lnTo>
                    <a:pt x="4326459" y="0"/>
                  </a:lnTo>
                  <a:lnTo>
                    <a:pt x="4326459" y="922985"/>
                  </a:lnTo>
                  <a:lnTo>
                    <a:pt x="0" y="9229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335" r="0" b="-4133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4326458" cy="9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Document templates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13668861" y="7327116"/>
            <a:ext cx="2366972" cy="692287"/>
          </a:xfrm>
          <a:custGeom>
            <a:avLst/>
            <a:gdLst/>
            <a:ahLst/>
            <a:cxnLst/>
            <a:rect r="r" b="b" t="t" l="l"/>
            <a:pathLst>
              <a:path h="692287" w="2366972">
                <a:moveTo>
                  <a:pt x="0" y="0"/>
                </a:moveTo>
                <a:lnTo>
                  <a:pt x="2366972" y="0"/>
                </a:lnTo>
                <a:lnTo>
                  <a:pt x="2366972" y="692286"/>
                </a:lnTo>
                <a:lnTo>
                  <a:pt x="0" y="69228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3676014" y="7319982"/>
            <a:ext cx="2352608" cy="692239"/>
            <a:chOff x="0" y="0"/>
            <a:chExt cx="3136811" cy="92298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36811" cy="922985"/>
            </a:xfrm>
            <a:custGeom>
              <a:avLst/>
              <a:gdLst/>
              <a:ahLst/>
              <a:cxnLst/>
              <a:rect r="r" b="b" t="t" l="l"/>
              <a:pathLst>
                <a:path h="922985" w="3136811">
                  <a:moveTo>
                    <a:pt x="0" y="0"/>
                  </a:moveTo>
                  <a:lnTo>
                    <a:pt x="3136811" y="0"/>
                  </a:lnTo>
                  <a:lnTo>
                    <a:pt x="3136811" y="922985"/>
                  </a:lnTo>
                  <a:lnTo>
                    <a:pt x="0" y="9229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20" r="0" b="-1622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3136811" cy="9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C6D2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Case state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098137" y="8247517"/>
            <a:ext cx="16060264" cy="9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725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New schemes can be added without rebuilding the entire agent. </a:t>
            </a:r>
            <a:r>
              <a:rPr lang="en-US" sz="1725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Adapters are the extension seam — agent behaviour, evidence and policy stay independently evolvable.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401155"/>
            <a:ext cx="1235404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0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DIFFERENTIATION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85508"/>
            <a:ext cx="15511196" cy="13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Beyond chat. Beyond status checking.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1059" y="2168823"/>
            <a:ext cx="754952" cy="68675"/>
            <a:chOff x="0" y="0"/>
            <a:chExt cx="1006602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02" cy="91567"/>
            </a:xfrm>
            <a:custGeom>
              <a:avLst/>
              <a:gdLst/>
              <a:ahLst/>
              <a:cxnLst/>
              <a:rect r="r" b="b" t="t" l="l"/>
              <a:pathLst>
                <a:path h="91567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11 / 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186306" y="2518591"/>
            <a:ext cx="3473348" cy="6040241"/>
          </a:xfrm>
          <a:custGeom>
            <a:avLst/>
            <a:gdLst/>
            <a:ahLst/>
            <a:cxnLst/>
            <a:rect r="r" b="b" t="t" l="l"/>
            <a:pathLst>
              <a:path h="6040241" w="3473348">
                <a:moveTo>
                  <a:pt x="0" y="0"/>
                </a:moveTo>
                <a:lnTo>
                  <a:pt x="3473349" y="0"/>
                </a:lnTo>
                <a:lnTo>
                  <a:pt x="3473349" y="6040241"/>
                </a:lnTo>
                <a:lnTo>
                  <a:pt x="0" y="6040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73827" y="2526935"/>
            <a:ext cx="7162952" cy="711384"/>
            <a:chOff x="0" y="0"/>
            <a:chExt cx="9550603" cy="9485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50654" cy="948563"/>
            </a:xfrm>
            <a:custGeom>
              <a:avLst/>
              <a:gdLst/>
              <a:ahLst/>
              <a:cxnLst/>
              <a:rect r="r" b="b" t="t" l="l"/>
              <a:pathLst>
                <a:path h="948563" w="9550654">
                  <a:moveTo>
                    <a:pt x="0" y="0"/>
                  </a:moveTo>
                  <a:lnTo>
                    <a:pt x="9550654" y="0"/>
                  </a:lnTo>
                  <a:lnTo>
                    <a:pt x="9550654" y="948563"/>
                  </a:lnTo>
                  <a:lnTo>
                    <a:pt x="0" y="948563"/>
                  </a:lnTo>
                  <a:close/>
                </a:path>
              </a:pathLst>
            </a:custGeom>
            <a:solidFill>
              <a:srgbClr val="121C30"/>
            </a:solidFill>
            <a:ln w="14299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96147" y="2566902"/>
            <a:ext cx="6918274" cy="631431"/>
            <a:chOff x="0" y="0"/>
            <a:chExt cx="9224366" cy="8419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24391" cy="841883"/>
            </a:xfrm>
            <a:custGeom>
              <a:avLst/>
              <a:gdLst/>
              <a:ahLst/>
              <a:cxnLst/>
              <a:rect r="r" b="b" t="t" l="l"/>
              <a:pathLst>
                <a:path h="841883" w="9224391">
                  <a:moveTo>
                    <a:pt x="0" y="0"/>
                  </a:moveTo>
                  <a:lnTo>
                    <a:pt x="9224391" y="0"/>
                  </a:lnTo>
                  <a:lnTo>
                    <a:pt x="9224391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3344" r="0" b="-16334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96147" y="2566902"/>
            <a:ext cx="6918265" cy="631431"/>
            <a:chOff x="0" y="0"/>
            <a:chExt cx="9224353" cy="8419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24353" cy="841908"/>
            </a:xfrm>
            <a:custGeom>
              <a:avLst/>
              <a:gdLst/>
              <a:ahLst/>
              <a:cxnLst/>
              <a:rect r="r" b="b" t="t" l="l"/>
              <a:pathLst>
                <a:path h="841908" w="9224353">
                  <a:moveTo>
                    <a:pt x="0" y="0"/>
                  </a:moveTo>
                  <a:lnTo>
                    <a:pt x="9224353" y="0"/>
                  </a:lnTo>
                  <a:lnTo>
                    <a:pt x="9224353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3487" r="0" b="-1634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224353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1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Capability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11719" y="2526935"/>
            <a:ext cx="3388100" cy="711384"/>
            <a:chOff x="0" y="0"/>
            <a:chExt cx="4517466" cy="9485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17517" cy="948563"/>
            </a:xfrm>
            <a:custGeom>
              <a:avLst/>
              <a:gdLst/>
              <a:ahLst/>
              <a:cxnLst/>
              <a:rect r="r" b="b" t="t" l="l"/>
              <a:pathLst>
                <a:path h="948563" w="4517517">
                  <a:moveTo>
                    <a:pt x="0" y="0"/>
                  </a:moveTo>
                  <a:lnTo>
                    <a:pt x="4517517" y="0"/>
                  </a:lnTo>
                  <a:lnTo>
                    <a:pt x="4517517" y="948563"/>
                  </a:lnTo>
                  <a:lnTo>
                    <a:pt x="0" y="948563"/>
                  </a:lnTo>
                  <a:close/>
                </a:path>
              </a:pathLst>
            </a:custGeom>
            <a:solidFill>
              <a:srgbClr val="121C30"/>
            </a:solidFill>
            <a:ln w="14299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934049" y="2566902"/>
            <a:ext cx="3143421" cy="631431"/>
            <a:chOff x="0" y="0"/>
            <a:chExt cx="4191229" cy="841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1254" cy="841883"/>
            </a:xfrm>
            <a:custGeom>
              <a:avLst/>
              <a:gdLst/>
              <a:ahLst/>
              <a:cxnLst/>
              <a:rect r="r" b="b" t="t" l="l"/>
              <a:pathLst>
                <a:path h="841883" w="4191254">
                  <a:moveTo>
                    <a:pt x="0" y="0"/>
                  </a:moveTo>
                  <a:lnTo>
                    <a:pt x="4191254" y="0"/>
                  </a:lnTo>
                  <a:lnTo>
                    <a:pt x="4191254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34" r="0" b="-4693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934049" y="2566902"/>
            <a:ext cx="3143421" cy="631431"/>
            <a:chOff x="0" y="0"/>
            <a:chExt cx="4191229" cy="8419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1228" cy="841908"/>
            </a:xfrm>
            <a:custGeom>
              <a:avLst/>
              <a:gdLst/>
              <a:ahLst/>
              <a:cxnLst/>
              <a:rect r="r" b="b" t="t" l="l"/>
              <a:pathLst>
                <a:path h="841908" w="4191228">
                  <a:moveTo>
                    <a:pt x="0" y="0"/>
                  </a:moveTo>
                  <a:lnTo>
                    <a:pt x="4191228" y="0"/>
                  </a:lnTo>
                  <a:lnTo>
                    <a:pt x="4191228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001" r="0" b="-470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191229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Traditional</a:t>
              </a:r>
            </a:p>
            <a:p>
              <a:pPr algn="ctr">
                <a:lnSpc>
                  <a:spcPts val="1539"/>
                </a:lnSpc>
              </a:pPr>
              <a:r>
                <a:rPr lang="en-US" sz="142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information portal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174768" y="2526935"/>
            <a:ext cx="3044914" cy="711384"/>
            <a:chOff x="0" y="0"/>
            <a:chExt cx="4059885" cy="9485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59936" cy="948563"/>
            </a:xfrm>
            <a:custGeom>
              <a:avLst/>
              <a:gdLst/>
              <a:ahLst/>
              <a:cxnLst/>
              <a:rect r="r" b="b" t="t" l="l"/>
              <a:pathLst>
                <a:path h="948563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948563"/>
                  </a:lnTo>
                  <a:lnTo>
                    <a:pt x="0" y="948563"/>
                  </a:lnTo>
                  <a:close/>
                </a:path>
              </a:pathLst>
            </a:custGeom>
            <a:solidFill>
              <a:srgbClr val="121C30"/>
            </a:solidFill>
            <a:ln w="14299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297098" y="2566902"/>
            <a:ext cx="2800255" cy="631431"/>
            <a:chOff x="0" y="0"/>
            <a:chExt cx="3733673" cy="8419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33673" cy="841883"/>
            </a:xfrm>
            <a:custGeom>
              <a:avLst/>
              <a:gdLst/>
              <a:ahLst/>
              <a:cxnLst/>
              <a:rect r="r" b="b" t="t" l="l"/>
              <a:pathLst>
                <a:path h="841883" w="3733673">
                  <a:moveTo>
                    <a:pt x="0" y="0"/>
                  </a:moveTo>
                  <a:lnTo>
                    <a:pt x="3733673" y="0"/>
                  </a:lnTo>
                  <a:lnTo>
                    <a:pt x="373367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352" r="0" b="-3635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297098" y="2566902"/>
            <a:ext cx="2800255" cy="631431"/>
            <a:chOff x="0" y="0"/>
            <a:chExt cx="3733673" cy="8419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33673" cy="841908"/>
            </a:xfrm>
            <a:custGeom>
              <a:avLst/>
              <a:gdLst/>
              <a:ahLst/>
              <a:cxnLst/>
              <a:rect r="r" b="b" t="t" l="l"/>
              <a:pathLst>
                <a:path h="841908" w="3733673">
                  <a:moveTo>
                    <a:pt x="0" y="0"/>
                  </a:moveTo>
                  <a:lnTo>
                    <a:pt x="3733673" y="0"/>
                  </a:lnTo>
                  <a:lnTo>
                    <a:pt x="3733673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411" r="0" b="-364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733673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575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Chatbot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194650" y="2526935"/>
            <a:ext cx="3456680" cy="711384"/>
            <a:chOff x="0" y="0"/>
            <a:chExt cx="4608906" cy="9485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08957" cy="948563"/>
            </a:xfrm>
            <a:custGeom>
              <a:avLst/>
              <a:gdLst/>
              <a:ahLst/>
              <a:cxnLst/>
              <a:rect r="r" b="b" t="t" l="l"/>
              <a:pathLst>
                <a:path h="948563" w="4608957">
                  <a:moveTo>
                    <a:pt x="0" y="0"/>
                  </a:moveTo>
                  <a:lnTo>
                    <a:pt x="4608957" y="0"/>
                  </a:lnTo>
                  <a:lnTo>
                    <a:pt x="4608957" y="948563"/>
                  </a:lnTo>
                  <a:lnTo>
                    <a:pt x="0" y="948563"/>
                  </a:lnTo>
                  <a:close/>
                </a:path>
              </a:pathLst>
            </a:custGeom>
            <a:solidFill>
              <a:srgbClr val="FF9933"/>
            </a:solidFill>
            <a:ln w="14299" cap="sq">
              <a:solidFill>
                <a:srgbClr val="FF993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4316970" y="2566902"/>
            <a:ext cx="3212049" cy="631431"/>
            <a:chOff x="0" y="0"/>
            <a:chExt cx="4282732" cy="8419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2694" cy="841883"/>
            </a:xfrm>
            <a:custGeom>
              <a:avLst/>
              <a:gdLst/>
              <a:ahLst/>
              <a:cxnLst/>
              <a:rect r="r" b="b" t="t" l="l"/>
              <a:pathLst>
                <a:path h="841883" w="4282694">
                  <a:moveTo>
                    <a:pt x="0" y="0"/>
                  </a:moveTo>
                  <a:lnTo>
                    <a:pt x="4282694" y="0"/>
                  </a:lnTo>
                  <a:lnTo>
                    <a:pt x="4282694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052" r="0" b="-49054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316970" y="2566902"/>
            <a:ext cx="3212049" cy="631431"/>
            <a:chOff x="0" y="0"/>
            <a:chExt cx="4282732" cy="8419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82732" cy="841908"/>
            </a:xfrm>
            <a:custGeom>
              <a:avLst/>
              <a:gdLst/>
              <a:ahLst/>
              <a:cxnLst/>
              <a:rect r="r" b="b" t="t" l="l"/>
              <a:pathLst>
                <a:path h="841908" w="4282732">
                  <a:moveTo>
                    <a:pt x="0" y="0"/>
                  </a:moveTo>
                  <a:lnTo>
                    <a:pt x="4282732" y="0"/>
                  </a:lnTo>
                  <a:lnTo>
                    <a:pt x="4282732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119" r="0" b="-491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282732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575" b="true">
                  <a:solidFill>
                    <a:srgbClr val="140D0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HAQ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92235" y="3225784"/>
            <a:ext cx="6726098" cy="590245"/>
            <a:chOff x="0" y="0"/>
            <a:chExt cx="8968130" cy="78699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92235" y="3204353"/>
            <a:ext cx="6726098" cy="611676"/>
            <a:chOff x="0" y="0"/>
            <a:chExt cx="8968130" cy="8155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Answers questions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824235" y="3225784"/>
            <a:ext cx="3363049" cy="590245"/>
            <a:chOff x="0" y="0"/>
            <a:chExt cx="4484065" cy="78699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824235" y="3190065"/>
            <a:ext cx="3363049" cy="625964"/>
            <a:chOff x="0" y="0"/>
            <a:chExt cx="4484065" cy="8346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84065" cy="834618"/>
            </a:xfrm>
            <a:custGeom>
              <a:avLst/>
              <a:gdLst/>
              <a:ahLst/>
              <a:cxnLst/>
              <a:rect r="r" b="b" t="t" l="l"/>
              <a:pathLst>
                <a:path h="83461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34618"/>
                  </a:lnTo>
                  <a:lnTo>
                    <a:pt x="0" y="834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685" r="0" b="-5468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4484065" cy="882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4"/>
                </a:lnSpc>
              </a:pPr>
              <a:r>
                <a:rPr lang="en-US" sz="1725" b="true">
                  <a:solidFill>
                    <a:srgbClr val="C6D2E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87284" y="3225784"/>
            <a:ext cx="3019882" cy="590245"/>
            <a:chOff x="0" y="0"/>
            <a:chExt cx="4026510" cy="78699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187284" y="3190065"/>
            <a:ext cx="3019882" cy="625964"/>
            <a:chOff x="0" y="0"/>
            <a:chExt cx="4026510" cy="8346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6509" cy="834618"/>
            </a:xfrm>
            <a:custGeom>
              <a:avLst/>
              <a:gdLst/>
              <a:ahLst/>
              <a:cxnLst/>
              <a:rect r="r" b="b" t="t" l="l"/>
              <a:pathLst>
                <a:path h="83461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34618"/>
                  </a:lnTo>
                  <a:lnTo>
                    <a:pt x="0" y="834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003" r="0" b="-4400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026510" cy="882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4"/>
                </a:lnSpc>
              </a:pPr>
              <a:r>
                <a:rPr lang="en-US" sz="1725" b="true">
                  <a:solidFill>
                    <a:srgbClr val="C6D2E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207157" y="3225784"/>
            <a:ext cx="3431686" cy="590245"/>
            <a:chOff x="0" y="0"/>
            <a:chExt cx="4575581" cy="7869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207157" y="3182922"/>
            <a:ext cx="3431677" cy="633108"/>
            <a:chOff x="0" y="0"/>
            <a:chExt cx="4575569" cy="8441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86333" y="3816029"/>
            <a:ext cx="13520833" cy="590264"/>
            <a:chOff x="0" y="0"/>
            <a:chExt cx="18027777" cy="78701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027777" cy="787019"/>
            </a:xfrm>
            <a:custGeom>
              <a:avLst/>
              <a:gdLst/>
              <a:ahLst/>
              <a:cxnLst/>
              <a:rect r="r" b="b" t="t" l="l"/>
              <a:pathLst>
                <a:path h="787019" w="18027777">
                  <a:moveTo>
                    <a:pt x="0" y="0"/>
                  </a:moveTo>
                  <a:lnTo>
                    <a:pt x="18027777" y="0"/>
                  </a:lnTo>
                  <a:lnTo>
                    <a:pt x="18027777" y="787019"/>
                  </a:lnTo>
                  <a:lnTo>
                    <a:pt x="0" y="787019"/>
                  </a:lnTo>
                  <a:close/>
                </a:path>
              </a:pathLst>
            </a:custGeom>
            <a:solidFill>
              <a:srgbClr val="15203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92235" y="3816029"/>
            <a:ext cx="6726098" cy="590245"/>
            <a:chOff x="0" y="0"/>
            <a:chExt cx="8968130" cy="78699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92235" y="3794598"/>
            <a:ext cx="6726098" cy="611676"/>
            <a:chOff x="0" y="0"/>
            <a:chExt cx="8968130" cy="81556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Investigates evidence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824235" y="3816029"/>
            <a:ext cx="3363049" cy="590245"/>
            <a:chOff x="0" y="0"/>
            <a:chExt cx="4484065" cy="78699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824235" y="3794598"/>
            <a:ext cx="3363049" cy="611676"/>
            <a:chOff x="0" y="0"/>
            <a:chExt cx="4484065" cy="81556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187284" y="3816029"/>
            <a:ext cx="3019882" cy="590245"/>
            <a:chOff x="0" y="0"/>
            <a:chExt cx="4026510" cy="78699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187284" y="3794598"/>
            <a:ext cx="3019882" cy="611676"/>
            <a:chOff x="0" y="0"/>
            <a:chExt cx="4026510" cy="81556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207157" y="3816029"/>
            <a:ext cx="3431686" cy="590245"/>
            <a:chOff x="0" y="0"/>
            <a:chExt cx="4575581" cy="78699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207157" y="3773167"/>
            <a:ext cx="3431677" cy="633108"/>
            <a:chOff x="0" y="0"/>
            <a:chExt cx="4575569" cy="8441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92235" y="4406275"/>
            <a:ext cx="6726098" cy="590245"/>
            <a:chOff x="0" y="0"/>
            <a:chExt cx="8968130" cy="78699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92235" y="4384843"/>
            <a:ext cx="6726098" cy="611676"/>
            <a:chOff x="0" y="0"/>
            <a:chExt cx="8968130" cy="81556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Diagnoses root cause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824235" y="4406275"/>
            <a:ext cx="3363049" cy="590245"/>
            <a:chOff x="0" y="0"/>
            <a:chExt cx="4484065" cy="78699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824235" y="4384843"/>
            <a:ext cx="3363049" cy="611676"/>
            <a:chOff x="0" y="0"/>
            <a:chExt cx="4484065" cy="81556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187284" y="4406275"/>
            <a:ext cx="3019882" cy="590245"/>
            <a:chOff x="0" y="0"/>
            <a:chExt cx="4026510" cy="78699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187284" y="4384843"/>
            <a:ext cx="3019882" cy="611676"/>
            <a:chOff x="0" y="0"/>
            <a:chExt cx="4026510" cy="81556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207157" y="4406275"/>
            <a:ext cx="3431686" cy="590245"/>
            <a:chOff x="0" y="0"/>
            <a:chExt cx="4575581" cy="78699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4207157" y="4363412"/>
            <a:ext cx="3431677" cy="633108"/>
            <a:chOff x="0" y="0"/>
            <a:chExt cx="4575569" cy="84414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86333" y="4996529"/>
            <a:ext cx="13520833" cy="590264"/>
            <a:chOff x="0" y="0"/>
            <a:chExt cx="18027777" cy="78701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027777" cy="787019"/>
            </a:xfrm>
            <a:custGeom>
              <a:avLst/>
              <a:gdLst/>
              <a:ahLst/>
              <a:cxnLst/>
              <a:rect r="r" b="b" t="t" l="l"/>
              <a:pathLst>
                <a:path h="787019" w="18027777">
                  <a:moveTo>
                    <a:pt x="0" y="0"/>
                  </a:moveTo>
                  <a:lnTo>
                    <a:pt x="18027777" y="0"/>
                  </a:lnTo>
                  <a:lnTo>
                    <a:pt x="18027777" y="787019"/>
                  </a:lnTo>
                  <a:lnTo>
                    <a:pt x="0" y="787019"/>
                  </a:lnTo>
                  <a:close/>
                </a:path>
              </a:pathLst>
            </a:custGeom>
            <a:solidFill>
              <a:srgbClr val="152036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892235" y="4996529"/>
            <a:ext cx="6726098" cy="590245"/>
            <a:chOff x="0" y="0"/>
            <a:chExt cx="8968130" cy="78699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92235" y="4975098"/>
            <a:ext cx="6726098" cy="611676"/>
            <a:chOff x="0" y="0"/>
            <a:chExt cx="8968130" cy="81556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Creates action plan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824235" y="4996529"/>
            <a:ext cx="3363049" cy="590245"/>
            <a:chOff x="0" y="0"/>
            <a:chExt cx="4484065" cy="78699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824235" y="4975098"/>
            <a:ext cx="3363049" cy="611676"/>
            <a:chOff x="0" y="0"/>
            <a:chExt cx="4484065" cy="81556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187284" y="4996529"/>
            <a:ext cx="3019882" cy="590245"/>
            <a:chOff x="0" y="0"/>
            <a:chExt cx="4026510" cy="78699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1187284" y="4975098"/>
            <a:ext cx="3019882" cy="611676"/>
            <a:chOff x="0" y="0"/>
            <a:chExt cx="4026510" cy="81556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207157" y="4996529"/>
            <a:ext cx="3431686" cy="590245"/>
            <a:chOff x="0" y="0"/>
            <a:chExt cx="4575581" cy="78699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207157" y="4953667"/>
            <a:ext cx="3431677" cy="633108"/>
            <a:chOff x="0" y="0"/>
            <a:chExt cx="4575569" cy="8441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892235" y="5586774"/>
            <a:ext cx="6726098" cy="590245"/>
            <a:chOff x="0" y="0"/>
            <a:chExt cx="8968130" cy="78699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892235" y="5565343"/>
            <a:ext cx="6726098" cy="611676"/>
            <a:chOff x="0" y="0"/>
            <a:chExt cx="8968130" cy="815569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Generates documents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7824235" y="5586774"/>
            <a:ext cx="3363049" cy="590245"/>
            <a:chOff x="0" y="0"/>
            <a:chExt cx="4484065" cy="78699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7824235" y="5565343"/>
            <a:ext cx="3363049" cy="611676"/>
            <a:chOff x="0" y="0"/>
            <a:chExt cx="4484065" cy="81556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1187284" y="5586774"/>
            <a:ext cx="3019882" cy="590245"/>
            <a:chOff x="0" y="0"/>
            <a:chExt cx="4026510" cy="78699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1187284" y="5565343"/>
            <a:ext cx="3019882" cy="611676"/>
            <a:chOff x="0" y="0"/>
            <a:chExt cx="4026510" cy="81556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207157" y="5586774"/>
            <a:ext cx="3431686" cy="590245"/>
            <a:chOff x="0" y="0"/>
            <a:chExt cx="4575581" cy="78699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4207157" y="5543912"/>
            <a:ext cx="3431677" cy="633108"/>
            <a:chOff x="0" y="0"/>
            <a:chExt cx="4575569" cy="84414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686333" y="6177029"/>
            <a:ext cx="13520833" cy="590264"/>
            <a:chOff x="0" y="0"/>
            <a:chExt cx="18027777" cy="787019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8027777" cy="787019"/>
            </a:xfrm>
            <a:custGeom>
              <a:avLst/>
              <a:gdLst/>
              <a:ahLst/>
              <a:cxnLst/>
              <a:rect r="r" b="b" t="t" l="l"/>
              <a:pathLst>
                <a:path h="787019" w="18027777">
                  <a:moveTo>
                    <a:pt x="0" y="0"/>
                  </a:moveTo>
                  <a:lnTo>
                    <a:pt x="18027777" y="0"/>
                  </a:lnTo>
                  <a:lnTo>
                    <a:pt x="18027777" y="787019"/>
                  </a:lnTo>
                  <a:lnTo>
                    <a:pt x="0" y="787019"/>
                  </a:lnTo>
                  <a:close/>
                </a:path>
              </a:pathLst>
            </a:custGeom>
            <a:solidFill>
              <a:srgbClr val="152036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892235" y="6177029"/>
            <a:ext cx="6726098" cy="590245"/>
            <a:chOff x="0" y="0"/>
            <a:chExt cx="8968130" cy="786994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892235" y="6155598"/>
            <a:ext cx="6726098" cy="611676"/>
            <a:chOff x="0" y="0"/>
            <a:chExt cx="8968130" cy="81556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Verifies evidence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7824235" y="6177029"/>
            <a:ext cx="3363049" cy="590245"/>
            <a:chOff x="0" y="0"/>
            <a:chExt cx="4484065" cy="78699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7824235" y="6155598"/>
            <a:ext cx="3363049" cy="611676"/>
            <a:chOff x="0" y="0"/>
            <a:chExt cx="4484065" cy="815569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1187284" y="6177029"/>
            <a:ext cx="3019882" cy="590245"/>
            <a:chOff x="0" y="0"/>
            <a:chExt cx="4026510" cy="786994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1187284" y="6155598"/>
            <a:ext cx="3019882" cy="611676"/>
            <a:chOff x="0" y="0"/>
            <a:chExt cx="4026510" cy="815569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4207157" y="6177029"/>
            <a:ext cx="3431686" cy="590245"/>
            <a:chOff x="0" y="0"/>
            <a:chExt cx="4575581" cy="78699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4207157" y="6134167"/>
            <a:ext cx="3431677" cy="633108"/>
            <a:chOff x="0" y="0"/>
            <a:chExt cx="4575569" cy="844144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892235" y="6767274"/>
            <a:ext cx="6726098" cy="590245"/>
            <a:chOff x="0" y="0"/>
            <a:chExt cx="8968130" cy="78699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892235" y="6745843"/>
            <a:ext cx="6726098" cy="611676"/>
            <a:chOff x="0" y="0"/>
            <a:chExt cx="8968130" cy="815569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Re-plans after new evidence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7824235" y="6767274"/>
            <a:ext cx="3363049" cy="590245"/>
            <a:chOff x="0" y="0"/>
            <a:chExt cx="4484065" cy="78699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7824235" y="6745843"/>
            <a:ext cx="3363049" cy="611676"/>
            <a:chOff x="0" y="0"/>
            <a:chExt cx="4484065" cy="815569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1187284" y="6767274"/>
            <a:ext cx="3019882" cy="590245"/>
            <a:chOff x="0" y="0"/>
            <a:chExt cx="4026510" cy="78699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1187284" y="6745843"/>
            <a:ext cx="3019882" cy="611676"/>
            <a:chOff x="0" y="0"/>
            <a:chExt cx="4026510" cy="815569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4207157" y="6767274"/>
            <a:ext cx="3431686" cy="590245"/>
            <a:chOff x="0" y="0"/>
            <a:chExt cx="4575581" cy="78699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4207157" y="6724412"/>
            <a:ext cx="3431677" cy="633108"/>
            <a:chOff x="0" y="0"/>
            <a:chExt cx="4575569" cy="844144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686333" y="7357520"/>
            <a:ext cx="13520833" cy="590264"/>
            <a:chOff x="0" y="0"/>
            <a:chExt cx="18027777" cy="787019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18027777" cy="787019"/>
            </a:xfrm>
            <a:custGeom>
              <a:avLst/>
              <a:gdLst/>
              <a:ahLst/>
              <a:cxnLst/>
              <a:rect r="r" b="b" t="t" l="l"/>
              <a:pathLst>
                <a:path h="787019" w="18027777">
                  <a:moveTo>
                    <a:pt x="0" y="0"/>
                  </a:moveTo>
                  <a:lnTo>
                    <a:pt x="18027777" y="0"/>
                  </a:lnTo>
                  <a:lnTo>
                    <a:pt x="18027777" y="787019"/>
                  </a:lnTo>
                  <a:lnTo>
                    <a:pt x="0" y="787019"/>
                  </a:lnTo>
                  <a:close/>
                </a:path>
              </a:pathLst>
            </a:custGeom>
            <a:solidFill>
              <a:srgbClr val="152036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892235" y="7357520"/>
            <a:ext cx="6726098" cy="590245"/>
            <a:chOff x="0" y="0"/>
            <a:chExt cx="8968130" cy="786994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892235" y="7336088"/>
            <a:ext cx="6726098" cy="611676"/>
            <a:chOff x="0" y="0"/>
            <a:chExt cx="8968130" cy="815569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Tracks follow-up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7824235" y="7357520"/>
            <a:ext cx="3363049" cy="590245"/>
            <a:chOff x="0" y="0"/>
            <a:chExt cx="4484065" cy="78699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7824235" y="7336088"/>
            <a:ext cx="3363049" cy="611676"/>
            <a:chOff x="0" y="0"/>
            <a:chExt cx="4484065" cy="815569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1187284" y="7357520"/>
            <a:ext cx="3019882" cy="590245"/>
            <a:chOff x="0" y="0"/>
            <a:chExt cx="4026510" cy="786994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1187284" y="7336088"/>
            <a:ext cx="3019882" cy="611676"/>
            <a:chOff x="0" y="0"/>
            <a:chExt cx="4026510" cy="815569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14207157" y="7357520"/>
            <a:ext cx="3431686" cy="590245"/>
            <a:chOff x="0" y="0"/>
            <a:chExt cx="4575581" cy="786994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4207157" y="7314657"/>
            <a:ext cx="3431677" cy="633108"/>
            <a:chOff x="0" y="0"/>
            <a:chExt cx="4575569" cy="844144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892235" y="7947774"/>
            <a:ext cx="6726098" cy="590245"/>
            <a:chOff x="0" y="0"/>
            <a:chExt cx="8968130" cy="78699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8968105" cy="787019"/>
            </a:xfrm>
            <a:custGeom>
              <a:avLst/>
              <a:gdLst/>
              <a:ahLst/>
              <a:cxnLst/>
              <a:rect r="r" b="b" t="t" l="l"/>
              <a:pathLst>
                <a:path h="787019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879" r="0" b="-171876"/>
              </a:stretch>
            </a:blip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892235" y="7926343"/>
            <a:ext cx="6726098" cy="611676"/>
            <a:chOff x="0" y="0"/>
            <a:chExt cx="8968130" cy="815569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8968131" cy="815568"/>
            </a:xfrm>
            <a:custGeom>
              <a:avLst/>
              <a:gdLst/>
              <a:ahLst/>
              <a:cxnLst/>
              <a:rect r="r" b="b" t="t" l="l"/>
              <a:pathLst>
                <a:path h="815568" w="8968131">
                  <a:moveTo>
                    <a:pt x="0" y="0"/>
                  </a:moveTo>
                  <a:lnTo>
                    <a:pt x="8968131" y="0"/>
                  </a:lnTo>
                  <a:lnTo>
                    <a:pt x="8968131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260" r="0" b="-164260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28575"/>
              <a:ext cx="896813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C6D2E2"/>
                  </a:solidFill>
                  <a:latin typeface="Arial"/>
                  <a:ea typeface="Arial"/>
                  <a:cs typeface="Arial"/>
                  <a:sym typeface="Arial"/>
                </a:rPr>
                <a:t>Closes only after verified payment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7824235" y="7947774"/>
            <a:ext cx="3363049" cy="590245"/>
            <a:chOff x="0" y="0"/>
            <a:chExt cx="4484065" cy="786994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4484116" cy="787019"/>
            </a:xfrm>
            <a:custGeom>
              <a:avLst/>
              <a:gdLst/>
              <a:ahLst/>
              <a:cxnLst/>
              <a:rect r="r" b="b" t="t" l="l"/>
              <a:pathLst>
                <a:path h="787019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940" r="1" b="-60937"/>
              </a:stretch>
            </a:blip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7824235" y="7926343"/>
            <a:ext cx="3363049" cy="611676"/>
            <a:chOff x="0" y="0"/>
            <a:chExt cx="4484065" cy="815569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4484065" cy="815568"/>
            </a:xfrm>
            <a:custGeom>
              <a:avLst/>
              <a:gdLst/>
              <a:ahLst/>
              <a:cxnLst/>
              <a:rect r="r" b="b" t="t" l="l"/>
              <a:pathLst>
                <a:path h="815568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30" r="0" b="-57130"/>
              </a:stretch>
            </a:blipFill>
          </p:spPr>
        </p:sp>
        <p:sp>
          <p:nvSpPr>
            <p:cNvPr name="TextBox 221" id="221"/>
            <p:cNvSpPr txBox="true"/>
            <p:nvPr/>
          </p:nvSpPr>
          <p:spPr>
            <a:xfrm>
              <a:off x="0" y="-28575"/>
              <a:ext cx="4484065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11187284" y="7947774"/>
            <a:ext cx="3019882" cy="590245"/>
            <a:chOff x="0" y="0"/>
            <a:chExt cx="4026510" cy="786994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4026535" cy="787019"/>
            </a:xfrm>
            <a:custGeom>
              <a:avLst/>
              <a:gdLst/>
              <a:ahLst/>
              <a:cxnLst/>
              <a:rect r="r" b="b" t="t" l="l"/>
              <a:pathLst>
                <a:path h="787019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620" r="0" b="-49617"/>
              </a:stretch>
            </a:blip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11187284" y="7926343"/>
            <a:ext cx="3019882" cy="611676"/>
            <a:chOff x="0" y="0"/>
            <a:chExt cx="4026510" cy="815569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4026509" cy="815568"/>
            </a:xfrm>
            <a:custGeom>
              <a:avLst/>
              <a:gdLst/>
              <a:ahLst/>
              <a:cxnLst/>
              <a:rect r="r" b="b" t="t" l="l"/>
              <a:pathLst>
                <a:path h="815568" w="4026509">
                  <a:moveTo>
                    <a:pt x="0" y="0"/>
                  </a:moveTo>
                  <a:lnTo>
                    <a:pt x="4026509" y="0"/>
                  </a:lnTo>
                  <a:lnTo>
                    <a:pt x="4026509" y="815568"/>
                  </a:lnTo>
                  <a:lnTo>
                    <a:pt x="0" y="8155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198" r="0" b="-46198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28575"/>
              <a:ext cx="4026510" cy="844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65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—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4207157" y="7947774"/>
            <a:ext cx="3431686" cy="590245"/>
            <a:chOff x="0" y="0"/>
            <a:chExt cx="4575581" cy="786994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4575556" cy="787019"/>
            </a:xfrm>
            <a:custGeom>
              <a:avLst/>
              <a:gdLst/>
              <a:ahLst/>
              <a:cxnLst/>
              <a:rect r="r" b="b" t="t" l="l"/>
              <a:pathLst>
                <a:path h="787019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204" r="0" b="-63201"/>
              </a:stretch>
            </a:blip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14207157" y="7904912"/>
            <a:ext cx="3431677" cy="633108"/>
            <a:chOff x="0" y="0"/>
            <a:chExt cx="4575569" cy="844144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4575569" cy="844143"/>
            </a:xfrm>
            <a:custGeom>
              <a:avLst/>
              <a:gdLst/>
              <a:ahLst/>
              <a:cxnLst/>
              <a:rect r="r" b="b" t="t" l="l"/>
              <a:pathLst>
                <a:path h="844143" w="4575569">
                  <a:moveTo>
                    <a:pt x="0" y="0"/>
                  </a:moveTo>
                  <a:lnTo>
                    <a:pt x="4575569" y="0"/>
                  </a:lnTo>
                  <a:lnTo>
                    <a:pt x="4575569" y="844143"/>
                  </a:lnTo>
                  <a:lnTo>
                    <a:pt x="0" y="8441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616" r="0" b="-55616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57150"/>
              <a:ext cx="4575569" cy="901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2EC27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Freeform 232" id="232"/>
          <p:cNvSpPr/>
          <p:nvPr/>
        </p:nvSpPr>
        <p:spPr>
          <a:xfrm flipH="false" flipV="false" rot="0">
            <a:off x="673827" y="8909856"/>
            <a:ext cx="16977608" cy="848639"/>
          </a:xfrm>
          <a:custGeom>
            <a:avLst/>
            <a:gdLst/>
            <a:ahLst/>
            <a:cxnLst/>
            <a:rect r="r" b="b" t="t" l="l"/>
            <a:pathLst>
              <a:path h="848639" w="16977608">
                <a:moveTo>
                  <a:pt x="0" y="0"/>
                </a:moveTo>
                <a:lnTo>
                  <a:pt x="16977608" y="0"/>
                </a:lnTo>
                <a:lnTo>
                  <a:pt x="16977608" y="848640"/>
                </a:lnTo>
                <a:lnTo>
                  <a:pt x="0" y="84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3" id="233"/>
          <p:cNvGrpSpPr/>
          <p:nvPr/>
        </p:nvGrpSpPr>
        <p:grpSpPr>
          <a:xfrm rot="0">
            <a:off x="960872" y="8922372"/>
            <a:ext cx="16472068" cy="823608"/>
            <a:chOff x="0" y="0"/>
            <a:chExt cx="21962758" cy="1098144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21962745" cy="1098169"/>
            </a:xfrm>
            <a:custGeom>
              <a:avLst/>
              <a:gdLst/>
              <a:ahLst/>
              <a:cxnLst/>
              <a:rect r="r" b="b" t="t" l="l"/>
              <a:pathLst>
                <a:path h="1098169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420" r="0" b="-339417"/>
              </a:stretch>
            </a:blipFill>
          </p:spPr>
        </p:sp>
      </p:grpSp>
      <p:grpSp>
        <p:nvGrpSpPr>
          <p:cNvPr name="Group 235" id="235"/>
          <p:cNvGrpSpPr/>
          <p:nvPr/>
        </p:nvGrpSpPr>
        <p:grpSpPr>
          <a:xfrm rot="0">
            <a:off x="960872" y="8900941"/>
            <a:ext cx="16472068" cy="845039"/>
            <a:chOff x="0" y="0"/>
            <a:chExt cx="21962758" cy="1126719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21962757" cy="1126719"/>
            </a:xfrm>
            <a:custGeom>
              <a:avLst/>
              <a:gdLst/>
              <a:ahLst/>
              <a:cxnLst/>
              <a:rect r="r" b="b" t="t" l="l"/>
              <a:pathLst>
                <a:path h="1126719" w="21962757">
                  <a:moveTo>
                    <a:pt x="0" y="0"/>
                  </a:moveTo>
                  <a:lnTo>
                    <a:pt x="21962757" y="0"/>
                  </a:lnTo>
                  <a:lnTo>
                    <a:pt x="21962757" y="1126719"/>
                  </a:lnTo>
                  <a:lnTo>
                    <a:pt x="0" y="112671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9815" r="0" b="-329815"/>
              </a:stretch>
            </a:blipFill>
          </p:spPr>
        </p:sp>
        <p:sp>
          <p:nvSpPr>
            <p:cNvPr name="TextBox 237" id="237"/>
            <p:cNvSpPr txBox="true"/>
            <p:nvPr/>
          </p:nvSpPr>
          <p:spPr>
            <a:xfrm>
              <a:off x="0" y="-28575"/>
              <a:ext cx="21962758" cy="1155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8"/>
                </a:lnSpc>
              </a:pPr>
              <a:r>
                <a:rPr lang="en-US" sz="1950" b="true">
                  <a:solidFill>
                    <a:srgbClr val="F2F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HAQ turns fragmented government payment troubleshooting into a </a:t>
              </a:r>
              <a:r>
                <a:rPr lang="en-US" sz="1950" b="true">
                  <a:solidFill>
                    <a:srgbClr val="FF99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stateful, evidence-driven workflow.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637" y="-68637"/>
            <a:ext cx="18462403" cy="10432352"/>
            <a:chOff x="0" y="0"/>
            <a:chExt cx="24616537" cy="13909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6538" cy="13909802"/>
            </a:xfrm>
            <a:custGeom>
              <a:avLst/>
              <a:gdLst/>
              <a:ahLst/>
              <a:cxnLst/>
              <a:rect r="r" b="b" t="t" l="l"/>
              <a:pathLst>
                <a:path h="13909802" w="24616538">
                  <a:moveTo>
                    <a:pt x="0" y="0"/>
                  </a:moveTo>
                  <a:lnTo>
                    <a:pt x="24616538" y="0"/>
                  </a:lnTo>
                  <a:lnTo>
                    <a:pt x="24616538" y="13909802"/>
                  </a:lnTo>
                  <a:lnTo>
                    <a:pt x="0" y="13909802"/>
                  </a:lnTo>
                  <a:close/>
                </a:path>
              </a:pathLst>
            </a:custGeom>
            <a:solidFill>
              <a:srgbClr val="0C14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191" cy="68675"/>
            <a:chOff x="0" y="0"/>
            <a:chExt cx="8133588" cy="9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00153" y="0"/>
            <a:ext cx="6100191" cy="68675"/>
            <a:chOff x="0" y="0"/>
            <a:chExt cx="8133588" cy="91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3588" cy="91567"/>
            </a:xfrm>
            <a:custGeom>
              <a:avLst/>
              <a:gdLst/>
              <a:ahLst/>
              <a:cxnLst/>
              <a:rect r="r" b="b" t="t" l="l"/>
              <a:pathLst>
                <a:path h="91567" w="8133588">
                  <a:moveTo>
                    <a:pt x="0" y="0"/>
                  </a:moveTo>
                  <a:lnTo>
                    <a:pt x="8133588" y="0"/>
                  </a:lnTo>
                  <a:lnTo>
                    <a:pt x="813358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8EC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00315" y="0"/>
            <a:ext cx="6101525" cy="68675"/>
            <a:chOff x="0" y="0"/>
            <a:chExt cx="8135366" cy="91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5366" cy="91567"/>
            </a:xfrm>
            <a:custGeom>
              <a:avLst/>
              <a:gdLst/>
              <a:ahLst/>
              <a:cxnLst/>
              <a:rect r="r" b="b" t="t" l="l"/>
              <a:pathLst>
                <a:path h="91567" w="8135366">
                  <a:moveTo>
                    <a:pt x="0" y="0"/>
                  </a:moveTo>
                  <a:lnTo>
                    <a:pt x="8135366" y="0"/>
                  </a:lnTo>
                  <a:lnTo>
                    <a:pt x="8135366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EC2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854362" y="401155"/>
            <a:ext cx="164720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1"/>
              </a:lnSpc>
            </a:pPr>
            <a:r>
              <a:rPr lang="en-US" sz="1500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12 / 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5402" y="2512828"/>
            <a:ext cx="16472068" cy="29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2"/>
              </a:lnSpc>
            </a:pPr>
            <a:r>
              <a:rPr lang="en-US" sz="48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HAQ doesn’t tell citizens where to go.</a:t>
            </a:r>
          </a:p>
          <a:p>
            <a:pPr algn="l">
              <a:lnSpc>
                <a:spcPts val="6052"/>
              </a:lnSpc>
            </a:pPr>
            <a:r>
              <a:rPr lang="en-US" sz="4803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HAQ figures out what needs to happen next.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04039" y="5627951"/>
            <a:ext cx="3019901" cy="68675"/>
            <a:chOff x="0" y="0"/>
            <a:chExt cx="4026535" cy="91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6535" cy="91567"/>
            </a:xfrm>
            <a:custGeom>
              <a:avLst/>
              <a:gdLst/>
              <a:ahLst/>
              <a:cxnLst/>
              <a:rect r="r" b="b" t="t" l="l"/>
              <a:pathLst>
                <a:path h="91567" w="4026535">
                  <a:moveTo>
                    <a:pt x="0" y="0"/>
                  </a:moveTo>
                  <a:lnTo>
                    <a:pt x="4026535" y="0"/>
                  </a:lnTo>
                  <a:lnTo>
                    <a:pt x="4026535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F993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04039" y="5913977"/>
            <a:ext cx="15648470" cy="67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250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Investigate.</a:t>
            </a:r>
            <a:r>
              <a:rPr lang="en-US" sz="225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250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Diagnose.</a:t>
            </a:r>
            <a:r>
              <a:rPr lang="en-US" sz="225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250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Plan.</a:t>
            </a:r>
            <a:r>
              <a:rPr lang="en-US" sz="225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250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Act.</a:t>
            </a:r>
            <a:r>
              <a:rPr lang="en-US" sz="225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250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Verify.</a:t>
            </a:r>
            <a:r>
              <a:rPr lang="en-US" sz="2250">
                <a:solidFill>
                  <a:srgbClr val="C6D2E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250" b="true">
                <a:solidFill>
                  <a:srgbClr val="C6D2E2"/>
                </a:solidFill>
                <a:latin typeface="Arial Bold"/>
                <a:ea typeface="Arial Bold"/>
                <a:cs typeface="Arial Bold"/>
                <a:sym typeface="Arial Bold"/>
              </a:rPr>
              <a:t>Follow up.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4039" y="6737575"/>
            <a:ext cx="15099392" cy="7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250" i="true">
                <a:solidFill>
                  <a:srgbClr val="8E9FBA"/>
                </a:solidFill>
                <a:latin typeface="Arial Italics"/>
                <a:ea typeface="Arial Italics"/>
                <a:cs typeface="Arial Italics"/>
                <a:sym typeface="Arial Italics"/>
              </a:rPr>
              <a:t>From missing DBT payments to accountable resolution.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4039" y="7728985"/>
            <a:ext cx="8236039" cy="91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6"/>
              </a:lnSpc>
            </a:pPr>
            <a:r>
              <a:rPr lang="en-US" sz="3903" b="true">
                <a:solidFill>
                  <a:srgbClr val="F2F5FA"/>
                </a:solidFill>
                <a:latin typeface="Arial Bold"/>
                <a:ea typeface="Arial Bold"/>
                <a:cs typeface="Arial Bold"/>
                <a:sym typeface="Arial Bold"/>
              </a:rPr>
              <a:t>HAQ  </a:t>
            </a:r>
            <a:r>
              <a:rPr lang="en-US" sz="3903" b="true">
                <a:solidFill>
                  <a:srgbClr val="FF9933"/>
                </a:solidFill>
                <a:latin typeface="Arial Bold"/>
                <a:ea typeface="Arial Bold"/>
                <a:cs typeface="Arial Bold"/>
                <a:sym typeface="Arial Bold"/>
              </a:rPr>
              <a:t>हक़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5216" y="8522056"/>
            <a:ext cx="8236039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725" b="true">
                <a:solidFill>
                  <a:srgbClr val="8E9FBA"/>
                </a:solidFill>
                <a:latin typeface="Arial Bold"/>
                <a:ea typeface="Arial Bold"/>
                <a:cs typeface="Arial Bold"/>
                <a:sym typeface="Arial Bold"/>
              </a:rPr>
              <a:t>Bharat Agentic 2026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87351" y="9248851"/>
            <a:ext cx="6210405" cy="692287"/>
            <a:chOff x="0" y="0"/>
            <a:chExt cx="8280540" cy="9230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80527" cy="923036"/>
            </a:xfrm>
            <a:custGeom>
              <a:avLst/>
              <a:gdLst/>
              <a:ahLst/>
              <a:cxnLst/>
              <a:rect r="r" b="b" t="t" l="l"/>
              <a:pathLst>
                <a:path h="923036" w="8280527">
                  <a:moveTo>
                    <a:pt x="0" y="461518"/>
                  </a:moveTo>
                  <a:cubicBezTo>
                    <a:pt x="0" y="206629"/>
                    <a:pt x="202819" y="0"/>
                    <a:pt x="453009" y="0"/>
                  </a:cubicBezTo>
                  <a:lnTo>
                    <a:pt x="7827518" y="0"/>
                  </a:lnTo>
                  <a:cubicBezTo>
                    <a:pt x="8077708" y="0"/>
                    <a:pt x="8280527" y="206629"/>
                    <a:pt x="8280527" y="461518"/>
                  </a:cubicBezTo>
                  <a:cubicBezTo>
                    <a:pt x="8280527" y="716407"/>
                    <a:pt x="8077708" y="923036"/>
                    <a:pt x="7827518" y="923036"/>
                  </a:cubicBezTo>
                  <a:lnTo>
                    <a:pt x="453009" y="923036"/>
                  </a:lnTo>
                  <a:cubicBezTo>
                    <a:pt x="202819" y="923036"/>
                    <a:pt x="0" y="716280"/>
                    <a:pt x="0" y="46151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678" r="0" b="-124679"/>
              </a:stretch>
            </a:blipFill>
            <a:ln w="19065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94505" y="9248861"/>
            <a:ext cx="6189193" cy="685095"/>
            <a:chOff x="0" y="0"/>
            <a:chExt cx="8252257" cy="9134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52258" cy="913459"/>
            </a:xfrm>
            <a:custGeom>
              <a:avLst/>
              <a:gdLst/>
              <a:ahLst/>
              <a:cxnLst/>
              <a:rect r="r" b="b" t="t" l="l"/>
              <a:pathLst>
                <a:path h="913459" w="8252258">
                  <a:moveTo>
                    <a:pt x="0" y="0"/>
                  </a:moveTo>
                  <a:lnTo>
                    <a:pt x="8252258" y="0"/>
                  </a:lnTo>
                  <a:lnTo>
                    <a:pt x="8252258" y="913459"/>
                  </a:lnTo>
                  <a:lnTo>
                    <a:pt x="0" y="9134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225" r="-111" b="-1262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252257" cy="9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53"/>
                </a:lnSpc>
              </a:pPr>
              <a:r>
                <a:rPr lang="en-US" sz="1275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</a:t>
              </a:r>
            </a:p>
            <a:p>
              <a:pPr algn="ctr">
                <a:lnSpc>
                  <a:spcPts val="1368"/>
                </a:lnSpc>
              </a:pPr>
              <a:r>
                <a:rPr lang="en-US" sz="120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https://github.com/harshtakalkar037-boop/HAQ-DBT-Recovery-Agent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07547" y="9248851"/>
            <a:ext cx="4769082" cy="692287"/>
            <a:chOff x="0" y="0"/>
            <a:chExt cx="6358776" cy="9230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8890" cy="923036"/>
            </a:xfrm>
            <a:custGeom>
              <a:avLst/>
              <a:gdLst/>
              <a:ahLst/>
              <a:cxnLst/>
              <a:rect r="r" b="b" t="t" l="l"/>
              <a:pathLst>
                <a:path h="923036" w="6358890">
                  <a:moveTo>
                    <a:pt x="0" y="461518"/>
                  </a:moveTo>
                  <a:cubicBezTo>
                    <a:pt x="0" y="206629"/>
                    <a:pt x="202946" y="0"/>
                    <a:pt x="453390" y="0"/>
                  </a:cubicBezTo>
                  <a:lnTo>
                    <a:pt x="5905500" y="0"/>
                  </a:lnTo>
                  <a:cubicBezTo>
                    <a:pt x="6155817" y="0"/>
                    <a:pt x="6358890" y="206629"/>
                    <a:pt x="6358890" y="461518"/>
                  </a:cubicBezTo>
                  <a:cubicBezTo>
                    <a:pt x="6358890" y="716407"/>
                    <a:pt x="6155944" y="923036"/>
                    <a:pt x="5905500" y="923036"/>
                  </a:cubicBezTo>
                  <a:lnTo>
                    <a:pt x="453390" y="923036"/>
                  </a:lnTo>
                  <a:cubicBezTo>
                    <a:pt x="202946" y="923036"/>
                    <a:pt x="0" y="716280"/>
                    <a:pt x="0" y="46151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38" r="1" b="-84138"/>
              </a:stretch>
            </a:blipFill>
            <a:ln w="19065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814701" y="9241717"/>
            <a:ext cx="4754785" cy="692239"/>
            <a:chOff x="0" y="0"/>
            <a:chExt cx="6339713" cy="9229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9713" cy="922981"/>
            </a:xfrm>
            <a:custGeom>
              <a:avLst/>
              <a:gdLst/>
              <a:ahLst/>
              <a:cxnLst/>
              <a:rect r="r" b="b" t="t" l="l"/>
              <a:pathLst>
                <a:path h="922981" w="6339713">
                  <a:moveTo>
                    <a:pt x="0" y="0"/>
                  </a:moveTo>
                  <a:lnTo>
                    <a:pt x="6339713" y="0"/>
                  </a:lnTo>
                  <a:lnTo>
                    <a:pt x="6339713" y="922981"/>
                  </a:lnTo>
                  <a:lnTo>
                    <a:pt x="0" y="9229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837" r="0" b="-838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339713" cy="9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Demo — https://haq-azure.vercel.app/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86439" y="9248851"/>
            <a:ext cx="3602365" cy="692287"/>
            <a:chOff x="0" y="0"/>
            <a:chExt cx="4803153" cy="9230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03140" cy="923036"/>
            </a:xfrm>
            <a:custGeom>
              <a:avLst/>
              <a:gdLst/>
              <a:ahLst/>
              <a:cxnLst/>
              <a:rect r="r" b="b" t="t" l="l"/>
              <a:pathLst>
                <a:path h="923036" w="4803140">
                  <a:moveTo>
                    <a:pt x="0" y="461518"/>
                  </a:moveTo>
                  <a:cubicBezTo>
                    <a:pt x="0" y="206629"/>
                    <a:pt x="203073" y="0"/>
                    <a:pt x="453771" y="0"/>
                  </a:cubicBezTo>
                  <a:lnTo>
                    <a:pt x="4349369" y="0"/>
                  </a:lnTo>
                  <a:cubicBezTo>
                    <a:pt x="4599940" y="0"/>
                    <a:pt x="4803140" y="206629"/>
                    <a:pt x="4803140" y="461518"/>
                  </a:cubicBezTo>
                  <a:cubicBezTo>
                    <a:pt x="4803140" y="716407"/>
                    <a:pt x="4600067" y="923036"/>
                    <a:pt x="4349369" y="923036"/>
                  </a:cubicBezTo>
                  <a:lnTo>
                    <a:pt x="453771" y="923036"/>
                  </a:lnTo>
                  <a:cubicBezTo>
                    <a:pt x="203073" y="923036"/>
                    <a:pt x="0" y="716280"/>
                    <a:pt x="0" y="46151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3"/>
              </a:stretch>
            </a:blipFill>
            <a:ln w="19065" cap="sq">
              <a:solidFill>
                <a:srgbClr val="3A4E7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893592" y="9241717"/>
            <a:ext cx="3588010" cy="692239"/>
            <a:chOff x="0" y="0"/>
            <a:chExt cx="4784014" cy="9229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84013" cy="922981"/>
            </a:xfrm>
            <a:custGeom>
              <a:avLst/>
              <a:gdLst/>
              <a:ahLst/>
              <a:cxnLst/>
              <a:rect r="r" b="b" t="t" l="l"/>
              <a:pathLst>
                <a:path h="922981" w="4784013">
                  <a:moveTo>
                    <a:pt x="0" y="0"/>
                  </a:moveTo>
                  <a:lnTo>
                    <a:pt x="4784013" y="0"/>
                  </a:lnTo>
                  <a:lnTo>
                    <a:pt x="4784013" y="922981"/>
                  </a:lnTo>
                  <a:lnTo>
                    <a:pt x="0" y="9229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995" r="0" b="-509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784014" cy="9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0" b="true">
                  <a:solidFill>
                    <a:srgbClr val="51638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— VEXORIUM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DAHWwTBDsao</dc:identifier>
  <dcterms:modified xsi:type="dcterms:W3CDTF">2011-08-01T06:04:30Z</dcterms:modified>
  <cp:revision>1</cp:revision>
  <dc:title>HAQ-Pitch-Deck-Bharat-Agentic-2026.pptx</dc:title>
</cp:coreProperties>
</file>